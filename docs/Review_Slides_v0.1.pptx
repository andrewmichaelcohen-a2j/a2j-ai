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Demo Scope vs. Project Scope
KEY POINT: The demo is not a miniature version of the project. It is a proof-of-concept for the method, using one focused slice of one practice area.
WHY THIS SLICE:
Pre-filing eviction notice triage is the highest-leverage intervention point in the eviction process. Most eviction cases could be resolved before reaching court if the tenant understood their notice was defective. A skilled attorney checks for notice defects as the first step. The demo shows AI doing that same first step — fast, cited, and deterministically.
WHAT "COMPLETE EVICTION COVERAGE" MEANS:
The full eviction decision logic layer would encode not just notice triage, but the full range of decisions an unrepresented tenant needs to navigate: What to do after receiving a summons. What procedural defenses to raise at a hearing. When to request an emergency stay. How habitability issues affect the outcome. This is a meaningful but tractable scope — defined by what matters most for people who currently get no help, not by exhaustively encoding every procedural rule that exists.
WHY THE GATING DISCIPLINE MATTERS:
The project commits to validating eviction completely before expanding to other practice areas. This is not just sequencing — it's a credibility commitment. "We proved the method works on eviction, and here are our published error rates" is the foundation for every subsequent expansion. Funders and partners should hear this as rigor, not caution.
THE EXPANSION SEQUENCE (slide 13 of deck):
Eviction → consumer debt/benefits (high volume, bright-line rules) → record sealing (once track record established) → DV/immigration (highest stakes, most judgment-intensive — last). The sequencing reflects both impact and risk.
COMMON QUESTION: "Why not build all 50 states for all practice areas at once?"
Answer: Validation is the bottleneck, not generation. The AI can draft rules fast. Getting licensed attorneys to confirm the synthesis is accurate takes time and coordination. The gating discipline concentrates that human effort where it's proven it will pay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What Decision Logic Is and Where It Comes From
THE CORE DISTINCTION (say this simply):
The rules layer encodes not what the statute says, but how the law applies to specific facts — drawing on the accumulated interpretation of that statute by courts and practitioners. The AI synthesized that knowledge and structured it as explicit, auditable rules.
THE CALIFORNIA EXAMPLE (use this to make it concrete):
CCP §1161(2) says an eviction notice must state "the amount that is due." It does not say in so many words: "late fees are prohibited and will void the notice." That rule comes from California courts interpreting "the amount that is due" to mean rent only — not other charges. Legal aid practitioners have applied this consistently for decades. The AI encoded that interpretation as: IF notice includes late fees → THEN result = INVALID, cited to §1161(2). The statute is the anchor. The judicial and practitioner interpretation is what makes the rule specific enough to apply to Maria's facts.
WHAT THIS IS NOT:
• Not hallucination — the rules are derived from real legal sources and are fully auditable. Every rule can be inspected and challenged.
• Not simple statutory transcription — the statute says what the law is; the rules file encodes how the law applies to specific facts.
• Not document assembly (A2J Author, HotDocs) — document assembly helps you fill out court forms; the rules layer determines whether your notice is legally defective. Different question.
WHY THE SYNTHESIS REQUIRES ATTORNEY VALIDATION:
We are not asking attorneys to check whether the AI copied the statute correctly. We are asking them to confirm whether the AI's synthesis of legal doctrine — its encoding of how courts and practitioners have interpreted and applied the statute — is accurate. That is a genuine legal judgment that requires expertise. It is also why the validation standard is "rigorous" rather than "check the statute text."
HOW THIS POSITIONS THE PROJECT:
No one has done this before for A2J at scale: openly published, AI-drafted, attorney-validated decision logic for legal aid workflows, with published error rates. The computational-law community (Stanford CodeX, Catala, etc.) has worked on rules-as-code for government benefits and compliance. The A2J community has document assembly. The gap — AI-native, open-source, validated decision logic for what the law requires in specific legal aid fact patterns — is what this project fills.
HOW TO HANDLE QUESTIONS ABOUT ACCURACY:
"The DRAFT labels are honest. The AI synthesis is a starting point, not a final answer. The 7-layer validation process — ending with licensed attorney review — is exactly how we get from 'plausible AI draft' to 'something a person can rely on.' The project commits to publishing error rates so the community can see exactly how accurate each validated file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Demo Scope vs. Project Scope</a:t>
            </a:r>
            <a:endParaRPr lang="en-US" sz="2800" dirty="0"/>
          </a:p>
        </p:txBody>
      </p:sp>
      <p:sp>
        <p:nvSpPr>
          <p:cNvPr id="4" name="Text 2"/>
          <p:cNvSpPr/>
          <p:nvPr/>
        </p:nvSpPr>
        <p:spPr>
          <a:xfrm>
            <a:off x="457200" y="749808"/>
            <a:ext cx="8229600" cy="320040"/>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The demo is proof of concept for one slice. The project builds the full library.</a:t>
            </a:r>
            <a:endParaRPr lang="en-US" sz="1300" dirty="0"/>
          </a:p>
        </p:txBody>
      </p:sp>
      <p:sp>
        <p:nvSpPr>
          <p:cNvPr id="5" name="Shape 3"/>
          <p:cNvSpPr/>
          <p:nvPr/>
        </p:nvSpPr>
        <p:spPr>
          <a:xfrm>
            <a:off x="347472" y="1170432"/>
            <a:ext cx="4133088" cy="36118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47472" y="1170432"/>
            <a:ext cx="4133088" cy="438912"/>
          </a:xfrm>
          <a:prstGeom prst="rect">
            <a:avLst/>
          </a:prstGeom>
          <a:solidFill>
            <a:srgbClr val="E07B39"/>
          </a:solidFill>
          <a:ln w="12700">
            <a:solidFill>
              <a:srgbClr val="E07B39"/>
            </a:solidFill>
            <a:prstDash val="solid"/>
          </a:ln>
        </p:spPr>
      </p:sp>
      <p:sp>
        <p:nvSpPr>
          <p:cNvPr id="7" name="Text 5"/>
          <p:cNvSpPr/>
          <p:nvPr/>
        </p:nvSpPr>
        <p:spPr>
          <a:xfrm>
            <a:off x="457200" y="1188720"/>
            <a:ext cx="3913632" cy="402336"/>
          </a:xfrm>
          <a:prstGeom prst="rect">
            <a:avLst/>
          </a:prstGeom>
          <a:noFill/>
          <a:ln/>
        </p:spPr>
        <p:txBody>
          <a:bodyPr wrap="square" lIns="0" tIns="0" rIns="0" bIns="0" rtlCol="0" anchor="ctr"/>
          <a:lstStyle/>
          <a:p>
            <a:pPr algn="l" indent="0" marL="0">
              <a:buNone/>
            </a:pPr>
            <a:r>
              <a:rPr lang="en-US" sz="1300" b="1" spc="100" kern="0" dirty="0">
                <a:solidFill>
                  <a:srgbClr val="FFFFFF"/>
                </a:solidFill>
                <a:latin typeface="Calibri" pitchFamily="34" charset="0"/>
                <a:ea typeface="Calibri" pitchFamily="34" charset="-122"/>
                <a:cs typeface="Calibri" pitchFamily="34" charset="-120"/>
              </a:rPr>
              <a:t>THE DEMO</a:t>
            </a:r>
            <a:endParaRPr lang="en-US" sz="1300" dirty="0"/>
          </a:p>
        </p:txBody>
      </p:sp>
      <p:sp>
        <p:nvSpPr>
          <p:cNvPr id="8" name="Text 6"/>
          <p:cNvSpPr/>
          <p:nvPr/>
        </p:nvSpPr>
        <p:spPr>
          <a:xfrm>
            <a:off x="502920" y="1737360"/>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Workflow:</a:t>
            </a:r>
            <a:endParaRPr lang="en-US" sz="1100" dirty="0"/>
          </a:p>
        </p:txBody>
      </p:sp>
      <p:sp>
        <p:nvSpPr>
          <p:cNvPr id="9" name="Text 7"/>
          <p:cNvSpPr/>
          <p:nvPr/>
        </p:nvSpPr>
        <p:spPr>
          <a:xfrm>
            <a:off x="1463040" y="1737360"/>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Eviction notice triage only</a:t>
            </a:r>
            <a:endParaRPr lang="en-US" sz="1100" dirty="0"/>
          </a:p>
        </p:txBody>
      </p:sp>
      <p:sp>
        <p:nvSpPr>
          <p:cNvPr id="10" name="Text 8"/>
          <p:cNvSpPr/>
          <p:nvPr/>
        </p:nvSpPr>
        <p:spPr>
          <a:xfrm>
            <a:off x="502920" y="2505456"/>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Scope:</a:t>
            </a:r>
            <a:endParaRPr lang="en-US" sz="1100" dirty="0"/>
          </a:p>
        </p:txBody>
      </p:sp>
      <p:sp>
        <p:nvSpPr>
          <p:cNvPr id="11" name="Text 9"/>
          <p:cNvSpPr/>
          <p:nvPr/>
        </p:nvSpPr>
        <p:spPr>
          <a:xfrm>
            <a:off x="1463040" y="2505456"/>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Pre-filing notice analysis:</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Notice type &amp; required period</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Procedural defect detection</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Affirmative defense screening</a:t>
            </a:r>
            <a:endParaRPr lang="en-US" sz="1100" dirty="0"/>
          </a:p>
        </p:txBody>
      </p:sp>
      <p:sp>
        <p:nvSpPr>
          <p:cNvPr id="12" name="Text 10"/>
          <p:cNvSpPr/>
          <p:nvPr/>
        </p:nvSpPr>
        <p:spPr>
          <a:xfrm>
            <a:off x="502920" y="3273552"/>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Coverage:</a:t>
            </a:r>
            <a:endParaRPr lang="en-US" sz="1100" dirty="0"/>
          </a:p>
        </p:txBody>
      </p:sp>
      <p:sp>
        <p:nvSpPr>
          <p:cNvPr id="13" name="Text 11"/>
          <p:cNvSpPr/>
          <p:nvPr/>
        </p:nvSpPr>
        <p:spPr>
          <a:xfrm>
            <a:off x="1463040" y="3273552"/>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California (full) · Texas &amp; New York (portability demonstration)</a:t>
            </a:r>
            <a:endParaRPr lang="en-US" sz="1100" dirty="0"/>
          </a:p>
        </p:txBody>
      </p:sp>
      <p:sp>
        <p:nvSpPr>
          <p:cNvPr id="14" name="Text 12"/>
          <p:cNvSpPr/>
          <p:nvPr/>
        </p:nvSpPr>
        <p:spPr>
          <a:xfrm>
            <a:off x="502920" y="4041648"/>
            <a:ext cx="1005840" cy="685800"/>
          </a:xfrm>
          <a:prstGeom prst="rect">
            <a:avLst/>
          </a:prstGeom>
          <a:noFill/>
          <a:ln/>
        </p:spPr>
        <p:txBody>
          <a:bodyPr wrap="square" rtlCol="0" anchor="t"/>
          <a:lstStyle/>
          <a:p>
            <a:pPr algn="l" indent="0" marL="0">
              <a:buNone/>
            </a:pPr>
            <a:r>
              <a:rPr lang="en-US" sz="1100" b="1" dirty="0">
                <a:solidFill>
                  <a:srgbClr val="E07B39"/>
                </a:solidFill>
                <a:latin typeface="Calibri" pitchFamily="34" charset="0"/>
                <a:ea typeface="Calibri" pitchFamily="34" charset="-122"/>
                <a:cs typeface="Calibri" pitchFamily="34" charset="-120"/>
              </a:rPr>
              <a:t>Purpose:</a:t>
            </a:r>
            <a:endParaRPr lang="en-US" sz="1100" dirty="0"/>
          </a:p>
        </p:txBody>
      </p:sp>
      <p:sp>
        <p:nvSpPr>
          <p:cNvPr id="15" name="Text 13"/>
          <p:cNvSpPr/>
          <p:nvPr/>
        </p:nvSpPr>
        <p:spPr>
          <a:xfrm>
            <a:off x="1463040" y="4041648"/>
            <a:ext cx="283464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Proves the method works. Shows what the infrastructure makes possible. Sets up the project ask.</a:t>
            </a:r>
            <a:endParaRPr lang="en-US" sz="1100" dirty="0"/>
          </a:p>
        </p:txBody>
      </p:sp>
      <p:sp>
        <p:nvSpPr>
          <p:cNvPr id="16" name="Shape 14"/>
          <p:cNvSpPr/>
          <p:nvPr/>
        </p:nvSpPr>
        <p:spPr>
          <a:xfrm>
            <a:off x="4663440" y="1170432"/>
            <a:ext cx="4133088" cy="36118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7" name="Shape 15"/>
          <p:cNvSpPr/>
          <p:nvPr/>
        </p:nvSpPr>
        <p:spPr>
          <a:xfrm>
            <a:off x="4663440" y="1170432"/>
            <a:ext cx="4133088" cy="438912"/>
          </a:xfrm>
          <a:prstGeom prst="rect">
            <a:avLst/>
          </a:prstGeom>
          <a:solidFill>
            <a:srgbClr val="1B5E8C"/>
          </a:solidFill>
          <a:ln w="12700">
            <a:solidFill>
              <a:srgbClr val="1B5E8C"/>
            </a:solidFill>
            <a:prstDash val="solid"/>
          </a:ln>
        </p:spPr>
      </p:sp>
      <p:sp>
        <p:nvSpPr>
          <p:cNvPr id="18" name="Text 16"/>
          <p:cNvSpPr/>
          <p:nvPr/>
        </p:nvSpPr>
        <p:spPr>
          <a:xfrm>
            <a:off x="4773168" y="1188720"/>
            <a:ext cx="3913632" cy="402336"/>
          </a:xfrm>
          <a:prstGeom prst="rect">
            <a:avLst/>
          </a:prstGeom>
          <a:noFill/>
          <a:ln/>
        </p:spPr>
        <p:txBody>
          <a:bodyPr wrap="square" lIns="0" tIns="0" rIns="0" bIns="0" rtlCol="0" anchor="ctr"/>
          <a:lstStyle/>
          <a:p>
            <a:pPr algn="l" indent="0" marL="0">
              <a:buNone/>
            </a:pPr>
            <a:r>
              <a:rPr lang="en-US" sz="1300" b="1" spc="100" kern="0" dirty="0">
                <a:solidFill>
                  <a:srgbClr val="FFFFFF"/>
                </a:solidFill>
                <a:latin typeface="Calibri" pitchFamily="34" charset="0"/>
                <a:ea typeface="Calibri" pitchFamily="34" charset="-122"/>
                <a:cs typeface="Calibri" pitchFamily="34" charset="-120"/>
              </a:rPr>
              <a:t>THE PROJECT</a:t>
            </a:r>
            <a:endParaRPr lang="en-US" sz="1300" dirty="0"/>
          </a:p>
        </p:txBody>
      </p:sp>
      <p:sp>
        <p:nvSpPr>
          <p:cNvPr id="19" name="Text 17"/>
          <p:cNvSpPr/>
          <p:nvPr/>
        </p:nvSpPr>
        <p:spPr>
          <a:xfrm>
            <a:off x="4818888" y="1737360"/>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Phase 1:</a:t>
            </a:r>
            <a:endParaRPr lang="en-US" sz="1100" dirty="0"/>
          </a:p>
        </p:txBody>
      </p:sp>
      <p:sp>
        <p:nvSpPr>
          <p:cNvPr id="20" name="Text 18"/>
          <p:cNvSpPr/>
          <p:nvPr/>
        </p:nvSpPr>
        <p:spPr>
          <a:xfrm>
            <a:off x="5596128" y="1737360"/>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Complete eviction decision logic — all 50 states + DC:</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Pre-filing notice analysis (demo slice)</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Court procedural rules &amp; deadlines</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Hearing-stage defenses</a:t>
            </a:r>
            <a:endParaRPr lang="en-US" sz="1100" dirty="0"/>
          </a:p>
          <a:p>
            <a:pPr algn="l" indent="0" marL="0">
              <a:buNone/>
            </a:pPr>
            <a:r>
              <a:rPr lang="en-US" sz="1100" dirty="0">
                <a:solidFill>
                  <a:srgbClr val="4A5568"/>
                </a:solidFill>
                <a:latin typeface="Calibri" pitchFamily="34" charset="0"/>
                <a:ea typeface="Calibri" pitchFamily="34" charset="-122"/>
                <a:cs typeface="Calibri" pitchFamily="34" charset="-120"/>
              </a:rPr>
              <a:t>  • Emergency remedies</a:t>
            </a:r>
            <a:endParaRPr lang="en-US" sz="1100" dirty="0"/>
          </a:p>
        </p:txBody>
      </p:sp>
      <p:sp>
        <p:nvSpPr>
          <p:cNvPr id="21" name="Text 19"/>
          <p:cNvSpPr/>
          <p:nvPr/>
        </p:nvSpPr>
        <p:spPr>
          <a:xfrm>
            <a:off x="4818888" y="2505456"/>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Then:</a:t>
            </a:r>
            <a:endParaRPr lang="en-US" sz="1100" dirty="0"/>
          </a:p>
        </p:txBody>
      </p:sp>
      <p:sp>
        <p:nvSpPr>
          <p:cNvPr id="22" name="Text 20"/>
          <p:cNvSpPr/>
          <p:nvPr/>
        </p:nvSpPr>
        <p:spPr>
          <a:xfrm>
            <a:off x="5596128" y="2505456"/>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Consumer debt defense · Benefits denial appeals · Record sealing · DV &amp; immigration (highest stakes last)</a:t>
            </a:r>
            <a:endParaRPr lang="en-US" sz="1100" dirty="0"/>
          </a:p>
        </p:txBody>
      </p:sp>
      <p:sp>
        <p:nvSpPr>
          <p:cNvPr id="23" name="Text 21"/>
          <p:cNvSpPr/>
          <p:nvPr/>
        </p:nvSpPr>
        <p:spPr>
          <a:xfrm>
            <a:off x="4818888" y="3273552"/>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Standard:</a:t>
            </a:r>
            <a:endParaRPr lang="en-US" sz="1100" dirty="0"/>
          </a:p>
        </p:txBody>
      </p:sp>
      <p:sp>
        <p:nvSpPr>
          <p:cNvPr id="24" name="Text 22"/>
          <p:cNvSpPr/>
          <p:nvPr/>
        </p:nvSpPr>
        <p:spPr>
          <a:xfrm>
            <a:off x="5596128" y="3273552"/>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All 7 validation layers cleared. Published error rates. Attorney-reviewed. Open source.</a:t>
            </a:r>
            <a:endParaRPr lang="en-US" sz="1100" dirty="0"/>
          </a:p>
        </p:txBody>
      </p:sp>
      <p:sp>
        <p:nvSpPr>
          <p:cNvPr id="25" name="Text 23"/>
          <p:cNvSpPr/>
          <p:nvPr/>
        </p:nvSpPr>
        <p:spPr>
          <a:xfrm>
            <a:off x="4818888" y="4041648"/>
            <a:ext cx="822960" cy="685800"/>
          </a:xfrm>
          <a:prstGeom prst="rect">
            <a:avLst/>
          </a:prstGeom>
          <a:noFill/>
          <a:ln/>
        </p:spPr>
        <p:txBody>
          <a:bodyPr wrap="square" rtlCol="0" anchor="t"/>
          <a:lstStyle/>
          <a:p>
            <a:pPr algn="l" indent="0" marL="0">
              <a:buNone/>
            </a:pPr>
            <a:r>
              <a:rPr lang="en-US" sz="1100" b="1" dirty="0">
                <a:solidFill>
                  <a:srgbClr val="1B5E8C"/>
                </a:solidFill>
                <a:latin typeface="Calibri" pitchFamily="34" charset="0"/>
                <a:ea typeface="Calibri" pitchFamily="34" charset="-122"/>
                <a:cs typeface="Calibri" pitchFamily="34" charset="-120"/>
              </a:rPr>
              <a:t>Gate:</a:t>
            </a:r>
            <a:endParaRPr lang="en-US" sz="1100" dirty="0"/>
          </a:p>
        </p:txBody>
      </p:sp>
      <p:sp>
        <p:nvSpPr>
          <p:cNvPr id="26" name="Text 24"/>
          <p:cNvSpPr/>
          <p:nvPr/>
        </p:nvSpPr>
        <p:spPr>
          <a:xfrm>
            <a:off x="5596128" y="4041648"/>
            <a:ext cx="3017520" cy="6858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Eviction fully validated before expansion to next practice area.</a:t>
            </a:r>
            <a:endParaRPr lang="en-US" sz="1100" dirty="0"/>
          </a:p>
        </p:txBody>
      </p:sp>
      <p:sp>
        <p:nvSpPr>
          <p:cNvPr id="27" name="Text 25"/>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For Review  ·  June 2026</a:t>
            </a:r>
            <a:endParaRPr lang="en-US" sz="900" dirty="0"/>
          </a:p>
        </p:txBody>
      </p:sp>
      <p:sp>
        <p:nvSpPr>
          <p:cNvPr id="28" name="Shape 26"/>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4864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Decision Logic: What It Is and Where It Comes From</a:t>
            </a:r>
            <a:endParaRPr lang="en-US" sz="2500" dirty="0"/>
          </a:p>
        </p:txBody>
      </p:sp>
      <p:sp>
        <p:nvSpPr>
          <p:cNvPr id="4" name="Text 2"/>
          <p:cNvSpPr/>
          <p:nvPr/>
        </p:nvSpPr>
        <p:spPr>
          <a:xfrm>
            <a:off x="457200" y="749808"/>
            <a:ext cx="8229600" cy="320040"/>
          </a:xfrm>
          <a:prstGeom prst="rect">
            <a:avLst/>
          </a:prstGeom>
          <a:noFill/>
          <a:ln/>
        </p:spPr>
        <p:txBody>
          <a:bodyPr wrap="square" rtlCol="0" anchor="ctr"/>
          <a:lstStyle/>
          <a:p>
            <a:pPr indent="0" marL="0">
              <a:buNone/>
            </a:pPr>
            <a:r>
              <a:rPr lang="en-US" sz="1300" i="1" dirty="0">
                <a:solidFill>
                  <a:srgbClr val="B0C4D4"/>
                </a:solidFill>
                <a:latin typeface="Calibri" pitchFamily="34" charset="0"/>
                <a:ea typeface="Calibri" pitchFamily="34" charset="-122"/>
                <a:cs typeface="Calibri" pitchFamily="34" charset="-120"/>
              </a:rPr>
              <a:t>AI-synthesized legal doctrine — encoded as auditable, structured rules</a:t>
            </a:r>
            <a:endParaRPr lang="en-US" sz="1300" dirty="0"/>
          </a:p>
        </p:txBody>
      </p:sp>
      <p:sp>
        <p:nvSpPr>
          <p:cNvPr id="5" name="Shape 3"/>
          <p:cNvSpPr/>
          <p:nvPr/>
        </p:nvSpPr>
        <p:spPr>
          <a:xfrm>
            <a:off x="347472" y="1170432"/>
            <a:ext cx="2743200" cy="3657600"/>
          </a:xfrm>
          <a:prstGeom prst="rect">
            <a:avLst/>
          </a:prstGeom>
          <a:solidFill>
            <a:srgbClr val="0E7C87">
              <a:alpha val="25000"/>
            </a:srgbClr>
          </a:solidFill>
          <a:ln w="12700">
            <a:solidFill>
              <a:srgbClr val="0E7C87">
                <a:alpha val="55000"/>
              </a:srgbClr>
            </a:solidFill>
            <a:prstDash val="solid"/>
          </a:ln>
        </p:spPr>
      </p:sp>
      <p:sp>
        <p:nvSpPr>
          <p:cNvPr id="6" name="Shape 4"/>
          <p:cNvSpPr/>
          <p:nvPr/>
        </p:nvSpPr>
        <p:spPr>
          <a:xfrm>
            <a:off x="347472" y="1170432"/>
            <a:ext cx="2743200" cy="384048"/>
          </a:xfrm>
          <a:prstGeom prst="rect">
            <a:avLst/>
          </a:prstGeom>
          <a:solidFill>
            <a:srgbClr val="0E7C87"/>
          </a:solidFill>
          <a:ln w="12700">
            <a:solidFill>
              <a:srgbClr val="0E7C87"/>
            </a:solidFill>
            <a:prstDash val="solid"/>
          </a:ln>
        </p:spPr>
      </p:sp>
      <p:sp>
        <p:nvSpPr>
          <p:cNvPr id="7" name="Text 5"/>
          <p:cNvSpPr/>
          <p:nvPr/>
        </p:nvSpPr>
        <p:spPr>
          <a:xfrm>
            <a:off x="438912" y="1188720"/>
            <a:ext cx="2560320" cy="347472"/>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1 · SOURCES</a:t>
            </a:r>
            <a:endParaRPr lang="en-US" sz="1000" dirty="0"/>
          </a:p>
        </p:txBody>
      </p:sp>
      <p:sp>
        <p:nvSpPr>
          <p:cNvPr id="8" name="Text 6"/>
          <p:cNvSpPr/>
          <p:nvPr/>
        </p:nvSpPr>
        <p:spPr>
          <a:xfrm>
            <a:off x="438912" y="1627632"/>
            <a:ext cx="2560320" cy="36576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What the AI draws on</a:t>
            </a:r>
            <a:endParaRPr lang="en-US" sz="1300" dirty="0"/>
          </a:p>
        </p:txBody>
      </p:sp>
      <p:sp>
        <p:nvSpPr>
          <p:cNvPr id="9" name="Shape 7"/>
          <p:cNvSpPr/>
          <p:nvPr/>
        </p:nvSpPr>
        <p:spPr>
          <a:xfrm>
            <a:off x="457200" y="2157984"/>
            <a:ext cx="128016" cy="128016"/>
          </a:xfrm>
          <a:prstGeom prst="ellipse">
            <a:avLst/>
          </a:prstGeom>
          <a:solidFill>
            <a:srgbClr val="0E7C87"/>
          </a:solidFill>
          <a:ln w="12700">
            <a:solidFill>
              <a:srgbClr val="0E7C87"/>
            </a:solidFill>
            <a:prstDash val="solid"/>
          </a:ln>
        </p:spPr>
      </p:sp>
      <p:sp>
        <p:nvSpPr>
          <p:cNvPr id="10" name="Text 8"/>
          <p:cNvSpPr/>
          <p:nvPr/>
        </p:nvSpPr>
        <p:spPr>
          <a:xfrm>
            <a:off x="649224" y="2084832"/>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Statutory text</a:t>
            </a:r>
            <a:endParaRPr lang="en-US" sz="1100" dirty="0"/>
          </a:p>
          <a:p>
            <a:pPr algn="l" indent="0" marL="0">
              <a:buNone/>
            </a:pPr>
            <a:r>
              <a:rPr lang="en-US" sz="1100" dirty="0">
                <a:solidFill>
                  <a:srgbClr val="B0C4D4"/>
                </a:solidFill>
                <a:latin typeface="Calibri" pitchFamily="34" charset="0"/>
                <a:ea typeface="Calibri" pitchFamily="34" charset="-122"/>
                <a:cs typeface="Calibri" pitchFamily="34" charset="-120"/>
              </a:rPr>
              <a:t>(retrieved live via MCP connectors)</a:t>
            </a:r>
            <a:endParaRPr lang="en-US" sz="1100" dirty="0"/>
          </a:p>
        </p:txBody>
      </p:sp>
      <p:sp>
        <p:nvSpPr>
          <p:cNvPr id="11" name="Shape 9"/>
          <p:cNvSpPr/>
          <p:nvPr/>
        </p:nvSpPr>
        <p:spPr>
          <a:xfrm>
            <a:off x="457200" y="2816352"/>
            <a:ext cx="128016" cy="128016"/>
          </a:xfrm>
          <a:prstGeom prst="ellipse">
            <a:avLst/>
          </a:prstGeom>
          <a:solidFill>
            <a:srgbClr val="0E7C87"/>
          </a:solidFill>
          <a:ln w="12700">
            <a:solidFill>
              <a:srgbClr val="0E7C87"/>
            </a:solidFill>
            <a:prstDash val="solid"/>
          </a:ln>
        </p:spPr>
      </p:sp>
      <p:sp>
        <p:nvSpPr>
          <p:cNvPr id="12" name="Text 10"/>
          <p:cNvSpPr/>
          <p:nvPr/>
        </p:nvSpPr>
        <p:spPr>
          <a:xfrm>
            <a:off x="649224" y="2743200"/>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Judicial interpretation</a:t>
            </a:r>
            <a:endParaRPr lang="en-US" sz="1100" dirty="0"/>
          </a:p>
          <a:p>
            <a:pPr algn="l" indent="0" marL="0">
              <a:buNone/>
            </a:pPr>
            <a:r>
              <a:rPr lang="en-US" sz="1100" dirty="0">
                <a:solidFill>
                  <a:srgbClr val="B0C4D4"/>
                </a:solidFill>
                <a:latin typeface="Calibri" pitchFamily="34" charset="0"/>
                <a:ea typeface="Calibri" pitchFamily="34" charset="-122"/>
                <a:cs typeface="Calibri" pitchFamily="34" charset="-120"/>
              </a:rPr>
              <a:t>(how courts have applied the statute)</a:t>
            </a:r>
            <a:endParaRPr lang="en-US" sz="1100" dirty="0"/>
          </a:p>
        </p:txBody>
      </p:sp>
      <p:sp>
        <p:nvSpPr>
          <p:cNvPr id="13" name="Shape 11"/>
          <p:cNvSpPr/>
          <p:nvPr/>
        </p:nvSpPr>
        <p:spPr>
          <a:xfrm>
            <a:off x="457200" y="3474720"/>
            <a:ext cx="128016" cy="128016"/>
          </a:xfrm>
          <a:prstGeom prst="ellipse">
            <a:avLst/>
          </a:prstGeom>
          <a:solidFill>
            <a:srgbClr val="0E7C87"/>
          </a:solidFill>
          <a:ln w="12700">
            <a:solidFill>
              <a:srgbClr val="0E7C87"/>
            </a:solidFill>
            <a:prstDash val="solid"/>
          </a:ln>
        </p:spPr>
      </p:sp>
      <p:sp>
        <p:nvSpPr>
          <p:cNvPr id="14" name="Text 12"/>
          <p:cNvSpPr/>
          <p:nvPr/>
        </p:nvSpPr>
        <p:spPr>
          <a:xfrm>
            <a:off x="649224" y="3401568"/>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Practitioner knowledge</a:t>
            </a:r>
            <a:endParaRPr lang="en-US" sz="1100" dirty="0"/>
          </a:p>
          <a:p>
            <a:pPr algn="l" indent="0" marL="0">
              <a:buNone/>
            </a:pPr>
            <a:r>
              <a:rPr lang="en-US" sz="1100" dirty="0">
                <a:solidFill>
                  <a:srgbClr val="B0C4D4"/>
                </a:solidFill>
                <a:latin typeface="Calibri" pitchFamily="34" charset="0"/>
                <a:ea typeface="Calibri" pitchFamily="34" charset="-122"/>
                <a:cs typeface="Calibri" pitchFamily="34" charset="-120"/>
              </a:rPr>
              <a:t>(legal aid guides, bar publications, the consensus understanding of how law applies in practice)</a:t>
            </a:r>
            <a:endParaRPr lang="en-US" sz="1100" dirty="0"/>
          </a:p>
        </p:txBody>
      </p:sp>
      <p:sp>
        <p:nvSpPr>
          <p:cNvPr id="15" name="Shape 13"/>
          <p:cNvSpPr/>
          <p:nvPr/>
        </p:nvSpPr>
        <p:spPr>
          <a:xfrm>
            <a:off x="3255264" y="1170432"/>
            <a:ext cx="2743200" cy="3657600"/>
          </a:xfrm>
          <a:prstGeom prst="rect">
            <a:avLst/>
          </a:prstGeom>
          <a:solidFill>
            <a:srgbClr val="E07B39">
              <a:alpha val="25000"/>
            </a:srgbClr>
          </a:solidFill>
          <a:ln w="12700">
            <a:solidFill>
              <a:srgbClr val="E07B39">
                <a:alpha val="55000"/>
              </a:srgbClr>
            </a:solidFill>
            <a:prstDash val="solid"/>
          </a:ln>
        </p:spPr>
      </p:sp>
      <p:sp>
        <p:nvSpPr>
          <p:cNvPr id="16" name="Shape 14"/>
          <p:cNvSpPr/>
          <p:nvPr/>
        </p:nvSpPr>
        <p:spPr>
          <a:xfrm>
            <a:off x="3255264" y="1170432"/>
            <a:ext cx="2743200" cy="384048"/>
          </a:xfrm>
          <a:prstGeom prst="rect">
            <a:avLst/>
          </a:prstGeom>
          <a:solidFill>
            <a:srgbClr val="E07B39"/>
          </a:solidFill>
          <a:ln w="12700">
            <a:solidFill>
              <a:srgbClr val="E07B39"/>
            </a:solidFill>
            <a:prstDash val="solid"/>
          </a:ln>
        </p:spPr>
      </p:sp>
      <p:sp>
        <p:nvSpPr>
          <p:cNvPr id="17" name="Text 15"/>
          <p:cNvSpPr/>
          <p:nvPr/>
        </p:nvSpPr>
        <p:spPr>
          <a:xfrm>
            <a:off x="3346704" y="1188720"/>
            <a:ext cx="2560320" cy="347472"/>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2 · AI SYNTHESIS</a:t>
            </a:r>
            <a:endParaRPr lang="en-US" sz="1000" dirty="0"/>
          </a:p>
        </p:txBody>
      </p:sp>
      <p:sp>
        <p:nvSpPr>
          <p:cNvPr id="18" name="Text 16"/>
          <p:cNvSpPr/>
          <p:nvPr/>
        </p:nvSpPr>
        <p:spPr>
          <a:xfrm>
            <a:off x="3346704" y="1627632"/>
            <a:ext cx="2560320" cy="365760"/>
          </a:xfrm>
          <a:prstGeom prst="rect">
            <a:avLst/>
          </a:prstGeom>
          <a:noFill/>
          <a:ln/>
        </p:spPr>
        <p:txBody>
          <a:bodyPr wrap="square" rtlCol="0" anchor="ctr"/>
          <a:lstStyle/>
          <a:p>
            <a:pPr algn="l" indent="0" marL="0">
              <a:buNone/>
            </a:pPr>
            <a:r>
              <a:rPr lang="en-US" sz="1300" b="1" dirty="0">
                <a:solidFill>
                  <a:srgbClr val="E07B39"/>
                </a:solidFill>
                <a:latin typeface="Georgia" pitchFamily="34" charset="0"/>
                <a:ea typeface="Georgia" pitchFamily="34" charset="-122"/>
                <a:cs typeface="Georgia" pitchFamily="34" charset="-120"/>
              </a:rPr>
              <a:t>What the AI does</a:t>
            </a:r>
            <a:endParaRPr lang="en-US" sz="1300" dirty="0"/>
          </a:p>
        </p:txBody>
      </p:sp>
      <p:sp>
        <p:nvSpPr>
          <p:cNvPr id="19" name="Shape 17"/>
          <p:cNvSpPr/>
          <p:nvPr/>
        </p:nvSpPr>
        <p:spPr>
          <a:xfrm>
            <a:off x="3364992" y="2157984"/>
            <a:ext cx="128016" cy="128016"/>
          </a:xfrm>
          <a:prstGeom prst="ellipse">
            <a:avLst/>
          </a:prstGeom>
          <a:solidFill>
            <a:srgbClr val="E07B39"/>
          </a:solidFill>
          <a:ln w="12700">
            <a:solidFill>
              <a:srgbClr val="E07B39"/>
            </a:solidFill>
            <a:prstDash val="solid"/>
          </a:ln>
        </p:spPr>
      </p:sp>
      <p:sp>
        <p:nvSpPr>
          <p:cNvPr id="20" name="Text 18"/>
          <p:cNvSpPr/>
          <p:nvPr/>
        </p:nvSpPr>
        <p:spPr>
          <a:xfrm>
            <a:off x="3557016" y="2084832"/>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Reads across all three source types simultaneously</a:t>
            </a:r>
            <a:endParaRPr lang="en-US" sz="1100" dirty="0"/>
          </a:p>
        </p:txBody>
      </p:sp>
      <p:sp>
        <p:nvSpPr>
          <p:cNvPr id="21" name="Shape 19"/>
          <p:cNvSpPr/>
          <p:nvPr/>
        </p:nvSpPr>
        <p:spPr>
          <a:xfrm>
            <a:off x="3364992" y="2816352"/>
            <a:ext cx="128016" cy="128016"/>
          </a:xfrm>
          <a:prstGeom prst="ellipse">
            <a:avLst/>
          </a:prstGeom>
          <a:solidFill>
            <a:srgbClr val="E07B39"/>
          </a:solidFill>
          <a:ln w="12700">
            <a:solidFill>
              <a:srgbClr val="E07B39"/>
            </a:solidFill>
            <a:prstDash val="solid"/>
          </a:ln>
        </p:spPr>
      </p:sp>
      <p:sp>
        <p:nvSpPr>
          <p:cNvPr id="22" name="Text 20"/>
          <p:cNvSpPr/>
          <p:nvPr/>
        </p:nvSpPr>
        <p:spPr>
          <a:xfrm>
            <a:off x="3557016" y="2743200"/>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Encodes the consensus understanding as IF/THEN rules</a:t>
            </a:r>
            <a:endParaRPr lang="en-US" sz="1100" dirty="0"/>
          </a:p>
        </p:txBody>
      </p:sp>
      <p:sp>
        <p:nvSpPr>
          <p:cNvPr id="23" name="Shape 21"/>
          <p:cNvSpPr/>
          <p:nvPr/>
        </p:nvSpPr>
        <p:spPr>
          <a:xfrm>
            <a:off x="3364992" y="3474720"/>
            <a:ext cx="128016" cy="128016"/>
          </a:xfrm>
          <a:prstGeom prst="ellipse">
            <a:avLst/>
          </a:prstGeom>
          <a:solidFill>
            <a:srgbClr val="E07B39"/>
          </a:solidFill>
          <a:ln w="12700">
            <a:solidFill>
              <a:srgbClr val="E07B39"/>
            </a:solidFill>
            <a:prstDash val="solid"/>
          </a:ln>
        </p:spPr>
      </p:sp>
      <p:sp>
        <p:nvSpPr>
          <p:cNvPr id="24" name="Text 22"/>
          <p:cNvSpPr/>
          <p:nvPr/>
        </p:nvSpPr>
        <p:spPr>
          <a:xfrm>
            <a:off x="3557016" y="3401568"/>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Structures them as explicit, auditable JSON — not opaque AI inference</a:t>
            </a:r>
            <a:endParaRPr lang="en-US" sz="1100" dirty="0"/>
          </a:p>
        </p:txBody>
      </p:sp>
      <p:sp>
        <p:nvSpPr>
          <p:cNvPr id="25" name="Shape 23"/>
          <p:cNvSpPr/>
          <p:nvPr/>
        </p:nvSpPr>
        <p:spPr>
          <a:xfrm>
            <a:off x="3364992" y="4133088"/>
            <a:ext cx="128016" cy="128016"/>
          </a:xfrm>
          <a:prstGeom prst="ellipse">
            <a:avLst/>
          </a:prstGeom>
          <a:solidFill>
            <a:srgbClr val="E07B39"/>
          </a:solidFill>
          <a:ln w="12700">
            <a:solidFill>
              <a:srgbClr val="E07B39"/>
            </a:solidFill>
            <a:prstDash val="solid"/>
          </a:ln>
        </p:spPr>
      </p:sp>
      <p:sp>
        <p:nvSpPr>
          <p:cNvPr id="26" name="Text 24"/>
          <p:cNvSpPr/>
          <p:nvPr/>
        </p:nvSpPr>
        <p:spPr>
          <a:xfrm>
            <a:off x="3557016" y="4059936"/>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Flags uncertainty where the synthesis is contested or unclear</a:t>
            </a:r>
            <a:endParaRPr lang="en-US" sz="1100" dirty="0"/>
          </a:p>
        </p:txBody>
      </p:sp>
      <p:sp>
        <p:nvSpPr>
          <p:cNvPr id="27" name="Shape 25"/>
          <p:cNvSpPr/>
          <p:nvPr/>
        </p:nvSpPr>
        <p:spPr>
          <a:xfrm>
            <a:off x="6163056" y="1170432"/>
            <a:ext cx="2743200" cy="3657600"/>
          </a:xfrm>
          <a:prstGeom prst="rect">
            <a:avLst/>
          </a:prstGeom>
          <a:solidFill>
            <a:srgbClr val="2A7A4B">
              <a:alpha val="25000"/>
            </a:srgbClr>
          </a:solidFill>
          <a:ln w="12700">
            <a:solidFill>
              <a:srgbClr val="2A7A4B">
                <a:alpha val="55000"/>
              </a:srgbClr>
            </a:solidFill>
            <a:prstDash val="solid"/>
          </a:ln>
        </p:spPr>
      </p:sp>
      <p:sp>
        <p:nvSpPr>
          <p:cNvPr id="28" name="Shape 26"/>
          <p:cNvSpPr/>
          <p:nvPr/>
        </p:nvSpPr>
        <p:spPr>
          <a:xfrm>
            <a:off x="6163056" y="1170432"/>
            <a:ext cx="2743200" cy="384048"/>
          </a:xfrm>
          <a:prstGeom prst="rect">
            <a:avLst/>
          </a:prstGeom>
          <a:solidFill>
            <a:srgbClr val="2A7A4B"/>
          </a:solidFill>
          <a:ln w="12700">
            <a:solidFill>
              <a:srgbClr val="2A7A4B"/>
            </a:solidFill>
            <a:prstDash val="solid"/>
          </a:ln>
        </p:spPr>
      </p:sp>
      <p:sp>
        <p:nvSpPr>
          <p:cNvPr id="29" name="Text 27"/>
          <p:cNvSpPr/>
          <p:nvPr/>
        </p:nvSpPr>
        <p:spPr>
          <a:xfrm>
            <a:off x="6254496" y="1188720"/>
            <a:ext cx="2560320" cy="347472"/>
          </a:xfrm>
          <a:prstGeom prst="rect">
            <a:avLst/>
          </a:prstGeom>
          <a:noFill/>
          <a:ln/>
        </p:spPr>
        <p:txBody>
          <a:bodyPr wrap="square" lIns="0" tIns="0" rIns="0" bIns="0" rtlCol="0" anchor="ctr"/>
          <a:lstStyle/>
          <a:p>
            <a:pPr algn="l" indent="0" marL="0">
              <a:buNone/>
            </a:pPr>
            <a:r>
              <a:rPr lang="en-US" sz="1000" b="1" spc="80" kern="0" dirty="0">
                <a:solidFill>
                  <a:srgbClr val="FFFFFF"/>
                </a:solidFill>
                <a:latin typeface="Calibri" pitchFamily="34" charset="0"/>
                <a:ea typeface="Calibri" pitchFamily="34" charset="-122"/>
                <a:cs typeface="Calibri" pitchFamily="34" charset="-120"/>
              </a:rPr>
              <a:t>3 · OUTPUT</a:t>
            </a:r>
            <a:endParaRPr lang="en-US" sz="1000" dirty="0"/>
          </a:p>
        </p:txBody>
      </p:sp>
      <p:sp>
        <p:nvSpPr>
          <p:cNvPr id="30" name="Text 28"/>
          <p:cNvSpPr/>
          <p:nvPr/>
        </p:nvSpPr>
        <p:spPr>
          <a:xfrm>
            <a:off x="6254496" y="1627632"/>
            <a:ext cx="2560320" cy="36576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The rules file</a:t>
            </a:r>
            <a:endParaRPr lang="en-US" sz="1300" dirty="0"/>
          </a:p>
        </p:txBody>
      </p:sp>
      <p:sp>
        <p:nvSpPr>
          <p:cNvPr id="31" name="Shape 29"/>
          <p:cNvSpPr/>
          <p:nvPr/>
        </p:nvSpPr>
        <p:spPr>
          <a:xfrm>
            <a:off x="6272784" y="2157984"/>
            <a:ext cx="128016" cy="128016"/>
          </a:xfrm>
          <a:prstGeom prst="ellipse">
            <a:avLst/>
          </a:prstGeom>
          <a:solidFill>
            <a:srgbClr val="2A7A4B"/>
          </a:solidFill>
          <a:ln w="12700">
            <a:solidFill>
              <a:srgbClr val="2A7A4B"/>
            </a:solidFill>
            <a:prstDash val="solid"/>
          </a:ln>
        </p:spPr>
      </p:sp>
      <p:sp>
        <p:nvSpPr>
          <p:cNvPr id="32" name="Text 30"/>
          <p:cNvSpPr/>
          <p:nvPr/>
        </p:nvSpPr>
        <p:spPr>
          <a:xfrm>
            <a:off x="6464808" y="2084832"/>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Explicit rule: IF notice includes late fees THEN result = INVALID (CCP §1161(2))</a:t>
            </a:r>
            <a:endParaRPr lang="en-US" sz="1100" dirty="0"/>
          </a:p>
        </p:txBody>
      </p:sp>
      <p:sp>
        <p:nvSpPr>
          <p:cNvPr id="33" name="Shape 31"/>
          <p:cNvSpPr/>
          <p:nvPr/>
        </p:nvSpPr>
        <p:spPr>
          <a:xfrm>
            <a:off x="6272784" y="2816352"/>
            <a:ext cx="128016" cy="128016"/>
          </a:xfrm>
          <a:prstGeom prst="ellipse">
            <a:avLst/>
          </a:prstGeom>
          <a:solidFill>
            <a:srgbClr val="2A7A4B"/>
          </a:solidFill>
          <a:ln w="12700">
            <a:solidFill>
              <a:srgbClr val="2A7A4B"/>
            </a:solidFill>
            <a:prstDash val="solid"/>
          </a:ln>
        </p:spPr>
      </p:sp>
      <p:sp>
        <p:nvSpPr>
          <p:cNvPr id="34" name="Text 32"/>
          <p:cNvSpPr/>
          <p:nvPr/>
        </p:nvSpPr>
        <p:spPr>
          <a:xfrm>
            <a:off x="6464808" y="2743200"/>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Every rule cites its statutory source</a:t>
            </a:r>
            <a:endParaRPr lang="en-US" sz="1100" dirty="0"/>
          </a:p>
        </p:txBody>
      </p:sp>
      <p:sp>
        <p:nvSpPr>
          <p:cNvPr id="35" name="Shape 33"/>
          <p:cNvSpPr/>
          <p:nvPr/>
        </p:nvSpPr>
        <p:spPr>
          <a:xfrm>
            <a:off x="6272784" y="3474720"/>
            <a:ext cx="128016" cy="128016"/>
          </a:xfrm>
          <a:prstGeom prst="ellipse">
            <a:avLst/>
          </a:prstGeom>
          <a:solidFill>
            <a:srgbClr val="2A7A4B"/>
          </a:solidFill>
          <a:ln w="12700">
            <a:solidFill>
              <a:srgbClr val="2A7A4B"/>
            </a:solidFill>
            <a:prstDash val="solid"/>
          </a:ln>
        </p:spPr>
      </p:sp>
      <p:sp>
        <p:nvSpPr>
          <p:cNvPr id="36" name="Text 34"/>
          <p:cNvSpPr/>
          <p:nvPr/>
        </p:nvSpPr>
        <p:spPr>
          <a:xfrm>
            <a:off x="6464808" y="3401568"/>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Every rule can be inspected, challenged, and corrected</a:t>
            </a:r>
            <a:endParaRPr lang="en-US" sz="1100" dirty="0"/>
          </a:p>
        </p:txBody>
      </p:sp>
      <p:sp>
        <p:nvSpPr>
          <p:cNvPr id="37" name="Shape 35"/>
          <p:cNvSpPr/>
          <p:nvPr/>
        </p:nvSpPr>
        <p:spPr>
          <a:xfrm>
            <a:off x="6272784" y="4133088"/>
            <a:ext cx="128016" cy="128016"/>
          </a:xfrm>
          <a:prstGeom prst="ellipse">
            <a:avLst/>
          </a:prstGeom>
          <a:solidFill>
            <a:srgbClr val="2A7A4B"/>
          </a:solidFill>
          <a:ln w="12700">
            <a:solidFill>
              <a:srgbClr val="2A7A4B"/>
            </a:solidFill>
            <a:prstDash val="solid"/>
          </a:ln>
        </p:spPr>
      </p:sp>
      <p:sp>
        <p:nvSpPr>
          <p:cNvPr id="38" name="Text 36"/>
          <p:cNvSpPr/>
          <p:nvPr/>
        </p:nvSpPr>
        <p:spPr>
          <a:xfrm>
            <a:off x="6464808" y="4059936"/>
            <a:ext cx="2331720" cy="59436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Attorney validation confirms the synthesis is accurate — not just that the statute was copied</a:t>
            </a:r>
            <a:endParaRPr lang="en-US" sz="1100" dirty="0"/>
          </a:p>
        </p:txBody>
      </p:sp>
      <p:sp>
        <p:nvSpPr>
          <p:cNvPr id="39" name="Shape 37"/>
          <p:cNvSpPr/>
          <p:nvPr/>
        </p:nvSpPr>
        <p:spPr>
          <a:xfrm>
            <a:off x="347472" y="4617720"/>
            <a:ext cx="8449056" cy="91440"/>
          </a:xfrm>
          <a:prstGeom prst="rect">
            <a:avLst/>
          </a:prstGeom>
          <a:solidFill>
            <a:srgbClr val="1B5E8C">
              <a:alpha val="50000"/>
            </a:srgbClr>
          </a:solidFill>
          <a:ln w="12700">
            <a:solidFill>
              <a:srgbClr val="1B5E8C">
                <a:alpha val="50000"/>
              </a:srgbClr>
            </a:solidFill>
            <a:prstDash val="solid"/>
          </a:ln>
        </p:spPr>
      </p:sp>
      <p:sp>
        <p:nvSpPr>
          <p:cNvPr id="40" name="Text 38"/>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Andrew M Cohen  ·  For Review  ·  June 2026</a:t>
            </a:r>
            <a:endParaRPr lang="en-US" sz="900" dirty="0"/>
          </a:p>
        </p:txBody>
      </p:sp>
      <p:sp>
        <p:nvSpPr>
          <p:cNvPr id="41" name="Shape 39"/>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Slides — Demo Scope &amp; Decision Logic</dc:title>
  <dc:subject>PptxGenJS Presentation</dc:subject>
  <dc:creator>Andrew M Cohen</dc:creator>
  <cp:lastModifiedBy>Andrew M Cohen</cp:lastModifiedBy>
  <cp:revision>1</cp:revision>
  <dcterms:created xsi:type="dcterms:W3CDTF">2026-06-09T18:53:30Z</dcterms:created>
  <dcterms:modified xsi:type="dcterms:W3CDTF">2026-06-09T18:53:30Z</dcterms:modified>
</cp:coreProperties>
</file>