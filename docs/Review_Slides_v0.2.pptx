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What the Prototype Actually Is
USE THIS SLIDE: When describing the prototype to technical or investor audiences who ask "how does it work?" or "what did you actually build?"
THE THREE-COMPONENT SUMMARY:
The prototype is not a single application. It's three components that work together:
1. Claude (via Cowork) — the AI reasoning engine that understands language, law, and context
2. Legal Data Hunter — an MCP connector that retrieves live statutory text from official sources in real time
3. The rules file — ca_eviction_v1.json — which encodes AI-synthesized legal doctrine as explicit, auditable IF/THEN logic
WHAT "I CONNECTED IT IN THREE DAYS" MEANS:
Anthropic built Claude and Legal Data Hunter. They exist as reusable infrastructure. What took three days was: (a) writing and testing the rules file for California eviction law, (b) connecting the components to work together, (c) building the demo materials. The hard ongoing work — drafting and validating rules files for all 50 states — is what the project is actually doing.
HOW IT WORKS DURING THE DEMO:
- When you type into Cowork, Claude reads the input and decides which tools to use
- If the context involves a statute, Claude calls Legal Data Hunter automatically
- The rules file is NOT automatically loaded — it's a separate artifact shown on GitHub
- The widget is also separate — a standalone HTML visualization, not something Claude generates live
- In the demo, you're navigating between: Cowork (live), the widget (pre-built HTML), and GitHub (showing the rules file)
WHY THE RULES FILE IS THE CONTRIBUTION:
Claude + Legal Data Hunter = very good legal reasoning, live sources. But it's probabilistic — the AI might find the defect or miss it depending on how the question is phrased, model version, context length, etc. The rules file converts that probabilistic reasoning into deterministic logic: the same inputs always produce the same output, every time, cited to the statute.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Demo Scope vs. Project Scope
KEY POINT: The demo is not a miniature version of the project. It is a proof-of-concept for the method, using one focused slice of one practice area.
WHY THIS SLICE:
Pre-filing eviction notice triage is the highest-leverage intervention point in the eviction process. Most eviction cases could be resolved before reaching court if the tenant understood their notice was defective. A skilled attorney checks for notice defects as the first step. The demo shows AI doing that same first step — fast, cited, and deterministically.
WHAT "COMPLETE EVICTION COVERAGE" MEANS:
The full eviction decision logic layer would encode not just notice triage, but the full range of decisions an unrepresented tenant needs to navigate: What to do after receiving a summons. What procedural defenses to raise at a hearing. When to request an emergency stay. How habitability issues affect the outcome.
WHY THE GATING DISCIPLINE MATTERS:
The project commits to validating eviction completely before expanding to other practice areas. "We proved the method works on eviction, and here are our published error rates" is the foundation for every subsequent expansion. Funders and partners should hear this as rigor, not caution.
COMMON QUESTION: "Why not build all 50 states for all practice areas at once?"
Answer: Validation is the bottleneck, not generation. The AI can draft rules fast. Getting licensed attorneys to confirm the synthesis is accurate takes time and coordination. The gating discipline concentrates that human effort where it's proven it will pay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What Decision Logic Is and Where It Comes From
THE CORE DISTINCTION:
The rules layer encodes not what the statute says, but how the law applies to specific facts — drawing on the accumulated interpretation of that statute by courts and practitioners. The AI synthesized that knowledge and structured it as explicit, auditable rules.
THE CALIFORNIA EXAMPLE:
CCP §1161(2) says an eviction notice must state "the amount that is due." It does not say "late fees are prohibited." That rule comes from California courts interpreting "the amount that is due" to mean rent only. Legal aid practitioners have applied this consistently for decades. The AI encoded that interpretation as: IF notice includes late fees → THEN result = INVALID, cited to §1161(2).
WHAT THIS IS NOT:
• Not hallucination — the rules are derived from real legal sources and are fully auditable.
• Not simple statutory transcription — the statute says what the law is; the rules file encodes how it applies.
• Not document assembly (A2J Author, HotDocs) — document assembly fills out forms; the rules layer determines whether your notice is legally defective.
WHY ATTORNEY VALIDATION IS REQUIRED:
We are not asking attorneys to check whether the AI copied the statute correctly. We are asking them to confirm whether the AI's synthesis of legal doctrine — its encoding of how courts and practitioners have interpreted and applied the statute — is accurate. That is a genuine legal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48640"/>
          </a:xfrm>
          <a:prstGeom prst="rect">
            <a:avLst/>
          </a:prstGeom>
          <a:noFill/>
          <a:ln/>
        </p:spPr>
        <p:txBody>
          <a:bodyPr wrap="square"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What the Prototype Actually Is</a:t>
            </a:r>
            <a:endParaRPr lang="en-US" sz="2800" dirty="0"/>
          </a:p>
        </p:txBody>
      </p:sp>
      <p:sp>
        <p:nvSpPr>
          <p:cNvPr id="4" name="Text 2"/>
          <p:cNvSpPr/>
          <p:nvPr/>
        </p:nvSpPr>
        <p:spPr>
          <a:xfrm>
            <a:off x="457200" y="749808"/>
            <a:ext cx="8229600" cy="32004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Three components assembled in three days — each reusable, each replaceable</a:t>
            </a:r>
            <a:endParaRPr lang="en-US" sz="1300" dirty="0"/>
          </a:p>
        </p:txBody>
      </p:sp>
      <p:sp>
        <p:nvSpPr>
          <p:cNvPr id="5" name="Shape 3"/>
          <p:cNvSpPr/>
          <p:nvPr/>
        </p:nvSpPr>
        <p:spPr>
          <a:xfrm>
            <a:off x="347472" y="1170432"/>
            <a:ext cx="8449056" cy="3246120"/>
          </a:xfrm>
          <a:prstGeom prst="rect">
            <a:avLst/>
          </a:prstGeom>
          <a:solidFill>
            <a:srgbClr val="EDF2F7"/>
          </a:solidFill>
          <a:ln w="12700">
            <a:solidFill>
              <a:srgbClr val="D0DCE8"/>
            </a:solidFill>
            <a:prstDash val="solid"/>
          </a:ln>
        </p:spPr>
      </p:sp>
      <p:sp>
        <p:nvSpPr>
          <p:cNvPr id="6" name="Shape 4"/>
          <p:cNvSpPr/>
          <p:nvPr/>
        </p:nvSpPr>
        <p:spPr>
          <a:xfrm>
            <a:off x="502920" y="1353312"/>
            <a:ext cx="2468880" cy="2880360"/>
          </a:xfrm>
          <a:prstGeom prst="rect">
            <a:avLst/>
          </a:prstGeom>
          <a:solidFill>
            <a:srgbClr val="FFFFFF"/>
          </a:solidFill>
          <a:ln w="19050">
            <a:solidFill>
              <a:srgbClr val="1B5E8C"/>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502920" y="1353312"/>
            <a:ext cx="2468880" cy="411480"/>
          </a:xfrm>
          <a:prstGeom prst="rect">
            <a:avLst/>
          </a:prstGeom>
          <a:solidFill>
            <a:srgbClr val="1B5E8C"/>
          </a:solidFill>
          <a:ln w="12700">
            <a:solidFill>
              <a:srgbClr val="1B5E8C"/>
            </a:solidFill>
            <a:prstDash val="solid"/>
          </a:ln>
        </p:spPr>
      </p:sp>
      <p:sp>
        <p:nvSpPr>
          <p:cNvPr id="8" name="Text 6"/>
          <p:cNvSpPr/>
          <p:nvPr/>
        </p:nvSpPr>
        <p:spPr>
          <a:xfrm>
            <a:off x="594360" y="1371600"/>
            <a:ext cx="2286000" cy="374904"/>
          </a:xfrm>
          <a:prstGeom prst="rect">
            <a:avLst/>
          </a:prstGeom>
          <a:noFill/>
          <a:ln/>
        </p:spPr>
        <p:txBody>
          <a:bodyPr wrap="square" rtlCol="0" anchor="ctr"/>
          <a:lstStyle/>
          <a:p>
            <a:pPr algn="l" indent="0" marL="0">
              <a:buNone/>
            </a:pPr>
            <a:r>
              <a:rPr lang="en-US" sz="950" b="1" spc="50" kern="0" dirty="0">
                <a:solidFill>
                  <a:srgbClr val="FFFFFF"/>
                </a:solidFill>
                <a:latin typeface="Calibri" pitchFamily="34" charset="0"/>
                <a:ea typeface="Calibri" pitchFamily="34" charset="-122"/>
                <a:cs typeface="Calibri" pitchFamily="34" charset="-120"/>
              </a:rPr>
              <a:t>① CLAUDE (COWORK)</a:t>
            </a:r>
            <a:endParaRPr lang="en-US" sz="950" dirty="0"/>
          </a:p>
        </p:txBody>
      </p:sp>
      <p:sp>
        <p:nvSpPr>
          <p:cNvPr id="9" name="Text 7"/>
          <p:cNvSpPr/>
          <p:nvPr/>
        </p:nvSpPr>
        <p:spPr>
          <a:xfrm>
            <a:off x="594360" y="1847088"/>
            <a:ext cx="2286000" cy="256032"/>
          </a:xfrm>
          <a:prstGeom prst="rect">
            <a:avLst/>
          </a:prstGeom>
          <a:noFill/>
          <a:ln/>
        </p:spPr>
        <p:txBody>
          <a:bodyPr wrap="square" rtlCol="0" anchor="ctr"/>
          <a:lstStyle/>
          <a:p>
            <a:pPr indent="0" marL="0">
              <a:buNone/>
            </a:pPr>
            <a:r>
              <a:rPr lang="en-US" sz="1150" b="1" dirty="0">
                <a:solidFill>
                  <a:srgbClr val="1A1A2E"/>
                </a:solidFill>
                <a:latin typeface="Georgia" pitchFamily="34" charset="0"/>
                <a:ea typeface="Georgia" pitchFamily="34" charset="-122"/>
                <a:cs typeface="Georgia" pitchFamily="34" charset="-120"/>
              </a:rPr>
              <a:t>The AI reasoning engine.</a:t>
            </a:r>
            <a:endParaRPr lang="en-US" sz="1150" dirty="0"/>
          </a:p>
        </p:txBody>
      </p:sp>
      <p:sp>
        <p:nvSpPr>
          <p:cNvPr id="10" name="Text 8"/>
          <p:cNvSpPr/>
          <p:nvPr/>
        </p:nvSpPr>
        <p:spPr>
          <a:xfrm>
            <a:off x="594360" y="2139696"/>
            <a:ext cx="2286000" cy="196596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Understands language, law, and context. Reads Maria's facts. Asks Legal Data Hunter for the statute. Applies the rules file to reach a conclusion.</a:t>
            </a:r>
            <a:endParaRPr lang="en-US" sz="1100" dirty="0"/>
          </a:p>
          <a:p>
            <a:pPr algn="l" indent="0" marL="0">
              <a:buNone/>
            </a:pP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Always on — no setup needed per session.</a:t>
            </a:r>
            <a:endParaRPr lang="en-US" sz="1100" dirty="0"/>
          </a:p>
        </p:txBody>
      </p:sp>
      <p:sp>
        <p:nvSpPr>
          <p:cNvPr id="11" name="Text 9"/>
          <p:cNvSpPr/>
          <p:nvPr/>
        </p:nvSpPr>
        <p:spPr>
          <a:xfrm>
            <a:off x="594360" y="3977640"/>
            <a:ext cx="2286000" cy="182880"/>
          </a:xfrm>
          <a:prstGeom prst="rect">
            <a:avLst/>
          </a:prstGeom>
          <a:noFill/>
          <a:ln/>
        </p:spPr>
        <p:txBody>
          <a:bodyPr wrap="square"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Built by Anthropic</a:t>
            </a:r>
            <a:endParaRPr lang="en-US" sz="900" dirty="0"/>
          </a:p>
        </p:txBody>
      </p:sp>
      <p:sp>
        <p:nvSpPr>
          <p:cNvPr id="12" name="Shape 10"/>
          <p:cNvSpPr/>
          <p:nvPr/>
        </p:nvSpPr>
        <p:spPr>
          <a:xfrm>
            <a:off x="3081528" y="2468880"/>
            <a:ext cx="411480" cy="320040"/>
          </a:xfrm>
          <a:prstGeom prst="rightArrow">
            <a:avLst/>
          </a:prstGeom>
          <a:solidFill>
            <a:srgbClr val="E07B39"/>
          </a:solidFill>
          <a:ln w="12700">
            <a:solidFill>
              <a:srgbClr val="E07B39"/>
            </a:solidFill>
            <a:prstDash val="solid"/>
          </a:ln>
        </p:spPr>
      </p:sp>
      <p:sp>
        <p:nvSpPr>
          <p:cNvPr id="13" name="Shape 11"/>
          <p:cNvSpPr/>
          <p:nvPr/>
        </p:nvSpPr>
        <p:spPr>
          <a:xfrm>
            <a:off x="3538728" y="1353312"/>
            <a:ext cx="2468880" cy="2880360"/>
          </a:xfrm>
          <a:prstGeom prst="rect">
            <a:avLst/>
          </a:prstGeom>
          <a:solidFill>
            <a:srgbClr val="FFFFFF"/>
          </a:solidFill>
          <a:ln w="19050">
            <a:solidFill>
              <a:srgbClr val="0E7C87"/>
            </a:solidFill>
            <a:prstDash val="solid"/>
          </a:ln>
          <a:effectLst>
            <a:outerShdw sx="100000" sy="100000" kx="0" ky="0" algn="bl" rotWithShape="0" blurRad="101600" dist="25400" dir="8100000">
              <a:srgbClr val="000000">
                <a:alpha val="8000"/>
              </a:srgbClr>
            </a:outerShdw>
          </a:effectLst>
        </p:spPr>
      </p:sp>
      <p:sp>
        <p:nvSpPr>
          <p:cNvPr id="14" name="Shape 12"/>
          <p:cNvSpPr/>
          <p:nvPr/>
        </p:nvSpPr>
        <p:spPr>
          <a:xfrm>
            <a:off x="3538728" y="1353312"/>
            <a:ext cx="2468880" cy="411480"/>
          </a:xfrm>
          <a:prstGeom prst="rect">
            <a:avLst/>
          </a:prstGeom>
          <a:solidFill>
            <a:srgbClr val="0E7C87"/>
          </a:solidFill>
          <a:ln w="12700">
            <a:solidFill>
              <a:srgbClr val="0E7C87"/>
            </a:solidFill>
            <a:prstDash val="solid"/>
          </a:ln>
        </p:spPr>
      </p:sp>
      <p:sp>
        <p:nvSpPr>
          <p:cNvPr id="15" name="Text 13"/>
          <p:cNvSpPr/>
          <p:nvPr/>
        </p:nvSpPr>
        <p:spPr>
          <a:xfrm>
            <a:off x="3630168" y="1371600"/>
            <a:ext cx="2286000" cy="374904"/>
          </a:xfrm>
          <a:prstGeom prst="rect">
            <a:avLst/>
          </a:prstGeom>
          <a:noFill/>
          <a:ln/>
        </p:spPr>
        <p:txBody>
          <a:bodyPr wrap="square" rtlCol="0" anchor="ctr"/>
          <a:lstStyle/>
          <a:p>
            <a:pPr algn="l" indent="0" marL="0">
              <a:buNone/>
            </a:pPr>
            <a:r>
              <a:rPr lang="en-US" sz="950" b="1" spc="50" kern="0" dirty="0">
                <a:solidFill>
                  <a:srgbClr val="FFFFFF"/>
                </a:solidFill>
                <a:latin typeface="Calibri" pitchFamily="34" charset="0"/>
                <a:ea typeface="Calibri" pitchFamily="34" charset="-122"/>
                <a:cs typeface="Calibri" pitchFamily="34" charset="-120"/>
              </a:rPr>
              <a:t>② LEGAL DATA HUNTER</a:t>
            </a:r>
            <a:endParaRPr lang="en-US" sz="950" dirty="0"/>
          </a:p>
        </p:txBody>
      </p:sp>
      <p:sp>
        <p:nvSpPr>
          <p:cNvPr id="16" name="Text 14"/>
          <p:cNvSpPr/>
          <p:nvPr/>
        </p:nvSpPr>
        <p:spPr>
          <a:xfrm>
            <a:off x="3630168" y="1847088"/>
            <a:ext cx="2286000" cy="256032"/>
          </a:xfrm>
          <a:prstGeom prst="rect">
            <a:avLst/>
          </a:prstGeom>
          <a:noFill/>
          <a:ln/>
        </p:spPr>
        <p:txBody>
          <a:bodyPr wrap="square" rtlCol="0" anchor="ctr"/>
          <a:lstStyle/>
          <a:p>
            <a:pPr indent="0" marL="0">
              <a:buNone/>
            </a:pPr>
            <a:r>
              <a:rPr lang="en-US" sz="1150" b="1" dirty="0">
                <a:solidFill>
                  <a:srgbClr val="1A1A2E"/>
                </a:solidFill>
                <a:latin typeface="Georgia" pitchFamily="34" charset="0"/>
                <a:ea typeface="Georgia" pitchFamily="34" charset="-122"/>
                <a:cs typeface="Georgia" pitchFamily="34" charset="-120"/>
              </a:rPr>
              <a:t>The live law connector.</a:t>
            </a:r>
            <a:endParaRPr lang="en-US" sz="1150" dirty="0"/>
          </a:p>
        </p:txBody>
      </p:sp>
      <p:sp>
        <p:nvSpPr>
          <p:cNvPr id="17" name="Text 15"/>
          <p:cNvSpPr/>
          <p:nvPr/>
        </p:nvSpPr>
        <p:spPr>
          <a:xfrm>
            <a:off x="3630168" y="2139696"/>
            <a:ext cx="2286000" cy="196596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An MCP connector — a live bridge to official legal databases. Retrieves current statutory text directly from leginfo.legislature.ca.gov and equivalent sources in other states.</a:t>
            </a:r>
            <a:endParaRPr lang="en-US" sz="1100" dirty="0"/>
          </a:p>
          <a:p>
            <a:pPr algn="l" indent="0" marL="0">
              <a:buNone/>
            </a:pP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Not paraphrase. Not memory. The actual enrolled text, in real time.</a:t>
            </a:r>
            <a:endParaRPr lang="en-US" sz="1100" dirty="0"/>
          </a:p>
        </p:txBody>
      </p:sp>
      <p:sp>
        <p:nvSpPr>
          <p:cNvPr id="18" name="Text 16"/>
          <p:cNvSpPr/>
          <p:nvPr/>
        </p:nvSpPr>
        <p:spPr>
          <a:xfrm>
            <a:off x="3630168" y="3977640"/>
            <a:ext cx="2286000" cy="182880"/>
          </a:xfrm>
          <a:prstGeom prst="rect">
            <a:avLst/>
          </a:prstGeom>
          <a:noFill/>
          <a:ln/>
        </p:spPr>
        <p:txBody>
          <a:bodyPr wrap="square"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Built by Anthropic</a:t>
            </a:r>
            <a:endParaRPr lang="en-US" sz="900" dirty="0"/>
          </a:p>
        </p:txBody>
      </p:sp>
      <p:sp>
        <p:nvSpPr>
          <p:cNvPr id="19" name="Shape 17"/>
          <p:cNvSpPr/>
          <p:nvPr/>
        </p:nvSpPr>
        <p:spPr>
          <a:xfrm>
            <a:off x="6117336" y="2468880"/>
            <a:ext cx="411480" cy="320040"/>
          </a:xfrm>
          <a:prstGeom prst="rightArrow">
            <a:avLst/>
          </a:prstGeom>
          <a:solidFill>
            <a:srgbClr val="E07B39"/>
          </a:solidFill>
          <a:ln w="12700">
            <a:solidFill>
              <a:srgbClr val="E07B39"/>
            </a:solidFill>
            <a:prstDash val="solid"/>
          </a:ln>
        </p:spPr>
      </p:sp>
      <p:sp>
        <p:nvSpPr>
          <p:cNvPr id="20" name="Shape 18"/>
          <p:cNvSpPr/>
          <p:nvPr/>
        </p:nvSpPr>
        <p:spPr>
          <a:xfrm>
            <a:off x="6574536" y="1353312"/>
            <a:ext cx="2468880" cy="2880360"/>
          </a:xfrm>
          <a:prstGeom prst="rect">
            <a:avLst/>
          </a:prstGeom>
          <a:solidFill>
            <a:srgbClr val="FFFFFF"/>
          </a:solidFill>
          <a:ln w="19050">
            <a:solidFill>
              <a:srgbClr val="2A7A4B"/>
            </a:solidFill>
            <a:prstDash val="solid"/>
          </a:ln>
          <a:effectLst>
            <a:outerShdw sx="100000" sy="100000" kx="0" ky="0" algn="bl" rotWithShape="0" blurRad="101600" dist="25400" dir="8100000">
              <a:srgbClr val="000000">
                <a:alpha val="8000"/>
              </a:srgbClr>
            </a:outerShdw>
          </a:effectLst>
        </p:spPr>
      </p:sp>
      <p:sp>
        <p:nvSpPr>
          <p:cNvPr id="21" name="Shape 19"/>
          <p:cNvSpPr/>
          <p:nvPr/>
        </p:nvSpPr>
        <p:spPr>
          <a:xfrm>
            <a:off x="6574536" y="1353312"/>
            <a:ext cx="2468880" cy="411480"/>
          </a:xfrm>
          <a:prstGeom prst="rect">
            <a:avLst/>
          </a:prstGeom>
          <a:solidFill>
            <a:srgbClr val="2A7A4B"/>
          </a:solidFill>
          <a:ln w="12700">
            <a:solidFill>
              <a:srgbClr val="2A7A4B"/>
            </a:solidFill>
            <a:prstDash val="solid"/>
          </a:ln>
        </p:spPr>
      </p:sp>
      <p:sp>
        <p:nvSpPr>
          <p:cNvPr id="22" name="Text 20"/>
          <p:cNvSpPr/>
          <p:nvPr/>
        </p:nvSpPr>
        <p:spPr>
          <a:xfrm>
            <a:off x="6665976" y="1371600"/>
            <a:ext cx="2286000" cy="374904"/>
          </a:xfrm>
          <a:prstGeom prst="rect">
            <a:avLst/>
          </a:prstGeom>
          <a:noFill/>
          <a:ln/>
        </p:spPr>
        <p:txBody>
          <a:bodyPr wrap="square" rtlCol="0" anchor="ctr"/>
          <a:lstStyle/>
          <a:p>
            <a:pPr algn="l" indent="0" marL="0">
              <a:buNone/>
            </a:pPr>
            <a:r>
              <a:rPr lang="en-US" sz="950" b="1" spc="50" kern="0" dirty="0">
                <a:solidFill>
                  <a:srgbClr val="FFFFFF"/>
                </a:solidFill>
                <a:latin typeface="Calibri" pitchFamily="34" charset="0"/>
                <a:ea typeface="Calibri" pitchFamily="34" charset="-122"/>
                <a:cs typeface="Calibri" pitchFamily="34" charset="-120"/>
              </a:rPr>
              <a:t>③ RULES FILE (JSON)</a:t>
            </a:r>
            <a:endParaRPr lang="en-US" sz="950" dirty="0"/>
          </a:p>
        </p:txBody>
      </p:sp>
      <p:sp>
        <p:nvSpPr>
          <p:cNvPr id="23" name="Text 21"/>
          <p:cNvSpPr/>
          <p:nvPr/>
        </p:nvSpPr>
        <p:spPr>
          <a:xfrm>
            <a:off x="6665976" y="1847088"/>
            <a:ext cx="2286000" cy="256032"/>
          </a:xfrm>
          <a:prstGeom prst="rect">
            <a:avLst/>
          </a:prstGeom>
          <a:noFill/>
          <a:ln/>
        </p:spPr>
        <p:txBody>
          <a:bodyPr wrap="square" rtlCol="0" anchor="ctr"/>
          <a:lstStyle/>
          <a:p>
            <a:pPr indent="0" marL="0">
              <a:buNone/>
            </a:pPr>
            <a:r>
              <a:rPr lang="en-US" sz="1150" b="1" dirty="0">
                <a:solidFill>
                  <a:srgbClr val="1A1A2E"/>
                </a:solidFill>
                <a:latin typeface="Georgia" pitchFamily="34" charset="0"/>
                <a:ea typeface="Georgia" pitchFamily="34" charset="-122"/>
                <a:cs typeface="Georgia" pitchFamily="34" charset="-120"/>
              </a:rPr>
              <a:t>The decision logic layer.</a:t>
            </a:r>
            <a:endParaRPr lang="en-US" sz="1150" dirty="0"/>
          </a:p>
        </p:txBody>
      </p:sp>
      <p:sp>
        <p:nvSpPr>
          <p:cNvPr id="24" name="Text 22"/>
          <p:cNvSpPr/>
          <p:nvPr/>
        </p:nvSpPr>
        <p:spPr>
          <a:xfrm>
            <a:off x="6665976" y="2139696"/>
            <a:ext cx="2286000" cy="196596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ca_eviction_v1.json — AI-synthesized legal doctrine, encoded as explicit IF/THEN rules. Tells Claude how California law applies to Maria's specific facts.</a:t>
            </a:r>
            <a:endParaRPr lang="en-US" sz="1100" dirty="0"/>
          </a:p>
          <a:p>
            <a:pPr algn="l" indent="0" marL="0">
              <a:buNone/>
            </a:pP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This is the project's contribution. Without it, the AI guesses. With it, the result is deterministic and auditable.</a:t>
            </a:r>
            <a:endParaRPr lang="en-US" sz="1100" dirty="0"/>
          </a:p>
        </p:txBody>
      </p:sp>
      <p:sp>
        <p:nvSpPr>
          <p:cNvPr id="25" name="Text 23"/>
          <p:cNvSpPr/>
          <p:nvPr/>
        </p:nvSpPr>
        <p:spPr>
          <a:xfrm>
            <a:off x="6665976" y="3977640"/>
            <a:ext cx="2286000" cy="182880"/>
          </a:xfrm>
          <a:prstGeom prst="rect">
            <a:avLst/>
          </a:prstGeom>
          <a:noFill/>
          <a:ln/>
        </p:spPr>
        <p:txBody>
          <a:bodyPr wrap="square" rtlCol="0" anchor="ctr"/>
          <a:lstStyle/>
          <a:p>
            <a:pPr indent="0" marL="0">
              <a:buNone/>
            </a:pPr>
            <a:r>
              <a:rPr lang="en-US" sz="900" i="1" dirty="0">
                <a:solidFill>
                  <a:srgbClr val="E07B39"/>
                </a:solidFill>
                <a:latin typeface="Calibri" pitchFamily="34" charset="0"/>
                <a:ea typeface="Calibri" pitchFamily="34" charset="-122"/>
                <a:cs typeface="Calibri" pitchFamily="34" charset="-120"/>
              </a:rPr>
              <a:t>Built by this project</a:t>
            </a:r>
            <a:endParaRPr lang="en-US" sz="900" dirty="0"/>
          </a:p>
        </p:txBody>
      </p:sp>
      <p:sp>
        <p:nvSpPr>
          <p:cNvPr id="26" name="Shape 24"/>
          <p:cNvSpPr/>
          <p:nvPr/>
        </p:nvSpPr>
        <p:spPr>
          <a:xfrm>
            <a:off x="347472" y="4544568"/>
            <a:ext cx="8449056" cy="411480"/>
          </a:xfrm>
          <a:prstGeom prst="rect">
            <a:avLst/>
          </a:prstGeom>
          <a:solidFill>
            <a:srgbClr val="0D2137"/>
          </a:solidFill>
          <a:ln w="12700">
            <a:solidFill>
              <a:srgbClr val="0D2137"/>
            </a:solidFill>
            <a:prstDash val="solid"/>
          </a:ln>
        </p:spPr>
      </p:sp>
      <p:sp>
        <p:nvSpPr>
          <p:cNvPr id="27" name="Text 25"/>
          <p:cNvSpPr/>
          <p:nvPr/>
        </p:nvSpPr>
        <p:spPr>
          <a:xfrm>
            <a:off x="530352" y="4562856"/>
            <a:ext cx="8083296" cy="365760"/>
          </a:xfrm>
          <a:prstGeom prst="rect">
            <a:avLst/>
          </a:prstGeom>
          <a:noFill/>
          <a:ln/>
        </p:spPr>
        <p:txBody>
          <a:bodyPr wrap="square" rtlCol="0" anchor="ctr"/>
          <a:lstStyle/>
          <a:p>
            <a:pPr algn="l" indent="0" marL="0">
              <a:buNone/>
            </a:pPr>
            <a:r>
              <a:rPr lang="en-US" sz="1100" i="1" dirty="0">
                <a:solidFill>
                  <a:srgbClr val="B0C4D4"/>
                </a:solidFill>
                <a:latin typeface="Calibri" pitchFamily="34" charset="0"/>
                <a:ea typeface="Calibri" pitchFamily="34" charset="-122"/>
                <a:cs typeface="Calibri" pitchFamily="34" charset="-120"/>
              </a:rPr>
              <a:t>"I connected it in three days" = assembled these three components. Anthropic built ① and ②. The rules file — the hard part — is what Civil Justice as Code is building.</a:t>
            </a:r>
            <a:endParaRPr lang="en-US" sz="1100" dirty="0"/>
          </a:p>
        </p:txBody>
      </p:sp>
      <p:sp>
        <p:nvSpPr>
          <p:cNvPr id="28" name="Text 26"/>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For Review  ·  June 2026</a:t>
            </a:r>
            <a:endParaRPr lang="en-US" sz="900" dirty="0"/>
          </a:p>
        </p:txBody>
      </p:sp>
      <p:sp>
        <p:nvSpPr>
          <p:cNvPr id="29" name="Shape 27"/>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48640"/>
          </a:xfrm>
          <a:prstGeom prst="rect">
            <a:avLst/>
          </a:prstGeom>
          <a:noFill/>
          <a:ln/>
        </p:spPr>
        <p:txBody>
          <a:bodyPr wrap="square"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Demo Scope vs. Project Scope</a:t>
            </a:r>
            <a:endParaRPr lang="en-US" sz="2800" dirty="0"/>
          </a:p>
        </p:txBody>
      </p:sp>
      <p:sp>
        <p:nvSpPr>
          <p:cNvPr id="4" name="Text 2"/>
          <p:cNvSpPr/>
          <p:nvPr/>
        </p:nvSpPr>
        <p:spPr>
          <a:xfrm>
            <a:off x="457200" y="749808"/>
            <a:ext cx="8229600" cy="32004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The demo is proof of concept for one slice. The project builds the full library.</a:t>
            </a:r>
            <a:endParaRPr lang="en-US" sz="1300" dirty="0"/>
          </a:p>
        </p:txBody>
      </p:sp>
      <p:sp>
        <p:nvSpPr>
          <p:cNvPr id="5" name="Shape 3"/>
          <p:cNvSpPr/>
          <p:nvPr/>
        </p:nvSpPr>
        <p:spPr>
          <a:xfrm>
            <a:off x="347472" y="1170432"/>
            <a:ext cx="4133088" cy="36118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6" name="Shape 4"/>
          <p:cNvSpPr/>
          <p:nvPr/>
        </p:nvSpPr>
        <p:spPr>
          <a:xfrm>
            <a:off x="347472" y="1170432"/>
            <a:ext cx="4133088" cy="438912"/>
          </a:xfrm>
          <a:prstGeom prst="rect">
            <a:avLst/>
          </a:prstGeom>
          <a:solidFill>
            <a:srgbClr val="E07B39"/>
          </a:solidFill>
          <a:ln w="12700">
            <a:solidFill>
              <a:srgbClr val="E07B39"/>
            </a:solidFill>
            <a:prstDash val="solid"/>
          </a:ln>
        </p:spPr>
      </p:sp>
      <p:sp>
        <p:nvSpPr>
          <p:cNvPr id="7" name="Text 5"/>
          <p:cNvSpPr/>
          <p:nvPr/>
        </p:nvSpPr>
        <p:spPr>
          <a:xfrm>
            <a:off x="457200" y="1188720"/>
            <a:ext cx="3913632" cy="402336"/>
          </a:xfrm>
          <a:prstGeom prst="rect">
            <a:avLst/>
          </a:prstGeom>
          <a:noFill/>
          <a:ln/>
        </p:spPr>
        <p:txBody>
          <a:bodyPr wrap="square" lIns="0" tIns="0" rIns="0" bIns="0" rtlCol="0" anchor="ctr"/>
          <a:lstStyle/>
          <a:p>
            <a:pPr algn="l" indent="0" marL="0">
              <a:buNone/>
            </a:pPr>
            <a:r>
              <a:rPr lang="en-US" sz="1300" b="1" spc="100" kern="0" dirty="0">
                <a:solidFill>
                  <a:srgbClr val="FFFFFF"/>
                </a:solidFill>
                <a:latin typeface="Calibri" pitchFamily="34" charset="0"/>
                <a:ea typeface="Calibri" pitchFamily="34" charset="-122"/>
                <a:cs typeface="Calibri" pitchFamily="34" charset="-120"/>
              </a:rPr>
              <a:t>THE DEMO</a:t>
            </a:r>
            <a:endParaRPr lang="en-US" sz="1300" dirty="0"/>
          </a:p>
        </p:txBody>
      </p:sp>
      <p:sp>
        <p:nvSpPr>
          <p:cNvPr id="8" name="Text 6"/>
          <p:cNvSpPr/>
          <p:nvPr/>
        </p:nvSpPr>
        <p:spPr>
          <a:xfrm>
            <a:off x="502920" y="1737360"/>
            <a:ext cx="1005840" cy="685800"/>
          </a:xfrm>
          <a:prstGeom prst="rect">
            <a:avLst/>
          </a:prstGeom>
          <a:noFill/>
          <a:ln/>
        </p:spPr>
        <p:txBody>
          <a:bodyPr wrap="square" rtlCol="0" anchor="t"/>
          <a:lstStyle/>
          <a:p>
            <a:pPr algn="l" indent="0" marL="0">
              <a:buNone/>
            </a:pPr>
            <a:r>
              <a:rPr lang="en-US" sz="1100" b="1" dirty="0">
                <a:solidFill>
                  <a:srgbClr val="E07B39"/>
                </a:solidFill>
                <a:latin typeface="Calibri" pitchFamily="34" charset="0"/>
                <a:ea typeface="Calibri" pitchFamily="34" charset="-122"/>
                <a:cs typeface="Calibri" pitchFamily="34" charset="-120"/>
              </a:rPr>
              <a:t>Workflow:</a:t>
            </a:r>
            <a:endParaRPr lang="en-US" sz="1100" dirty="0"/>
          </a:p>
        </p:txBody>
      </p:sp>
      <p:sp>
        <p:nvSpPr>
          <p:cNvPr id="9" name="Text 7"/>
          <p:cNvSpPr/>
          <p:nvPr/>
        </p:nvSpPr>
        <p:spPr>
          <a:xfrm>
            <a:off x="1463040" y="1737360"/>
            <a:ext cx="283464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Eviction notice triage only</a:t>
            </a:r>
            <a:endParaRPr lang="en-US" sz="1100" dirty="0"/>
          </a:p>
        </p:txBody>
      </p:sp>
      <p:sp>
        <p:nvSpPr>
          <p:cNvPr id="10" name="Text 8"/>
          <p:cNvSpPr/>
          <p:nvPr/>
        </p:nvSpPr>
        <p:spPr>
          <a:xfrm>
            <a:off x="502920" y="2505456"/>
            <a:ext cx="1005840" cy="685800"/>
          </a:xfrm>
          <a:prstGeom prst="rect">
            <a:avLst/>
          </a:prstGeom>
          <a:noFill/>
          <a:ln/>
        </p:spPr>
        <p:txBody>
          <a:bodyPr wrap="square" rtlCol="0" anchor="t"/>
          <a:lstStyle/>
          <a:p>
            <a:pPr algn="l" indent="0" marL="0">
              <a:buNone/>
            </a:pPr>
            <a:r>
              <a:rPr lang="en-US" sz="1100" b="1" dirty="0">
                <a:solidFill>
                  <a:srgbClr val="E07B39"/>
                </a:solidFill>
                <a:latin typeface="Calibri" pitchFamily="34" charset="0"/>
                <a:ea typeface="Calibri" pitchFamily="34" charset="-122"/>
                <a:cs typeface="Calibri" pitchFamily="34" charset="-120"/>
              </a:rPr>
              <a:t>Scope:</a:t>
            </a:r>
            <a:endParaRPr lang="en-US" sz="1100" dirty="0"/>
          </a:p>
        </p:txBody>
      </p:sp>
      <p:sp>
        <p:nvSpPr>
          <p:cNvPr id="11" name="Text 9"/>
          <p:cNvSpPr/>
          <p:nvPr/>
        </p:nvSpPr>
        <p:spPr>
          <a:xfrm>
            <a:off x="1463040" y="2505456"/>
            <a:ext cx="283464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Pre-filing notice analysis:</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  • Notice type &amp; required period</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  • Procedural defect detection</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  • Affirmative defense screening</a:t>
            </a:r>
            <a:endParaRPr lang="en-US" sz="1100" dirty="0"/>
          </a:p>
        </p:txBody>
      </p:sp>
      <p:sp>
        <p:nvSpPr>
          <p:cNvPr id="12" name="Text 10"/>
          <p:cNvSpPr/>
          <p:nvPr/>
        </p:nvSpPr>
        <p:spPr>
          <a:xfrm>
            <a:off x="502920" y="3273552"/>
            <a:ext cx="1005840" cy="685800"/>
          </a:xfrm>
          <a:prstGeom prst="rect">
            <a:avLst/>
          </a:prstGeom>
          <a:noFill/>
          <a:ln/>
        </p:spPr>
        <p:txBody>
          <a:bodyPr wrap="square" rtlCol="0" anchor="t"/>
          <a:lstStyle/>
          <a:p>
            <a:pPr algn="l" indent="0" marL="0">
              <a:buNone/>
            </a:pPr>
            <a:r>
              <a:rPr lang="en-US" sz="1100" b="1" dirty="0">
                <a:solidFill>
                  <a:srgbClr val="E07B39"/>
                </a:solidFill>
                <a:latin typeface="Calibri" pitchFamily="34" charset="0"/>
                <a:ea typeface="Calibri" pitchFamily="34" charset="-122"/>
                <a:cs typeface="Calibri" pitchFamily="34" charset="-120"/>
              </a:rPr>
              <a:t>Coverage:</a:t>
            </a:r>
            <a:endParaRPr lang="en-US" sz="1100" dirty="0"/>
          </a:p>
        </p:txBody>
      </p:sp>
      <p:sp>
        <p:nvSpPr>
          <p:cNvPr id="13" name="Text 11"/>
          <p:cNvSpPr/>
          <p:nvPr/>
        </p:nvSpPr>
        <p:spPr>
          <a:xfrm>
            <a:off x="1463040" y="3273552"/>
            <a:ext cx="283464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California (full) · Texas &amp; New York (portability demonstration)</a:t>
            </a:r>
            <a:endParaRPr lang="en-US" sz="1100" dirty="0"/>
          </a:p>
        </p:txBody>
      </p:sp>
      <p:sp>
        <p:nvSpPr>
          <p:cNvPr id="14" name="Text 12"/>
          <p:cNvSpPr/>
          <p:nvPr/>
        </p:nvSpPr>
        <p:spPr>
          <a:xfrm>
            <a:off x="502920" y="4041648"/>
            <a:ext cx="1005840" cy="685800"/>
          </a:xfrm>
          <a:prstGeom prst="rect">
            <a:avLst/>
          </a:prstGeom>
          <a:noFill/>
          <a:ln/>
        </p:spPr>
        <p:txBody>
          <a:bodyPr wrap="square" rtlCol="0" anchor="t"/>
          <a:lstStyle/>
          <a:p>
            <a:pPr algn="l" indent="0" marL="0">
              <a:buNone/>
            </a:pPr>
            <a:r>
              <a:rPr lang="en-US" sz="1100" b="1" dirty="0">
                <a:solidFill>
                  <a:srgbClr val="E07B39"/>
                </a:solidFill>
                <a:latin typeface="Calibri" pitchFamily="34" charset="0"/>
                <a:ea typeface="Calibri" pitchFamily="34" charset="-122"/>
                <a:cs typeface="Calibri" pitchFamily="34" charset="-120"/>
              </a:rPr>
              <a:t>Purpose:</a:t>
            </a:r>
            <a:endParaRPr lang="en-US" sz="1100" dirty="0"/>
          </a:p>
        </p:txBody>
      </p:sp>
      <p:sp>
        <p:nvSpPr>
          <p:cNvPr id="15" name="Text 13"/>
          <p:cNvSpPr/>
          <p:nvPr/>
        </p:nvSpPr>
        <p:spPr>
          <a:xfrm>
            <a:off x="1463040" y="4041648"/>
            <a:ext cx="283464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Proves the method works. Shows what the infrastructure makes possible. Sets up the project ask.</a:t>
            </a:r>
            <a:endParaRPr lang="en-US" sz="1100" dirty="0"/>
          </a:p>
        </p:txBody>
      </p:sp>
      <p:sp>
        <p:nvSpPr>
          <p:cNvPr id="16" name="Shape 14"/>
          <p:cNvSpPr/>
          <p:nvPr/>
        </p:nvSpPr>
        <p:spPr>
          <a:xfrm>
            <a:off x="4663440" y="1170432"/>
            <a:ext cx="4133088" cy="36118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7" name="Shape 15"/>
          <p:cNvSpPr/>
          <p:nvPr/>
        </p:nvSpPr>
        <p:spPr>
          <a:xfrm>
            <a:off x="4663440" y="1170432"/>
            <a:ext cx="4133088" cy="438912"/>
          </a:xfrm>
          <a:prstGeom prst="rect">
            <a:avLst/>
          </a:prstGeom>
          <a:solidFill>
            <a:srgbClr val="1B5E8C"/>
          </a:solidFill>
          <a:ln w="12700">
            <a:solidFill>
              <a:srgbClr val="1B5E8C"/>
            </a:solidFill>
            <a:prstDash val="solid"/>
          </a:ln>
        </p:spPr>
      </p:sp>
      <p:sp>
        <p:nvSpPr>
          <p:cNvPr id="18" name="Text 16"/>
          <p:cNvSpPr/>
          <p:nvPr/>
        </p:nvSpPr>
        <p:spPr>
          <a:xfrm>
            <a:off x="4773168" y="1188720"/>
            <a:ext cx="3913632" cy="402336"/>
          </a:xfrm>
          <a:prstGeom prst="rect">
            <a:avLst/>
          </a:prstGeom>
          <a:noFill/>
          <a:ln/>
        </p:spPr>
        <p:txBody>
          <a:bodyPr wrap="square" lIns="0" tIns="0" rIns="0" bIns="0" rtlCol="0" anchor="ctr"/>
          <a:lstStyle/>
          <a:p>
            <a:pPr algn="l" indent="0" marL="0">
              <a:buNone/>
            </a:pPr>
            <a:r>
              <a:rPr lang="en-US" sz="1300" b="1" spc="100" kern="0" dirty="0">
                <a:solidFill>
                  <a:srgbClr val="FFFFFF"/>
                </a:solidFill>
                <a:latin typeface="Calibri" pitchFamily="34" charset="0"/>
                <a:ea typeface="Calibri" pitchFamily="34" charset="-122"/>
                <a:cs typeface="Calibri" pitchFamily="34" charset="-120"/>
              </a:rPr>
              <a:t>THE PROJECT</a:t>
            </a:r>
            <a:endParaRPr lang="en-US" sz="1300" dirty="0"/>
          </a:p>
        </p:txBody>
      </p:sp>
      <p:sp>
        <p:nvSpPr>
          <p:cNvPr id="19" name="Text 17"/>
          <p:cNvSpPr/>
          <p:nvPr/>
        </p:nvSpPr>
        <p:spPr>
          <a:xfrm>
            <a:off x="4818888" y="1737360"/>
            <a:ext cx="822960" cy="685800"/>
          </a:xfrm>
          <a:prstGeom prst="rect">
            <a:avLst/>
          </a:prstGeom>
          <a:noFill/>
          <a:ln/>
        </p:spPr>
        <p:txBody>
          <a:bodyPr wrap="square" rtlCol="0" anchor="t"/>
          <a:lstStyle/>
          <a:p>
            <a:pPr algn="l" indent="0" marL="0">
              <a:buNone/>
            </a:pPr>
            <a:r>
              <a:rPr lang="en-US" sz="1100" b="1" dirty="0">
                <a:solidFill>
                  <a:srgbClr val="1B5E8C"/>
                </a:solidFill>
                <a:latin typeface="Calibri" pitchFamily="34" charset="0"/>
                <a:ea typeface="Calibri" pitchFamily="34" charset="-122"/>
                <a:cs typeface="Calibri" pitchFamily="34" charset="-120"/>
              </a:rPr>
              <a:t>Phase 1:</a:t>
            </a:r>
            <a:endParaRPr lang="en-US" sz="1100" dirty="0"/>
          </a:p>
        </p:txBody>
      </p:sp>
      <p:sp>
        <p:nvSpPr>
          <p:cNvPr id="20" name="Text 18"/>
          <p:cNvSpPr/>
          <p:nvPr/>
        </p:nvSpPr>
        <p:spPr>
          <a:xfrm>
            <a:off x="5596128" y="1737360"/>
            <a:ext cx="301752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Complete eviction logic — all 50 states + DC</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(notice triage · court procedure · hearing defenses · emergency remedies)</a:t>
            </a:r>
            <a:endParaRPr lang="en-US" sz="1100" dirty="0"/>
          </a:p>
        </p:txBody>
      </p:sp>
      <p:sp>
        <p:nvSpPr>
          <p:cNvPr id="21" name="Text 19"/>
          <p:cNvSpPr/>
          <p:nvPr/>
        </p:nvSpPr>
        <p:spPr>
          <a:xfrm>
            <a:off x="4818888" y="2505456"/>
            <a:ext cx="822960" cy="685800"/>
          </a:xfrm>
          <a:prstGeom prst="rect">
            <a:avLst/>
          </a:prstGeom>
          <a:noFill/>
          <a:ln/>
        </p:spPr>
        <p:txBody>
          <a:bodyPr wrap="square" rtlCol="0" anchor="t"/>
          <a:lstStyle/>
          <a:p>
            <a:pPr algn="l" indent="0" marL="0">
              <a:buNone/>
            </a:pPr>
            <a:r>
              <a:rPr lang="en-US" sz="1100" b="1" dirty="0">
                <a:solidFill>
                  <a:srgbClr val="1B5E8C"/>
                </a:solidFill>
                <a:latin typeface="Calibri" pitchFamily="34" charset="0"/>
                <a:ea typeface="Calibri" pitchFamily="34" charset="-122"/>
                <a:cs typeface="Calibri" pitchFamily="34" charset="-120"/>
              </a:rPr>
              <a:t>Then:</a:t>
            </a:r>
            <a:endParaRPr lang="en-US" sz="1100" dirty="0"/>
          </a:p>
        </p:txBody>
      </p:sp>
      <p:sp>
        <p:nvSpPr>
          <p:cNvPr id="22" name="Text 20"/>
          <p:cNvSpPr/>
          <p:nvPr/>
        </p:nvSpPr>
        <p:spPr>
          <a:xfrm>
            <a:off x="5596128" y="2505456"/>
            <a:ext cx="301752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Consumer debt · Benefits denial appeals · Record sealing · DV &amp; immigration</a:t>
            </a:r>
            <a:endParaRPr lang="en-US" sz="1100" dirty="0"/>
          </a:p>
        </p:txBody>
      </p:sp>
      <p:sp>
        <p:nvSpPr>
          <p:cNvPr id="23" name="Text 21"/>
          <p:cNvSpPr/>
          <p:nvPr/>
        </p:nvSpPr>
        <p:spPr>
          <a:xfrm>
            <a:off x="4818888" y="3273552"/>
            <a:ext cx="822960" cy="685800"/>
          </a:xfrm>
          <a:prstGeom prst="rect">
            <a:avLst/>
          </a:prstGeom>
          <a:noFill/>
          <a:ln/>
        </p:spPr>
        <p:txBody>
          <a:bodyPr wrap="square" rtlCol="0" anchor="t"/>
          <a:lstStyle/>
          <a:p>
            <a:pPr algn="l" indent="0" marL="0">
              <a:buNone/>
            </a:pPr>
            <a:r>
              <a:rPr lang="en-US" sz="1100" b="1" dirty="0">
                <a:solidFill>
                  <a:srgbClr val="1B5E8C"/>
                </a:solidFill>
                <a:latin typeface="Calibri" pitchFamily="34" charset="0"/>
                <a:ea typeface="Calibri" pitchFamily="34" charset="-122"/>
                <a:cs typeface="Calibri" pitchFamily="34" charset="-120"/>
              </a:rPr>
              <a:t>Standard:</a:t>
            </a:r>
            <a:endParaRPr lang="en-US" sz="1100" dirty="0"/>
          </a:p>
        </p:txBody>
      </p:sp>
      <p:sp>
        <p:nvSpPr>
          <p:cNvPr id="24" name="Text 22"/>
          <p:cNvSpPr/>
          <p:nvPr/>
        </p:nvSpPr>
        <p:spPr>
          <a:xfrm>
            <a:off x="5596128" y="3273552"/>
            <a:ext cx="301752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All 7 validation layers cleared. Published error rates. Attorney-reviewed. Open source.</a:t>
            </a:r>
            <a:endParaRPr lang="en-US" sz="1100" dirty="0"/>
          </a:p>
        </p:txBody>
      </p:sp>
      <p:sp>
        <p:nvSpPr>
          <p:cNvPr id="25" name="Text 23"/>
          <p:cNvSpPr/>
          <p:nvPr/>
        </p:nvSpPr>
        <p:spPr>
          <a:xfrm>
            <a:off x="4818888" y="4041648"/>
            <a:ext cx="822960" cy="685800"/>
          </a:xfrm>
          <a:prstGeom prst="rect">
            <a:avLst/>
          </a:prstGeom>
          <a:noFill/>
          <a:ln/>
        </p:spPr>
        <p:txBody>
          <a:bodyPr wrap="square" rtlCol="0" anchor="t"/>
          <a:lstStyle/>
          <a:p>
            <a:pPr algn="l" indent="0" marL="0">
              <a:buNone/>
            </a:pPr>
            <a:r>
              <a:rPr lang="en-US" sz="1100" b="1" dirty="0">
                <a:solidFill>
                  <a:srgbClr val="1B5E8C"/>
                </a:solidFill>
                <a:latin typeface="Calibri" pitchFamily="34" charset="0"/>
                <a:ea typeface="Calibri" pitchFamily="34" charset="-122"/>
                <a:cs typeface="Calibri" pitchFamily="34" charset="-120"/>
              </a:rPr>
              <a:t>Gate:</a:t>
            </a:r>
            <a:endParaRPr lang="en-US" sz="1100" dirty="0"/>
          </a:p>
        </p:txBody>
      </p:sp>
      <p:sp>
        <p:nvSpPr>
          <p:cNvPr id="26" name="Text 24"/>
          <p:cNvSpPr/>
          <p:nvPr/>
        </p:nvSpPr>
        <p:spPr>
          <a:xfrm>
            <a:off x="5596128" y="4041648"/>
            <a:ext cx="301752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Eviction fully validated before expansion to next practice area.</a:t>
            </a:r>
            <a:endParaRPr lang="en-US" sz="1100" dirty="0"/>
          </a:p>
        </p:txBody>
      </p:sp>
      <p:sp>
        <p:nvSpPr>
          <p:cNvPr id="27" name="Text 25"/>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For Review  ·  June 2026</a:t>
            </a:r>
            <a:endParaRPr lang="en-US" sz="900" dirty="0"/>
          </a:p>
        </p:txBody>
      </p:sp>
      <p:sp>
        <p:nvSpPr>
          <p:cNvPr id="28" name="Shape 26"/>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4864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Decision Logic: What It Is and Where It Comes From</a:t>
            </a:r>
            <a:endParaRPr lang="en-US" sz="2500" dirty="0"/>
          </a:p>
        </p:txBody>
      </p:sp>
      <p:sp>
        <p:nvSpPr>
          <p:cNvPr id="4" name="Text 2"/>
          <p:cNvSpPr/>
          <p:nvPr/>
        </p:nvSpPr>
        <p:spPr>
          <a:xfrm>
            <a:off x="457200" y="749808"/>
            <a:ext cx="8229600" cy="320040"/>
          </a:xfrm>
          <a:prstGeom prst="rect">
            <a:avLst/>
          </a:prstGeom>
          <a:noFill/>
          <a:ln/>
        </p:spPr>
        <p:txBody>
          <a:bodyPr wrap="square" rtlCol="0" anchor="ctr"/>
          <a:lstStyle/>
          <a:p>
            <a:pPr indent="0" marL="0">
              <a:buNone/>
            </a:pPr>
            <a:r>
              <a:rPr lang="en-US" sz="1300" i="1" dirty="0">
                <a:solidFill>
                  <a:srgbClr val="B0C4D4"/>
                </a:solidFill>
                <a:latin typeface="Calibri" pitchFamily="34" charset="0"/>
                <a:ea typeface="Calibri" pitchFamily="34" charset="-122"/>
                <a:cs typeface="Calibri" pitchFamily="34" charset="-120"/>
              </a:rPr>
              <a:t>AI-synthesized legal doctrine — encoded as auditable, structured rules</a:t>
            </a:r>
            <a:endParaRPr lang="en-US" sz="1300" dirty="0"/>
          </a:p>
        </p:txBody>
      </p:sp>
      <p:sp>
        <p:nvSpPr>
          <p:cNvPr id="5" name="Shape 3"/>
          <p:cNvSpPr/>
          <p:nvPr/>
        </p:nvSpPr>
        <p:spPr>
          <a:xfrm>
            <a:off x="347472" y="1170432"/>
            <a:ext cx="2743200" cy="3657600"/>
          </a:xfrm>
          <a:prstGeom prst="rect">
            <a:avLst/>
          </a:prstGeom>
          <a:solidFill>
            <a:srgbClr val="0E7C87">
              <a:alpha val="25000"/>
            </a:srgbClr>
          </a:solidFill>
          <a:ln w="12700">
            <a:solidFill>
              <a:srgbClr val="0E7C87">
                <a:alpha val="55000"/>
              </a:srgbClr>
            </a:solidFill>
            <a:prstDash val="solid"/>
          </a:ln>
        </p:spPr>
      </p:sp>
      <p:sp>
        <p:nvSpPr>
          <p:cNvPr id="6" name="Shape 4"/>
          <p:cNvSpPr/>
          <p:nvPr/>
        </p:nvSpPr>
        <p:spPr>
          <a:xfrm>
            <a:off x="347472" y="1170432"/>
            <a:ext cx="2743200" cy="384048"/>
          </a:xfrm>
          <a:prstGeom prst="rect">
            <a:avLst/>
          </a:prstGeom>
          <a:solidFill>
            <a:srgbClr val="0E7C87"/>
          </a:solidFill>
          <a:ln w="12700">
            <a:solidFill>
              <a:srgbClr val="0E7C87"/>
            </a:solidFill>
            <a:prstDash val="solid"/>
          </a:ln>
        </p:spPr>
      </p:sp>
      <p:sp>
        <p:nvSpPr>
          <p:cNvPr id="7" name="Text 5"/>
          <p:cNvSpPr/>
          <p:nvPr/>
        </p:nvSpPr>
        <p:spPr>
          <a:xfrm>
            <a:off x="438912" y="1188720"/>
            <a:ext cx="2560320" cy="347472"/>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1 · SOURCES</a:t>
            </a:r>
            <a:endParaRPr lang="en-US" sz="1000" dirty="0"/>
          </a:p>
        </p:txBody>
      </p:sp>
      <p:sp>
        <p:nvSpPr>
          <p:cNvPr id="8" name="Text 6"/>
          <p:cNvSpPr/>
          <p:nvPr/>
        </p:nvSpPr>
        <p:spPr>
          <a:xfrm>
            <a:off x="438912" y="1627632"/>
            <a:ext cx="2560320" cy="36576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What the AI draws on</a:t>
            </a:r>
            <a:endParaRPr lang="en-US" sz="1300" dirty="0"/>
          </a:p>
        </p:txBody>
      </p:sp>
      <p:sp>
        <p:nvSpPr>
          <p:cNvPr id="9" name="Shape 7"/>
          <p:cNvSpPr/>
          <p:nvPr/>
        </p:nvSpPr>
        <p:spPr>
          <a:xfrm>
            <a:off x="457200" y="2157984"/>
            <a:ext cx="128016" cy="128016"/>
          </a:xfrm>
          <a:prstGeom prst="ellipse">
            <a:avLst/>
          </a:prstGeom>
          <a:solidFill>
            <a:srgbClr val="0E7C87"/>
          </a:solidFill>
          <a:ln w="12700">
            <a:solidFill>
              <a:srgbClr val="0E7C87"/>
            </a:solidFill>
            <a:prstDash val="solid"/>
          </a:ln>
        </p:spPr>
      </p:sp>
      <p:sp>
        <p:nvSpPr>
          <p:cNvPr id="10" name="Text 8"/>
          <p:cNvSpPr/>
          <p:nvPr/>
        </p:nvSpPr>
        <p:spPr>
          <a:xfrm>
            <a:off x="649224" y="2084832"/>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Statutory text</a:t>
            </a:r>
            <a:endParaRPr lang="en-US" sz="1100" dirty="0"/>
          </a:p>
          <a:p>
            <a:pPr algn="l" indent="0" marL="0">
              <a:buNone/>
            </a:pPr>
            <a:r>
              <a:rPr lang="en-US" sz="1100" dirty="0">
                <a:solidFill>
                  <a:srgbClr val="B0C4D4"/>
                </a:solidFill>
                <a:latin typeface="Calibri" pitchFamily="34" charset="0"/>
                <a:ea typeface="Calibri" pitchFamily="34" charset="-122"/>
                <a:cs typeface="Calibri" pitchFamily="34" charset="-120"/>
              </a:rPr>
              <a:t>(retrieved live via MCP connectors)</a:t>
            </a:r>
            <a:endParaRPr lang="en-US" sz="1100" dirty="0"/>
          </a:p>
        </p:txBody>
      </p:sp>
      <p:sp>
        <p:nvSpPr>
          <p:cNvPr id="11" name="Shape 9"/>
          <p:cNvSpPr/>
          <p:nvPr/>
        </p:nvSpPr>
        <p:spPr>
          <a:xfrm>
            <a:off x="457200" y="2816352"/>
            <a:ext cx="128016" cy="128016"/>
          </a:xfrm>
          <a:prstGeom prst="ellipse">
            <a:avLst/>
          </a:prstGeom>
          <a:solidFill>
            <a:srgbClr val="0E7C87"/>
          </a:solidFill>
          <a:ln w="12700">
            <a:solidFill>
              <a:srgbClr val="0E7C87"/>
            </a:solidFill>
            <a:prstDash val="solid"/>
          </a:ln>
        </p:spPr>
      </p:sp>
      <p:sp>
        <p:nvSpPr>
          <p:cNvPr id="12" name="Text 10"/>
          <p:cNvSpPr/>
          <p:nvPr/>
        </p:nvSpPr>
        <p:spPr>
          <a:xfrm>
            <a:off x="649224" y="2743200"/>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Judicial interpretation</a:t>
            </a:r>
            <a:endParaRPr lang="en-US" sz="1100" dirty="0"/>
          </a:p>
          <a:p>
            <a:pPr algn="l" indent="0" marL="0">
              <a:buNone/>
            </a:pPr>
            <a:r>
              <a:rPr lang="en-US" sz="1100" dirty="0">
                <a:solidFill>
                  <a:srgbClr val="B0C4D4"/>
                </a:solidFill>
                <a:latin typeface="Calibri" pitchFamily="34" charset="0"/>
                <a:ea typeface="Calibri" pitchFamily="34" charset="-122"/>
                <a:cs typeface="Calibri" pitchFamily="34" charset="-120"/>
              </a:rPr>
              <a:t>(how courts have applied the statute)</a:t>
            </a:r>
            <a:endParaRPr lang="en-US" sz="1100" dirty="0"/>
          </a:p>
        </p:txBody>
      </p:sp>
      <p:sp>
        <p:nvSpPr>
          <p:cNvPr id="13" name="Shape 11"/>
          <p:cNvSpPr/>
          <p:nvPr/>
        </p:nvSpPr>
        <p:spPr>
          <a:xfrm>
            <a:off x="457200" y="3474720"/>
            <a:ext cx="128016" cy="128016"/>
          </a:xfrm>
          <a:prstGeom prst="ellipse">
            <a:avLst/>
          </a:prstGeom>
          <a:solidFill>
            <a:srgbClr val="0E7C87"/>
          </a:solidFill>
          <a:ln w="12700">
            <a:solidFill>
              <a:srgbClr val="0E7C87"/>
            </a:solidFill>
            <a:prstDash val="solid"/>
          </a:ln>
        </p:spPr>
      </p:sp>
      <p:sp>
        <p:nvSpPr>
          <p:cNvPr id="14" name="Text 12"/>
          <p:cNvSpPr/>
          <p:nvPr/>
        </p:nvSpPr>
        <p:spPr>
          <a:xfrm>
            <a:off x="649224" y="3401568"/>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Practitioner knowledge</a:t>
            </a:r>
            <a:endParaRPr lang="en-US" sz="1100" dirty="0"/>
          </a:p>
          <a:p>
            <a:pPr algn="l" indent="0" marL="0">
              <a:buNone/>
            </a:pPr>
            <a:r>
              <a:rPr lang="en-US" sz="1100" dirty="0">
                <a:solidFill>
                  <a:srgbClr val="B0C4D4"/>
                </a:solidFill>
                <a:latin typeface="Calibri" pitchFamily="34" charset="0"/>
                <a:ea typeface="Calibri" pitchFamily="34" charset="-122"/>
                <a:cs typeface="Calibri" pitchFamily="34" charset="-120"/>
              </a:rPr>
              <a:t>(legal aid guides, bar publications, the consensus understanding of how law applies in practice)</a:t>
            </a:r>
            <a:endParaRPr lang="en-US" sz="1100" dirty="0"/>
          </a:p>
        </p:txBody>
      </p:sp>
      <p:sp>
        <p:nvSpPr>
          <p:cNvPr id="15" name="Shape 13"/>
          <p:cNvSpPr/>
          <p:nvPr/>
        </p:nvSpPr>
        <p:spPr>
          <a:xfrm>
            <a:off x="3255264" y="1170432"/>
            <a:ext cx="2743200" cy="3657600"/>
          </a:xfrm>
          <a:prstGeom prst="rect">
            <a:avLst/>
          </a:prstGeom>
          <a:solidFill>
            <a:srgbClr val="E07B39">
              <a:alpha val="25000"/>
            </a:srgbClr>
          </a:solidFill>
          <a:ln w="12700">
            <a:solidFill>
              <a:srgbClr val="E07B39">
                <a:alpha val="55000"/>
              </a:srgbClr>
            </a:solidFill>
            <a:prstDash val="solid"/>
          </a:ln>
        </p:spPr>
      </p:sp>
      <p:sp>
        <p:nvSpPr>
          <p:cNvPr id="16" name="Shape 14"/>
          <p:cNvSpPr/>
          <p:nvPr/>
        </p:nvSpPr>
        <p:spPr>
          <a:xfrm>
            <a:off x="3255264" y="1170432"/>
            <a:ext cx="2743200" cy="384048"/>
          </a:xfrm>
          <a:prstGeom prst="rect">
            <a:avLst/>
          </a:prstGeom>
          <a:solidFill>
            <a:srgbClr val="E07B39"/>
          </a:solidFill>
          <a:ln w="12700">
            <a:solidFill>
              <a:srgbClr val="E07B39"/>
            </a:solidFill>
            <a:prstDash val="solid"/>
          </a:ln>
        </p:spPr>
      </p:sp>
      <p:sp>
        <p:nvSpPr>
          <p:cNvPr id="17" name="Text 15"/>
          <p:cNvSpPr/>
          <p:nvPr/>
        </p:nvSpPr>
        <p:spPr>
          <a:xfrm>
            <a:off x="3346704" y="1188720"/>
            <a:ext cx="2560320" cy="347472"/>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2 · AI SYNTHESIS</a:t>
            </a:r>
            <a:endParaRPr lang="en-US" sz="1000" dirty="0"/>
          </a:p>
        </p:txBody>
      </p:sp>
      <p:sp>
        <p:nvSpPr>
          <p:cNvPr id="18" name="Text 16"/>
          <p:cNvSpPr/>
          <p:nvPr/>
        </p:nvSpPr>
        <p:spPr>
          <a:xfrm>
            <a:off x="3346704" y="1627632"/>
            <a:ext cx="2560320" cy="36576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What the AI does</a:t>
            </a:r>
            <a:endParaRPr lang="en-US" sz="1300" dirty="0"/>
          </a:p>
        </p:txBody>
      </p:sp>
      <p:sp>
        <p:nvSpPr>
          <p:cNvPr id="19" name="Shape 17"/>
          <p:cNvSpPr/>
          <p:nvPr/>
        </p:nvSpPr>
        <p:spPr>
          <a:xfrm>
            <a:off x="3364992" y="2157984"/>
            <a:ext cx="128016" cy="128016"/>
          </a:xfrm>
          <a:prstGeom prst="ellipse">
            <a:avLst/>
          </a:prstGeom>
          <a:solidFill>
            <a:srgbClr val="E07B39"/>
          </a:solidFill>
          <a:ln w="12700">
            <a:solidFill>
              <a:srgbClr val="E07B39"/>
            </a:solidFill>
            <a:prstDash val="solid"/>
          </a:ln>
        </p:spPr>
      </p:sp>
      <p:sp>
        <p:nvSpPr>
          <p:cNvPr id="20" name="Text 18"/>
          <p:cNvSpPr/>
          <p:nvPr/>
        </p:nvSpPr>
        <p:spPr>
          <a:xfrm>
            <a:off x="3557016" y="2084832"/>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Reads across all three source types simultaneously</a:t>
            </a:r>
            <a:endParaRPr lang="en-US" sz="1100" dirty="0"/>
          </a:p>
        </p:txBody>
      </p:sp>
      <p:sp>
        <p:nvSpPr>
          <p:cNvPr id="21" name="Shape 19"/>
          <p:cNvSpPr/>
          <p:nvPr/>
        </p:nvSpPr>
        <p:spPr>
          <a:xfrm>
            <a:off x="3364992" y="2816352"/>
            <a:ext cx="128016" cy="128016"/>
          </a:xfrm>
          <a:prstGeom prst="ellipse">
            <a:avLst/>
          </a:prstGeom>
          <a:solidFill>
            <a:srgbClr val="E07B39"/>
          </a:solidFill>
          <a:ln w="12700">
            <a:solidFill>
              <a:srgbClr val="E07B39"/>
            </a:solidFill>
            <a:prstDash val="solid"/>
          </a:ln>
        </p:spPr>
      </p:sp>
      <p:sp>
        <p:nvSpPr>
          <p:cNvPr id="22" name="Text 20"/>
          <p:cNvSpPr/>
          <p:nvPr/>
        </p:nvSpPr>
        <p:spPr>
          <a:xfrm>
            <a:off x="3557016" y="2743200"/>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Encodes the consensus understanding as IF/THEN rules</a:t>
            </a:r>
            <a:endParaRPr lang="en-US" sz="1100" dirty="0"/>
          </a:p>
        </p:txBody>
      </p:sp>
      <p:sp>
        <p:nvSpPr>
          <p:cNvPr id="23" name="Shape 21"/>
          <p:cNvSpPr/>
          <p:nvPr/>
        </p:nvSpPr>
        <p:spPr>
          <a:xfrm>
            <a:off x="3364992" y="3474720"/>
            <a:ext cx="128016" cy="128016"/>
          </a:xfrm>
          <a:prstGeom prst="ellipse">
            <a:avLst/>
          </a:prstGeom>
          <a:solidFill>
            <a:srgbClr val="E07B39"/>
          </a:solidFill>
          <a:ln w="12700">
            <a:solidFill>
              <a:srgbClr val="E07B39"/>
            </a:solidFill>
            <a:prstDash val="solid"/>
          </a:ln>
        </p:spPr>
      </p:sp>
      <p:sp>
        <p:nvSpPr>
          <p:cNvPr id="24" name="Text 22"/>
          <p:cNvSpPr/>
          <p:nvPr/>
        </p:nvSpPr>
        <p:spPr>
          <a:xfrm>
            <a:off x="3557016" y="3401568"/>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Structures them as explicit, auditable JSON — not opaque AI inference</a:t>
            </a:r>
            <a:endParaRPr lang="en-US" sz="1100" dirty="0"/>
          </a:p>
        </p:txBody>
      </p:sp>
      <p:sp>
        <p:nvSpPr>
          <p:cNvPr id="25" name="Shape 23"/>
          <p:cNvSpPr/>
          <p:nvPr/>
        </p:nvSpPr>
        <p:spPr>
          <a:xfrm>
            <a:off x="3364992" y="4133088"/>
            <a:ext cx="128016" cy="128016"/>
          </a:xfrm>
          <a:prstGeom prst="ellipse">
            <a:avLst/>
          </a:prstGeom>
          <a:solidFill>
            <a:srgbClr val="E07B39"/>
          </a:solidFill>
          <a:ln w="12700">
            <a:solidFill>
              <a:srgbClr val="E07B39"/>
            </a:solidFill>
            <a:prstDash val="solid"/>
          </a:ln>
        </p:spPr>
      </p:sp>
      <p:sp>
        <p:nvSpPr>
          <p:cNvPr id="26" name="Text 24"/>
          <p:cNvSpPr/>
          <p:nvPr/>
        </p:nvSpPr>
        <p:spPr>
          <a:xfrm>
            <a:off x="3557016" y="4059936"/>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Flags uncertainty where the synthesis is contested or unclear</a:t>
            </a:r>
            <a:endParaRPr lang="en-US" sz="1100" dirty="0"/>
          </a:p>
        </p:txBody>
      </p:sp>
      <p:sp>
        <p:nvSpPr>
          <p:cNvPr id="27" name="Shape 25"/>
          <p:cNvSpPr/>
          <p:nvPr/>
        </p:nvSpPr>
        <p:spPr>
          <a:xfrm>
            <a:off x="6163056" y="1170432"/>
            <a:ext cx="2743200" cy="3657600"/>
          </a:xfrm>
          <a:prstGeom prst="rect">
            <a:avLst/>
          </a:prstGeom>
          <a:solidFill>
            <a:srgbClr val="2A7A4B">
              <a:alpha val="25000"/>
            </a:srgbClr>
          </a:solidFill>
          <a:ln w="12700">
            <a:solidFill>
              <a:srgbClr val="2A7A4B">
                <a:alpha val="55000"/>
              </a:srgbClr>
            </a:solidFill>
            <a:prstDash val="solid"/>
          </a:ln>
        </p:spPr>
      </p:sp>
      <p:sp>
        <p:nvSpPr>
          <p:cNvPr id="28" name="Shape 26"/>
          <p:cNvSpPr/>
          <p:nvPr/>
        </p:nvSpPr>
        <p:spPr>
          <a:xfrm>
            <a:off x="6163056" y="1170432"/>
            <a:ext cx="2743200" cy="384048"/>
          </a:xfrm>
          <a:prstGeom prst="rect">
            <a:avLst/>
          </a:prstGeom>
          <a:solidFill>
            <a:srgbClr val="2A7A4B"/>
          </a:solidFill>
          <a:ln w="12700">
            <a:solidFill>
              <a:srgbClr val="2A7A4B"/>
            </a:solidFill>
            <a:prstDash val="solid"/>
          </a:ln>
        </p:spPr>
      </p:sp>
      <p:sp>
        <p:nvSpPr>
          <p:cNvPr id="29" name="Text 27"/>
          <p:cNvSpPr/>
          <p:nvPr/>
        </p:nvSpPr>
        <p:spPr>
          <a:xfrm>
            <a:off x="6254496" y="1188720"/>
            <a:ext cx="2560320" cy="347472"/>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3 · OUTPUT</a:t>
            </a:r>
            <a:endParaRPr lang="en-US" sz="1000" dirty="0"/>
          </a:p>
        </p:txBody>
      </p:sp>
      <p:sp>
        <p:nvSpPr>
          <p:cNvPr id="30" name="Text 28"/>
          <p:cNvSpPr/>
          <p:nvPr/>
        </p:nvSpPr>
        <p:spPr>
          <a:xfrm>
            <a:off x="6254496" y="1627632"/>
            <a:ext cx="2560320" cy="36576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The rules file</a:t>
            </a:r>
            <a:endParaRPr lang="en-US" sz="1300" dirty="0"/>
          </a:p>
        </p:txBody>
      </p:sp>
      <p:sp>
        <p:nvSpPr>
          <p:cNvPr id="31" name="Shape 29"/>
          <p:cNvSpPr/>
          <p:nvPr/>
        </p:nvSpPr>
        <p:spPr>
          <a:xfrm>
            <a:off x="6272784" y="2157984"/>
            <a:ext cx="128016" cy="128016"/>
          </a:xfrm>
          <a:prstGeom prst="ellipse">
            <a:avLst/>
          </a:prstGeom>
          <a:solidFill>
            <a:srgbClr val="2A7A4B"/>
          </a:solidFill>
          <a:ln w="12700">
            <a:solidFill>
              <a:srgbClr val="2A7A4B"/>
            </a:solidFill>
            <a:prstDash val="solid"/>
          </a:ln>
        </p:spPr>
      </p:sp>
      <p:sp>
        <p:nvSpPr>
          <p:cNvPr id="32" name="Text 30"/>
          <p:cNvSpPr/>
          <p:nvPr/>
        </p:nvSpPr>
        <p:spPr>
          <a:xfrm>
            <a:off x="6464808" y="2084832"/>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Explicit rule: IF notice includes late fees THEN result = INVALID (CCP §1161(2))</a:t>
            </a:r>
            <a:endParaRPr lang="en-US" sz="1100" dirty="0"/>
          </a:p>
        </p:txBody>
      </p:sp>
      <p:sp>
        <p:nvSpPr>
          <p:cNvPr id="33" name="Shape 31"/>
          <p:cNvSpPr/>
          <p:nvPr/>
        </p:nvSpPr>
        <p:spPr>
          <a:xfrm>
            <a:off x="6272784" y="2816352"/>
            <a:ext cx="128016" cy="128016"/>
          </a:xfrm>
          <a:prstGeom prst="ellipse">
            <a:avLst/>
          </a:prstGeom>
          <a:solidFill>
            <a:srgbClr val="2A7A4B"/>
          </a:solidFill>
          <a:ln w="12700">
            <a:solidFill>
              <a:srgbClr val="2A7A4B"/>
            </a:solidFill>
            <a:prstDash val="solid"/>
          </a:ln>
        </p:spPr>
      </p:sp>
      <p:sp>
        <p:nvSpPr>
          <p:cNvPr id="34" name="Text 32"/>
          <p:cNvSpPr/>
          <p:nvPr/>
        </p:nvSpPr>
        <p:spPr>
          <a:xfrm>
            <a:off x="6464808" y="2743200"/>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Every rule cites its statutory source</a:t>
            </a:r>
            <a:endParaRPr lang="en-US" sz="1100" dirty="0"/>
          </a:p>
        </p:txBody>
      </p:sp>
      <p:sp>
        <p:nvSpPr>
          <p:cNvPr id="35" name="Shape 33"/>
          <p:cNvSpPr/>
          <p:nvPr/>
        </p:nvSpPr>
        <p:spPr>
          <a:xfrm>
            <a:off x="6272784" y="3474720"/>
            <a:ext cx="128016" cy="128016"/>
          </a:xfrm>
          <a:prstGeom prst="ellipse">
            <a:avLst/>
          </a:prstGeom>
          <a:solidFill>
            <a:srgbClr val="2A7A4B"/>
          </a:solidFill>
          <a:ln w="12700">
            <a:solidFill>
              <a:srgbClr val="2A7A4B"/>
            </a:solidFill>
            <a:prstDash val="solid"/>
          </a:ln>
        </p:spPr>
      </p:sp>
      <p:sp>
        <p:nvSpPr>
          <p:cNvPr id="36" name="Text 34"/>
          <p:cNvSpPr/>
          <p:nvPr/>
        </p:nvSpPr>
        <p:spPr>
          <a:xfrm>
            <a:off x="6464808" y="3401568"/>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Every rule can be inspected, challenged, and corrected</a:t>
            </a:r>
            <a:endParaRPr lang="en-US" sz="1100" dirty="0"/>
          </a:p>
        </p:txBody>
      </p:sp>
      <p:sp>
        <p:nvSpPr>
          <p:cNvPr id="37" name="Shape 35"/>
          <p:cNvSpPr/>
          <p:nvPr/>
        </p:nvSpPr>
        <p:spPr>
          <a:xfrm>
            <a:off x="6272784" y="4133088"/>
            <a:ext cx="128016" cy="128016"/>
          </a:xfrm>
          <a:prstGeom prst="ellipse">
            <a:avLst/>
          </a:prstGeom>
          <a:solidFill>
            <a:srgbClr val="2A7A4B"/>
          </a:solidFill>
          <a:ln w="12700">
            <a:solidFill>
              <a:srgbClr val="2A7A4B"/>
            </a:solidFill>
            <a:prstDash val="solid"/>
          </a:ln>
        </p:spPr>
      </p:sp>
      <p:sp>
        <p:nvSpPr>
          <p:cNvPr id="38" name="Text 36"/>
          <p:cNvSpPr/>
          <p:nvPr/>
        </p:nvSpPr>
        <p:spPr>
          <a:xfrm>
            <a:off x="6464808" y="4059936"/>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Attorney validation confirms the synthesis is accurate — not just that the statute was copied</a:t>
            </a:r>
            <a:endParaRPr lang="en-US" sz="1100" dirty="0"/>
          </a:p>
        </p:txBody>
      </p:sp>
      <p:sp>
        <p:nvSpPr>
          <p:cNvPr id="39" name="Text 37"/>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For Review  ·  June 2026</a:t>
            </a:r>
            <a:endParaRPr lang="en-US" sz="900" dirty="0"/>
          </a:p>
        </p:txBody>
      </p:sp>
      <p:sp>
        <p:nvSpPr>
          <p:cNvPr id="40" name="Shape 38"/>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Slides v0.2 — Demo Scope, Decision Logic &amp; Prototype</dc:title>
  <dc:subject>PptxGenJS Presentation</dc:subject>
  <dc:creator>Andrew M Cohen</dc:creator>
  <cp:lastModifiedBy>Andrew M Cohen</cp:lastModifiedBy>
  <cp:revision>1</cp:revision>
  <dcterms:created xsi:type="dcterms:W3CDTF">2026-06-09T20:50:08Z</dcterms:created>
  <dcterms:modified xsi:type="dcterms:W3CDTF">2026-06-09T20:50:08Z</dcterms:modified>
</cp:coreProperties>
</file>