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Andy Cohen - bkgd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Built v1 CJaC project  — not-for-profit, AI-for-good project, and the whole idea fits in one sentence: use AI not to predict the law, but to help humans look up, encode, validate, and share it.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Just as AI is beginning to deliver medical help with guardrails, we think it can deliver legal help with guardrails — and the legal use case matters to millions of people and to the rule of law.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I'll take ten minutes to show you the problem, the approach, the proof, and a specific ask. 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There's an access-to-justice crisis: ~ 30 million or more lower- and middle-income Americans face civil legal problems — evictions, debt, custody — without a lawyer, because they can't afford one.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And these problems cascade: a denial of benefits leads to unpaid bills, then a collection case and a default judgment, then credit damage, then eviction. Legal aid reaches a fraction of the need. AI seems like an obviously answer, but so far it hasn’t had a </a:t>
            </a:r>
            <a:r>
              <a:rPr lang="en-US"/>
              <a:t>meaningful</a:t>
            </a:r>
            <a:r>
              <a:rPr lang="en-US"/>
              <a:t> impact at scale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models predict — but the rules that decide many high-volume poverty-law cases are deterministic: notice periods, day counts, service methods, filing deadlines.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ask AI to predict how many years the statute of limitations might be, when you can look up the current statute and confirm it's three years?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Models are often right — but they can seem like black boxes, because their answers are hard to verify. In this domain a confident wrong guess about a notice period can cost someone their home. So why hasn't anyone fixed this? Two barriers — and one of them just fell.</a:t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Legal-aid groups and courts have been trying to use AI to reach more people — but in one-off pilots, in isolation, reinventing the wheel with no shared infrastructure, code, or best practices.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of this year, that coordination barrier is falling: the major AI platforms offer legal plugins and open-source marketplaces — a common place and way to build standard, shared legal applications.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Lack of trust remains a barrier: black box 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CJaC is designed  to remove these barriers. </a:t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Harness AI proactively, in advance.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Humans direct powerful models to: look up what the law is — connected to free databases of current statutes and cases, monitored for changes; encode what it requires as structured, machine- and human-readable JSON decision logic; validate it up front — multi-model review, golden-set testing, attorney oversight; and share it as open-source legal plugins. That moves the reliability burden off the models and onto checkable, shared sources — with attorneys not just in the loop, but named as responsible. BRIDGE: Here's what the product actually is.</a:t>
            </a:r>
            <a:endParaRPr/>
          </a:p>
        </p:txBody>
      </p:sp>
      <p:sp>
        <p:nvSpPr>
          <p:cNvPr id="71" name="Google Shape;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product is libraries of human and machine readable JSON code as  a legal plugin.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 the left: sample of  real code from our CA eviction module — a three-day pay-or-quit rule counted in court days, with the late-fee defect and its case authority, Levitz, pinned right in the rule. That validated code ships as an open-source plugin that runs on any major platform — Claude, GPT, or Gemini; model-agnostic, no lock-in. And it reaches people inside the AI interface they already have: a legal-aid worker, a court self-help center, eventually the public directly. BRIDGE: Now the question every smart audience asks — if AI keeps improving, why is this needed at all?</a:t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commitments. One frontier model drafts and reviews the code; two independent models must then agree before any result counts — disagreement is treated as a signal, not noise. Golden-set testing: attorney-frozen fact patterns scored one-shot against the rules, every value traced to a statute or holding, cryptographic hashes tying each published score to the exact rules and test set used. Continuous currency and improvement are built into the process — freshness monitoring, currency flags, and a measure-find-fix-verify loop, with automated statute-watch and AI-generated stress testing on the roadmap. Named attorneys are responsible — by name — for test creation, review, and validation. And the whole thing is patterned on enterprise software practice, aligned with frameworks like the NIST AI RMF, and open source. BRIDGE: We've now run this for real.</a:t>
            </a:r>
            <a:endParaRPr/>
          </a:p>
        </p:txBody>
      </p:sp>
      <p:sp>
        <p:nvSpPr>
          <p:cNvPr id="123" name="Google Shape;1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models are genuinely good at law now, and improving fast. Four things don't change. One — lookup beats prediction: we convert a class of questions from prediction to verified lookup; models get better at guessing, CJaC removes the need to guess. Two — verifiability: even at eighty or ninety percent accuracy, there's often no way to know whether THIS answer is right; pre-validated code changes the question from 'is the model right this time?' to 'was this rule validated, by whom, as of when' — answerable, hash-verified, with a named attorney. Three — currency: models train on past data, law changes constantly; our freshness monitoring makes currency a process, not a snapshot. Four — and this is the one I like most — CJaC improves WITH model progress: every model gain makes the code cheaper to build, better validated, easier to distribute. We ride the improvement curve; we don't race it. The question is never how good AI is on average — it's whether this answer is verified and current. BRIDGE: So how do we earn the word 'validated'?</a:t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month we ran the first formal validation cycle on the California eviction-notice module: attorney-frozen fact patterns, scored one-shot by two independent models in consensus, provenance hashes published. The results were successful — the encoded rules performed accurately, and here's the part I'm proudest of: the process surfaced and corrected errors on BOTH sides. Machine side: our review caught AI citation errors before they shipped. Human side: the consensus scoring caught inaccuracies in the attorney's own test set — mine — which we corrected with a signed, published errata. Every finding fixed, ratified, regression-verified, published. IF ASKED FOR NUMBERS — give both, always: 23 of 26 as scored; 25 of 26 after the signed correction — roughly 96 percent — dual-reported in the repo with full methodology. And the whole cycle — test, autopsy, fix, verify — ran in four days. The next cycle adds an ablation arm measuring exactly how much accuracy the code adds over raw models. BRIDGE: Which brings me to what I'm asking of you.</a:t>
            </a:r>
            <a:endParaRPr/>
          </a:p>
        </p:txBody>
      </p:sp>
      <p:sp>
        <p:nvSpPr>
          <p:cNvPr id="167" name="Google Shape;1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ask is simple and cheap. An introduction to your legal-plugin or skills team. A review of our code — and if it meets your bar, placement in the open-source marketplace. And strategic advice and amplification. What you get: an impactful AI-for-good story — free legal-help plugins that nobody has a financial incentive to build — running on your platform. TAILOR PER LAB — Anthropic: this project was built with Claude as strategic advisor and an agentic surface running the repo; it's a native skills-marketplace story. Google: Gemini is already one of our two consensus reviewers — every validated rule ships with Gemini's corroboration. OpenAI: same for GPT — and we're model-agnostic by design, so adopting CJaC is not a bet on a competitor. CLOSE: thirty minutes to explore fit.</a:t>
            </a:r>
            <a:endParaRPr/>
          </a:p>
        </p:txBody>
      </p:sp>
      <p:sp>
        <p:nvSpPr>
          <p:cNvPr id="184" name="Google Shape;1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 law schools: a clinic partnership — students and faculty help draft and review the attorney-frozen test sets and the encoded rules, under our full review protocol. The pedagogy is real: students learn the law by encoding it, the way you only learn something when you have to make it precise. TAILOR — Stanford: this operationalizes the rules-as-code lineage CodeX helped build, and contributes the validation standard the field lacks; there's a methodology paper in this, and your hallucination research is literally in our problem statement. Michigan: you'd anchor the jurisdiction-transfer proof — Michigan golden sets extend the method beyond California. For the A2J community: volunteer reviewers and testers, feedback, collaboration — the community gets AI-for-A2J learnings, the project gets help. Longer term, the right home for this is institutional stewardship. CLOSE: the mission slide.</a:t>
            </a:r>
            <a:endParaRPr/>
          </a:p>
        </p:txBody>
      </p:sp>
      <p:sp>
        <p:nvSpPr>
          <p:cNvPr id="198" name="Google Shape;1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CJaC is mission-driven and not-for-profit — the only goal is free, validated legal help for people who can't afford a lawyer. We built and validated the prototype; now we scale it out and put it, free, into the hands of the people who need it. Thank you — and if this resonates, the next step is simple: [labs: an intro to the plugin team / schools: a conversation with the clinic / A2J: a look at the repo together]. Questions welcome.</a:t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6.png"/><Relationship Id="rId7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2A3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scale_ice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4011" y="958291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777240" y="233172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Civil Justice as Code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77240" y="35204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800"/>
              <a:buFont typeface="Cambria"/>
              <a:buNone/>
            </a:pPr>
            <a:r>
              <a:rPr b="0" i="1" lang="en-US" sz="28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Look up, encode, validate &amp; share the law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77240" y="443484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6E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B9C6E8"/>
                </a:solidFill>
                <a:latin typeface="Calibri"/>
                <a:ea typeface="Calibri"/>
                <a:cs typeface="Calibri"/>
                <a:sym typeface="Calibri"/>
              </a:rPr>
              <a:t>Free legal help at scale, for the millions of Americans who can’t afford a lawyer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77240" y="60350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A0CC"/>
                </a:solidFill>
                <a:latin typeface="Calibri"/>
                <a:ea typeface="Calibri"/>
                <a:cs typeface="Calibri"/>
                <a:sym typeface="Calibri"/>
              </a:rPr>
              <a:t>Andrew M. Cohen, Esq.  ·  Former CLO  ·  Board Member, Bay Area Legal Aid  ·  Apache-2.0 open source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50" y="640073"/>
            <a:ext cx="11064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The Access to Justice Crisis – </a:t>
            </a:r>
            <a:r>
              <a:rPr b="1" i="0" lang="en-US" sz="4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30 million Americans face civil legal problems without a lawyer </a:t>
            </a:r>
            <a:r>
              <a:rPr b="1" lang="en-US" sz="40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– and the problems cascade: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48640" y="3108960"/>
            <a:ext cx="2514600" cy="914400"/>
          </a:xfrm>
          <a:prstGeom prst="roundRect">
            <a:avLst>
              <a:gd fmla="val 1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48640" y="310896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Benefits denied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081528" y="3419856"/>
            <a:ext cx="329184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429000" y="3108960"/>
            <a:ext cx="2514600" cy="914400"/>
          </a:xfrm>
          <a:prstGeom prst="roundRect">
            <a:avLst>
              <a:gd fmla="val 1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429000" y="310896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Debt collection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961888" y="3419856"/>
            <a:ext cx="329184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309360" y="3108960"/>
            <a:ext cx="2514600" cy="914400"/>
          </a:xfrm>
          <a:prstGeom prst="roundRect">
            <a:avLst>
              <a:gd fmla="val 10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309360" y="310896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Default judgment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842248" y="3419856"/>
            <a:ext cx="329184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9189720" y="3108960"/>
            <a:ext cx="2514600" cy="914400"/>
          </a:xfrm>
          <a:prstGeom prst="roundRect">
            <a:avLst>
              <a:gd fmla="val 1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9189720" y="310896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Eviction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548650" y="321551"/>
            <a:ext cx="11064300" cy="16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AI predicts</a:t>
            </a:r>
            <a:r>
              <a:rPr b="1" lang="en-US" sz="40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, but why predict what the statute of limitations is when you can look it up and determine it? 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097280" y="2194560"/>
            <a:ext cx="4754880" cy="2743200"/>
          </a:xfrm>
          <a:prstGeom prst="roundRect">
            <a:avLst>
              <a:gd fmla="val 40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1097280" y="25146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80"/>
              </a:buClr>
              <a:buSzPts val="2000"/>
              <a:buFont typeface="Calibri"/>
              <a:buNone/>
            </a:pPr>
            <a:r>
              <a:rPr b="1" i="0" lang="en-US" sz="2400" u="none" cap="none" strike="noStrike">
                <a:solidFill>
                  <a:srgbClr val="5A6480"/>
                </a:solidFill>
                <a:latin typeface="Calibri"/>
                <a:ea typeface="Calibri"/>
                <a:cs typeface="Calibri"/>
                <a:sym typeface="Calibri"/>
              </a:rPr>
              <a:t>PREDICT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417320" y="315468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80"/>
              </a:buClr>
              <a:buSzPts val="1700"/>
              <a:buFont typeface="Cambria"/>
              <a:buNone/>
            </a:pPr>
            <a:r>
              <a:rPr b="0" i="1" lang="en-US" sz="2000" u="none" cap="none" strike="noStrike">
                <a:solidFill>
                  <a:srgbClr val="5A6480"/>
                </a:solidFill>
                <a:latin typeface="Cambria"/>
                <a:ea typeface="Cambria"/>
                <a:cs typeface="Cambria"/>
                <a:sym typeface="Cambria"/>
              </a:rPr>
              <a:t>“The limitations period is probably three years.”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355080" y="2194560"/>
            <a:ext cx="4754880" cy="2743200"/>
          </a:xfrm>
          <a:prstGeom prst="roundRect">
            <a:avLst>
              <a:gd fmla="val 4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6355080" y="25146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2000"/>
              <a:buFont typeface="Calibri"/>
              <a:buNone/>
            </a:pPr>
            <a:r>
              <a:rPr b="1" i="0" lang="en-US" sz="2400" u="none" cap="none" strike="noStrik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LOOK UP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675120" y="315468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“CCP §338: </a:t>
            </a:r>
            <a:r>
              <a:rPr i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years. Verified</a:t>
            </a:r>
            <a:r>
              <a:rPr i="1" lang="en-US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today</a:t>
            </a: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.”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80"/>
              </a:buClr>
              <a:buSzPts val="1400"/>
              <a:buFont typeface="Calibri"/>
              <a:buNone/>
            </a:pPr>
            <a:r>
              <a:rPr b="0" i="0" lang="en-US" sz="2000" u="none" cap="none" strike="noStrike">
                <a:solidFill>
                  <a:srgbClr val="5A6480"/>
                </a:solidFill>
                <a:latin typeface="Calibri"/>
                <a:ea typeface="Calibri"/>
                <a:cs typeface="Calibri"/>
                <a:sym typeface="Calibri"/>
              </a:rPr>
              <a:t>Notice periods · day counts · service methods · deadlines — deterministic rules decide these cases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548650" y="400825"/>
            <a:ext cx="11064300" cy="12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Two barriers to </a:t>
            </a:r>
            <a:r>
              <a:rPr b="1" lang="en-US" sz="40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adoption of AI for legal (and one barrier just </a:t>
            </a:r>
            <a:r>
              <a:rPr b="1" i="0" lang="en-US" sz="4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fell).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548640" y="2011680"/>
            <a:ext cx="5486400" cy="3291840"/>
          </a:xfrm>
          <a:prstGeom prst="roundRect">
            <a:avLst>
              <a:gd fmla="val 3333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914400" y="2377440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network_white.png" id="60" name="Google Shape;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5276" y="252831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1828800" y="2377450"/>
            <a:ext cx="4023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900"/>
              <a:buFont typeface="Calibri"/>
              <a:buNone/>
            </a:pPr>
            <a:r>
              <a:rPr b="1" lang="en-US" sz="23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Lack of </a:t>
            </a:r>
            <a:r>
              <a:rPr b="1" i="0" lang="en-US" sz="2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Coordination / Lack of Infrastructure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914400" y="338328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One-off AI pilots by state. But as of </a:t>
            </a: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2026: AI platforms </a:t>
            </a:r>
            <a:r>
              <a:rPr lang="en-US" sz="2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offer </a:t>
            </a:r>
            <a:r>
              <a:rPr b="0" i="0" lang="en-US" sz="2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shared legal infrastructure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55080" y="2011680"/>
            <a:ext cx="5486400" cy="3291840"/>
          </a:xfrm>
          <a:prstGeom prst="roundRect">
            <a:avLst>
              <a:gd fmla="val 333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6720840" y="2377440"/>
            <a:ext cx="685800" cy="685800"/>
          </a:xfrm>
          <a:prstGeom prst="ellipse">
            <a:avLst/>
          </a:prstGeom>
          <a:solidFill>
            <a:srgbClr val="2A3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shield_ice.png" id="65" name="Google Shape;6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1716" y="252831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/>
          <p:nvPr/>
        </p:nvSpPr>
        <p:spPr>
          <a:xfrm>
            <a:off x="7635240" y="248716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lang="en-US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Lack of </a:t>
            </a:r>
            <a:r>
              <a:rPr b="1" i="0" lang="en-US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</a:t>
            </a:r>
            <a:r>
              <a:rPr b="1" lang="en-US" sz="2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720840" y="338328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2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AI can seem like a black box.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548650" y="264295"/>
            <a:ext cx="11064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mbria"/>
              <a:buNone/>
            </a:pPr>
            <a:r>
              <a:rPr b="1" lang="en-US" sz="38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Rather than asking AI to predict a legal answer, </a:t>
            </a:r>
            <a:r>
              <a:rPr b="1" i="0" lang="en-US" sz="3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CJaC </a:t>
            </a:r>
            <a:r>
              <a:rPr b="1" lang="en-US" sz="38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leverages</a:t>
            </a:r>
            <a:r>
              <a:rPr b="1" i="0" lang="en-US" sz="3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 AI</a:t>
            </a:r>
            <a:r>
              <a:rPr b="1" lang="en-US" sz="38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 proactively to look up, encode, validate and share the law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548640" y="2222045"/>
            <a:ext cx="2697600" cy="3200400"/>
          </a:xfrm>
          <a:prstGeom prst="roundRect">
            <a:avLst>
              <a:gd fmla="val 4068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1444752" y="2633525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magnify_white.png" id="76" name="Google Shape;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0" y="2834693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/>
          <p:nvPr/>
        </p:nvSpPr>
        <p:spPr>
          <a:xfrm>
            <a:off x="731520" y="3822245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LOOK UP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731520" y="4370885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80"/>
              </a:buClr>
              <a:buSzPts val="1350"/>
              <a:buFont typeface="Calibri"/>
              <a:buNone/>
            </a:pPr>
            <a:r>
              <a:rPr b="0" i="1" lang="en-US" sz="1800" u="none" cap="none" strike="noStrike">
                <a:solidFill>
                  <a:srgbClr val="5A6480"/>
                </a:solidFill>
                <a:latin typeface="Calibri"/>
                <a:ea typeface="Calibri"/>
                <a:cs typeface="Calibri"/>
                <a:sym typeface="Calibri"/>
              </a:rPr>
              <a:t>what the law 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3200400" y="3639365"/>
            <a:ext cx="274200" cy="29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3419856" y="2222045"/>
            <a:ext cx="2697600" cy="3200400"/>
          </a:xfrm>
          <a:prstGeom prst="roundRect">
            <a:avLst>
              <a:gd fmla="val 4068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4315968" y="2633525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code_white.png" id="82" name="Google Shape;8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7136" y="2834693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/>
          <p:nvPr/>
        </p:nvSpPr>
        <p:spPr>
          <a:xfrm>
            <a:off x="3602736" y="3822245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ENCODE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3602736" y="4370885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80"/>
              </a:buClr>
              <a:buSzPts val="1350"/>
              <a:buFont typeface="Calibri"/>
              <a:buNone/>
            </a:pPr>
            <a:r>
              <a:rPr b="0" i="1" lang="en-US" sz="1800" u="none" cap="none" strike="noStrike">
                <a:solidFill>
                  <a:srgbClr val="5A6480"/>
                </a:solidFill>
                <a:latin typeface="Calibri"/>
                <a:ea typeface="Calibri"/>
                <a:cs typeface="Calibri"/>
                <a:sym typeface="Calibri"/>
              </a:rPr>
              <a:t>what it requires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6071616" y="3639365"/>
            <a:ext cx="274200" cy="29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6291072" y="2222045"/>
            <a:ext cx="2697600" cy="3200400"/>
          </a:xfrm>
          <a:prstGeom prst="roundRect">
            <a:avLst>
              <a:gd fmla="val 4068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7187184" y="2633525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check_white.png" id="88" name="Google Shape;8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8352" y="2834693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7"/>
          <p:cNvSpPr/>
          <p:nvPr/>
        </p:nvSpPr>
        <p:spPr>
          <a:xfrm>
            <a:off x="6473952" y="3822245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6473952" y="4370885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80"/>
              </a:buClr>
              <a:buSzPts val="1350"/>
              <a:buFont typeface="Calibri"/>
              <a:buNone/>
            </a:pPr>
            <a:r>
              <a:rPr b="0" i="1" lang="en-US" sz="1800" u="none" cap="none" strike="noStrike">
                <a:solidFill>
                  <a:srgbClr val="5A6480"/>
                </a:solidFill>
                <a:latin typeface="Calibri"/>
                <a:ea typeface="Calibri"/>
                <a:cs typeface="Calibri"/>
                <a:sym typeface="Calibri"/>
              </a:rPr>
              <a:t>until it’s trusted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8942832" y="3639365"/>
            <a:ext cx="274200" cy="29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9162288" y="2222045"/>
            <a:ext cx="2697600" cy="3200400"/>
          </a:xfrm>
          <a:prstGeom prst="roundRect">
            <a:avLst>
              <a:gd fmla="val 406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10058400" y="2633525"/>
            <a:ext cx="914400" cy="914400"/>
          </a:xfrm>
          <a:prstGeom prst="ellipse">
            <a:avLst/>
          </a:prstGeom>
          <a:solidFill>
            <a:srgbClr val="2A3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share_ice.png" id="94" name="Google Shape;9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59568" y="2834693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/>
          <p:nvPr/>
        </p:nvSpPr>
        <p:spPr>
          <a:xfrm>
            <a:off x="9345168" y="3822245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9345168" y="4370885"/>
            <a:ext cx="233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1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free, everywhere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0" i="1" lang="en-US" sz="2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Humans direct. AI executes. Attorneys are named as responsible.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/>
          <p:nvPr/>
        </p:nvSpPr>
        <p:spPr>
          <a:xfrm>
            <a:off x="548650" y="416515"/>
            <a:ext cx="11064300" cy="10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The civil justice law</a:t>
            </a:r>
            <a:r>
              <a:rPr b="1" i="0" lang="en-US" sz="4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US" sz="40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is codified, validated and “</a:t>
            </a:r>
            <a:r>
              <a:rPr b="1" i="0" lang="en-US" sz="4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plug</a:t>
            </a:r>
            <a:r>
              <a:rPr b="1" lang="en-US" sz="40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ged-in” to the AI models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48640" y="1828800"/>
            <a:ext cx="4114800" cy="2651760"/>
          </a:xfrm>
          <a:prstGeom prst="roundRect">
            <a:avLst>
              <a:gd fmla="val 3448" name="adj"/>
            </a:avLst>
          </a:prstGeom>
          <a:solidFill>
            <a:srgbClr val="F4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777240" y="19659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Validated legal 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777240" y="2377440"/>
            <a:ext cx="3749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onsolas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"pay_or_quit": { "days": 3,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onsolas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"count": "court_days",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onsolas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"statute": "CCP §1161(2)" },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onsolas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"defect": "includes_late_fees"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onsolas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→ NOTICE_INVALID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onsolas"/>
              <a:buNone/>
            </a:pPr>
            <a:r>
              <a:rPr b="0" i="0" lang="en-US" sz="16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(Levitz, 86 CA4th 1035, 1038)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4800600" y="3017520"/>
            <a:ext cx="457200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5394960" y="2514600"/>
            <a:ext cx="2286000" cy="1280160"/>
          </a:xfrm>
          <a:prstGeom prst="roundRect">
            <a:avLst>
              <a:gd fmla="val 1071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5394960" y="2514600"/>
            <a:ext cx="2286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CJaC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legal plugin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7818120" y="3017520"/>
            <a:ext cx="457200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8412480" y="1920240"/>
            <a:ext cx="3108960" cy="685800"/>
          </a:xfrm>
          <a:prstGeom prst="roundRect">
            <a:avLst>
              <a:gd fmla="val 13333" name="adj"/>
            </a:avLst>
          </a:prstGeom>
          <a:solidFill>
            <a:srgbClr val="F4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8412480" y="1920240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8412480" y="2788920"/>
            <a:ext cx="3108960" cy="685800"/>
          </a:xfrm>
          <a:prstGeom prst="roundRect">
            <a:avLst>
              <a:gd fmla="val 13333" name="adj"/>
            </a:avLst>
          </a:prstGeom>
          <a:solidFill>
            <a:srgbClr val="F4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8412480" y="2788920"/>
            <a:ext cx="3108960" cy="685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8412480" y="3657600"/>
            <a:ext cx="3108960" cy="685800"/>
          </a:xfrm>
          <a:prstGeom prst="roundRect">
            <a:avLst>
              <a:gd fmla="val 13333" name="adj"/>
            </a:avLst>
          </a:prstGeom>
          <a:solidFill>
            <a:srgbClr val="F4F7FE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8412480" y="3657600"/>
            <a:ext cx="3108960" cy="6858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Gemini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548640" y="4892040"/>
            <a:ext cx="10972800" cy="777240"/>
          </a:xfrm>
          <a:prstGeom prst="roundRect">
            <a:avLst>
              <a:gd fmla="val 11765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548640" y="489204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Used by legal-aid &amp; court workers — and the public — inside the AI interface they already have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1" lang="en-US" sz="2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Model-agnostic by design. Open source (Apache-2.0). No lock-in.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Validated like enterprise software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rotate_white.png" id="127" name="Google Shape;1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244" y="1953524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9"/>
          <p:cNvSpPr/>
          <p:nvPr/>
        </p:nvSpPr>
        <p:spPr>
          <a:xfrm>
            <a:off x="1554480" y="178308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Multi-model AI review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731520" y="2670048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check_white.png" id="130" name="Google Shape;13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6244" y="2794772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9"/>
          <p:cNvSpPr/>
          <p:nvPr/>
        </p:nvSpPr>
        <p:spPr>
          <a:xfrm>
            <a:off x="1554480" y="262432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Attorney-frozen golden-set testing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731520" y="3511296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magnify_white.png" id="133" name="Google Shape;13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6244" y="3636020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/>
          <p:nvPr/>
        </p:nvSpPr>
        <p:spPr>
          <a:xfrm>
            <a:off x="1554480" y="3465576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Continuous </a:t>
            </a:r>
            <a:r>
              <a:rPr b="1" lang="en-US" sz="2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currency &amp; </a:t>
            </a: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improvement</a:t>
            </a:r>
            <a:r>
              <a:rPr b="1" lang="en-US" sz="24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— built into the process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731520" y="4352544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sign_white.png" id="136" name="Google Shape;13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6244" y="4477268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9"/>
          <p:cNvSpPr/>
          <p:nvPr/>
        </p:nvSpPr>
        <p:spPr>
          <a:xfrm>
            <a:off x="1554480" y="4306824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named attorney on every determination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731520" y="5193792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columns_white.png" id="139" name="Google Shape;13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6244" y="5318516"/>
            <a:ext cx="317480" cy="317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9"/>
          <p:cNvSpPr/>
          <p:nvPr/>
        </p:nvSpPr>
        <p:spPr>
          <a:xfrm>
            <a:off x="1554480" y="5148072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NIST-aligned, open source, hash-verified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Why CJaC is needed — even as AI improves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548640" y="2103120"/>
            <a:ext cx="5577840" cy="1463040"/>
          </a:xfrm>
          <a:prstGeom prst="roundRect">
            <a:avLst>
              <a:gd fmla="val 75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868680" y="25146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check_white.png" id="149" name="Google Shape;1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8" y="265541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0"/>
          <p:cNvSpPr/>
          <p:nvPr/>
        </p:nvSpPr>
        <p:spPr>
          <a:xfrm>
            <a:off x="1783080" y="2103120"/>
            <a:ext cx="4206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Lookup beats prediction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6355080" y="2103120"/>
            <a:ext cx="5577840" cy="1463040"/>
          </a:xfrm>
          <a:prstGeom prst="roundRect">
            <a:avLst>
              <a:gd fmla="val 75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6675120" y="251460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sign_white.png" id="153" name="Google Shape;1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5938" y="265541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0"/>
          <p:cNvSpPr/>
          <p:nvPr/>
        </p:nvSpPr>
        <p:spPr>
          <a:xfrm>
            <a:off x="7589520" y="2103120"/>
            <a:ext cx="4206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Verifiability (vs black box)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48640" y="3840480"/>
            <a:ext cx="5577840" cy="1463040"/>
          </a:xfrm>
          <a:prstGeom prst="roundRect">
            <a:avLst>
              <a:gd fmla="val 75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868680" y="425196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rotate_white.png" id="157" name="Google Shape;15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498" y="439277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/>
          <p:nvPr/>
        </p:nvSpPr>
        <p:spPr>
          <a:xfrm>
            <a:off x="1783080" y="3840480"/>
            <a:ext cx="4206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Currency &amp; iteration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6355080" y="3840480"/>
            <a:ext cx="5577840" cy="1463040"/>
          </a:xfrm>
          <a:prstGeom prst="roundRect">
            <a:avLst>
              <a:gd fmla="val 7500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6675120" y="425196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_network_white.png" id="161" name="Google Shape;16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5938" y="4392778"/>
            <a:ext cx="358445" cy="35844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0"/>
          <p:cNvSpPr/>
          <p:nvPr/>
        </p:nvSpPr>
        <p:spPr>
          <a:xfrm>
            <a:off x="7589520" y="3840480"/>
            <a:ext cx="42062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Improves with model progress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Not “how good is AI on average” — “is this answer verified and current?”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First t</a:t>
            </a:r>
            <a:r>
              <a:rPr b="1" lang="en-US" sz="3800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esting &amp; </a:t>
            </a:r>
            <a:r>
              <a:rPr b="1" i="0" lang="en-US" sz="38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validation cycle: successful — and published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80"/>
              </a:buClr>
              <a:buSzPts val="1600"/>
              <a:buFont typeface="Calibri"/>
              <a:buNone/>
            </a:pPr>
            <a:r>
              <a:rPr b="0" i="0" lang="en-US" sz="1800" u="none" cap="none" strike="noStrike">
                <a:solidFill>
                  <a:srgbClr val="5A6480"/>
                </a:solidFill>
                <a:latin typeface="Calibri"/>
                <a:ea typeface="Calibri"/>
                <a:cs typeface="Calibri"/>
                <a:sym typeface="Calibri"/>
              </a:rPr>
              <a:t>July 2026 · California eviction notices · attorney-frozen test set · dual-model consensus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548640" y="2468880"/>
            <a:ext cx="3611880" cy="2377440"/>
          </a:xfrm>
          <a:prstGeom prst="roundRect">
            <a:avLst>
              <a:gd fmla="val 4615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822960" y="2743200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Errors surfaced</a:t>
            </a:r>
            <a:r>
              <a:rPr b="1" lang="en-US" sz="19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&amp; corrected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822960" y="3566160"/>
            <a:ext cx="30633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on both the machine and human sides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4370832" y="2468880"/>
            <a:ext cx="3611880" cy="2377440"/>
          </a:xfrm>
          <a:prstGeom prst="roundRect">
            <a:avLst>
              <a:gd fmla="val 4615" name="adj"/>
            </a:avLst>
          </a:prstGeom>
          <a:solidFill>
            <a:srgbClr val="F4F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4645152" y="2743200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Verified the code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4645152" y="3566160"/>
            <a:ext cx="3063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by the named attorney, regression-verified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8193024" y="2468880"/>
            <a:ext cx="3611880" cy="2377440"/>
          </a:xfrm>
          <a:prstGeom prst="roundRect">
            <a:avLst>
              <a:gd fmla="val 4615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8467344" y="2743200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Published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8467344" y="3566160"/>
            <a:ext cx="3063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methodology, scores, hashes — all public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i="1" lang="en-US" sz="2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r>
              <a:rPr b="0" i="1" lang="en-US" sz="2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rror-correction machinery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ask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 AI model providers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548640" y="2286000"/>
            <a:ext cx="10972800" cy="868680"/>
          </a:xfrm>
          <a:prstGeom prst="roundRect">
            <a:avLst>
              <a:gd fmla="val 10526" name="adj"/>
            </a:avLst>
          </a:prstGeom>
          <a:solidFill>
            <a:srgbClr val="2A3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"/>
          <p:cNvSpPr/>
          <p:nvPr/>
        </p:nvSpPr>
        <p:spPr>
          <a:xfrm>
            <a:off x="914400" y="2286000"/>
            <a:ext cx="10241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Legal-plugin team introduction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548640" y="3337560"/>
            <a:ext cx="10972800" cy="868680"/>
          </a:xfrm>
          <a:prstGeom prst="roundRect">
            <a:avLst>
              <a:gd fmla="val 10526" name="adj"/>
            </a:avLst>
          </a:prstGeom>
          <a:solidFill>
            <a:srgbClr val="2A3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"/>
          <p:cNvSpPr/>
          <p:nvPr/>
        </p:nvSpPr>
        <p:spPr>
          <a:xfrm>
            <a:off x="914400" y="3337560"/>
            <a:ext cx="10241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our code — and if it’s good enough, marketplace placement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548640" y="4389120"/>
            <a:ext cx="10972800" cy="868680"/>
          </a:xfrm>
          <a:prstGeom prst="roundRect">
            <a:avLst>
              <a:gd fmla="val 10526" name="adj"/>
            </a:avLst>
          </a:prstGeom>
          <a:solidFill>
            <a:srgbClr val="2A3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"/>
          <p:cNvSpPr/>
          <p:nvPr/>
        </p:nvSpPr>
        <p:spPr>
          <a:xfrm>
            <a:off x="914400" y="4389120"/>
            <a:ext cx="10241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Strategic advice &amp; amplification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Free legal-help plugins no one has a financial incentive to build. Thirty minutes to explore it.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ask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 law schools &amp; the A2J community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548640" y="2286000"/>
            <a:ext cx="10972800" cy="868680"/>
          </a:xfrm>
          <a:prstGeom prst="roundRect">
            <a:avLst>
              <a:gd fmla="val 10526" name="adj"/>
            </a:avLst>
          </a:prstGeom>
          <a:solidFill>
            <a:srgbClr val="2A3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914400" y="2286000"/>
            <a:ext cx="10241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Clinic partnership — testing &amp; legal 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548640" y="3337560"/>
            <a:ext cx="10972800" cy="868680"/>
          </a:xfrm>
          <a:prstGeom prst="roundRect">
            <a:avLst>
              <a:gd fmla="val 10526" name="adj"/>
            </a:avLst>
          </a:prstGeom>
          <a:solidFill>
            <a:srgbClr val="2A3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914400" y="3337560"/>
            <a:ext cx="10241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Volunteer reviewers from the A2J community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548640" y="4389120"/>
            <a:ext cx="10972800" cy="868680"/>
          </a:xfrm>
          <a:prstGeom prst="roundRect">
            <a:avLst>
              <a:gd fmla="val 10526" name="adj"/>
            </a:avLst>
          </a:prstGeom>
          <a:solidFill>
            <a:srgbClr val="2A35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"/>
          <p:cNvSpPr/>
          <p:nvPr/>
        </p:nvSpPr>
        <p:spPr>
          <a:xfrm>
            <a:off x="914400" y="4389120"/>
            <a:ext cx="10241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Longer term: adopt and steward the 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Students learn the law by encoding it — and the encoded law helps people the day it ships.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/>
          <p:nvPr/>
        </p:nvSpPr>
        <p:spPr>
          <a:xfrm>
            <a:off x="777240" y="228600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Free, validated legal help —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777240" y="315468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C9A227"/>
                </a:solidFill>
                <a:latin typeface="Cambria"/>
                <a:ea typeface="Cambria"/>
                <a:cs typeface="Cambria"/>
                <a:sym typeface="Cambria"/>
              </a:rPr>
              <a:t>for the millions who can’t afford it.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777240" y="4297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Look up, encode, validate &amp; share the law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0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FA0CC"/>
                </a:solidFill>
                <a:latin typeface="Calibri"/>
                <a:ea typeface="Calibri"/>
                <a:cs typeface="Calibri"/>
                <a:sym typeface="Calibri"/>
              </a:rPr>
              <a:t>Andrew M. Cohen, Esq.  ·  linkedin.com/in/andrewmcohenesq  ·  github.com/andrewmichaelcohen-a2j/a2j-ai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