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1675"/>
  <p:notesSz cx="6858000" cy="12191675"/>
  <p:embeddedFontLst>
    <p:embeddedFont>
      <p:font typeface="Robo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boldItalic.fntdata"/><Relationship Id="rId25" Type="http://schemas.openxmlformats.org/officeDocument/2006/relationships/font" Target="fonts/Roboto-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 name="Google Shape;25;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 name="Google Shape;54;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 xml:space="preserve">Claude legal for nonprofits - other AI models sure to follow </a:t>
            </a:r>
            <a:endParaRPr/>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SAFETY &amp; VALIDATION TOOLING (answer to the note). Anthropic provides safeguards at two levels: platform-wide (apply to legal too) and legal-specific. Key point: these are BEHAVIORAL safeguards (how the model behaves) — they complement, not replace, the SUBSTANTIVE rules-accuracy validation our project adds.</a:t>
            </a:r>
            <a:br>
              <a:rPr lang="en-US"/>
            </a:br>
            <a:br>
              <a:rPr lang="en-US"/>
            </a:br>
            <a:r>
              <a:rPr lang="en-US"/>
              <a:t>GENERAL: (1) Constitutional AI + the 2026 Constitution — Claude is trained on an internal framework guiding how it reasons; the 2026 revision trains it to err toward cautious responses when intent or downstream impact is unclear (relevant to A2J). (2) Constitutional Classifiers — input/output classifiers that filter the large majority of jailbreaks with minimal over-refusal, monitoring inputs and outputs. (3) Developer/API safeguards — detection models flagging harmful content against the Usage Policy; prompt safety filters; free real-time moderation tooling; user-ID tracking and throttling of repeat violators; ability to restrict end users to a limited prompt set or a specific knowledge corpus. (4) Agent guardrails — Claude Code 'auto mode' flags and blocks dangerous actions (deleting files, leaking data) before they execute, addressing prompt-injection risk.</a:t>
            </a:r>
            <a:br>
              <a:rPr lang="en-US"/>
            </a:br>
            <a:br>
              <a:rPr lang="en-US"/>
            </a:br>
            <a:r>
              <a:rPr lang="en-US"/>
              <a:t>LEGAL-SPECIFIC: (5) The claude-for-legal repo itself states the plugins are aids to the reviewing attorney's own analysis — the attorney, not the plugin and not Anthropic, is responsible for the legal positions taken. This is the platform analogue of our UPL guardrail (human in the loop for anything case-specific). (6) The field is converging on the same model — the evolving role as 'legal engineering,' where human judgment centers on validation and oversight rather than first-pass execution.</a:t>
            </a:r>
            <a:br>
              <a:rPr lang="en-US"/>
            </a:br>
            <a:br>
              <a:rPr lang="en-US"/>
            </a:br>
            <a:r>
              <a:rPr lang="en-US"/>
              <a:t>HONEST CAVEAT: Anthropic is explicit that no AI system on the market has perfectly robust defenses. That is exactly why our project adds a substantive validation layer (rules accuracy, openly measured) on top of these behavioral safeguards. Anthropic's tooling governs how the model BEHAVES; our validation governs whether the legal RULES are correct.</a:t>
            </a:r>
            <a:br>
              <a:rPr lang="en-US"/>
            </a:br>
            <a:br>
              <a:rPr lang="en-US"/>
            </a:br>
            <a:r>
              <a:rPr lang="en-US"/>
              <a:t>SOURCES (verify before external use): Anthropic 2026 Constitution (Jan 2026); Constitutional Classifiers (anthropic.com/research); 'Our Approach to User Safety' and 'API Safeguards Tools' (support.claude.com, 2026); auto-mode guardrails for Claude Code (Mar 2026); claude-for-legal repo disclaimer (github.com/anthropics/claude-for-legal, May 2026).</a:t>
            </a:r>
            <a:endParaRPr/>
          </a:p>
        </p:txBody>
      </p:sp>
      <p:sp>
        <p:nvSpPr>
          <p:cNvPr id="180" name="Google Shape;180;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100">
                <a:latin typeface="Arial"/>
                <a:ea typeface="Arial"/>
                <a:cs typeface="Arial"/>
                <a:sym typeface="Arial"/>
              </a:rPr>
              <a:t xml:space="preserve">JSON (JavaScript Object Notation) - </a:t>
            </a:r>
            <a:r>
              <a:rPr lang="en-US">
                <a:latin typeface="Roboto"/>
                <a:ea typeface="Roboto"/>
                <a:cs typeface="Roboto"/>
                <a:sym typeface="Roboto"/>
              </a:rPr>
              <a:t>text-based format used to store and transport structured data</a:t>
            </a:r>
            <a:r>
              <a:rPr lang="en-US" sz="1100">
                <a:latin typeface="Arial"/>
                <a:ea typeface="Arial"/>
                <a:cs typeface="Arial"/>
                <a:sym typeface="Arial"/>
              </a:rPr>
              <a:t>. Both easy to read and simple for machines to parse, it is a standard way for exchanging data between web servers and applications</a:t>
            </a:r>
            <a:endParaRPr/>
          </a:p>
        </p:txBody>
      </p:sp>
      <p:sp>
        <p:nvSpPr>
          <p:cNvPr id="283" name="Google Shape;28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1"/>
              </a:buClr>
              <a:buSzPts val="1400"/>
              <a:buFont typeface="Calibri"/>
              <a:buNone/>
            </a:pPr>
            <a:r>
              <a:rPr b="1" lang="en-US"/>
              <a:t xml:space="preserve">AI Assisted Generation </a:t>
            </a:r>
            <a:r>
              <a:rPr lang="en-US"/>
              <a:t>– machine readable code (JSON) – v.1 draft rules for eviction statutes in all 50 states [link to github]</a:t>
            </a:r>
            <a:endParaRPr/>
          </a:p>
          <a:p>
            <a:pPr indent="0" lvl="0" marL="0" rtl="0" algn="l">
              <a:lnSpc>
                <a:spcPct val="100000"/>
              </a:lnSpc>
              <a:spcBef>
                <a:spcPts val="0"/>
              </a:spcBef>
              <a:spcAft>
                <a:spcPts val="0"/>
              </a:spcAft>
              <a:buClr>
                <a:schemeClr val="lt1"/>
              </a:buClr>
              <a:buSzPts val="1400"/>
              <a:buFont typeface="Calibri"/>
              <a:buNone/>
            </a:pPr>
            <a:r>
              <a:rPr b="1" lang="en-US" sz="1400"/>
              <a:t xml:space="preserve">Incremental  / Transparent </a:t>
            </a:r>
            <a:r>
              <a:rPr lang="en-US" sz="1400"/>
              <a:t xml:space="preserve">– generate next a2j rules layer only after proving the accuracy / validity of the eviction rules </a:t>
            </a:r>
            <a:endParaRPr sz="1400"/>
          </a:p>
          <a:p>
            <a:pPr indent="0" lvl="0" marL="0" rtl="0" algn="l">
              <a:lnSpc>
                <a:spcPct val="100000"/>
              </a:lnSpc>
              <a:spcBef>
                <a:spcPts val="0"/>
              </a:spcBef>
              <a:spcAft>
                <a:spcPts val="0"/>
              </a:spcAft>
              <a:buClr>
                <a:schemeClr val="lt1"/>
              </a:buClr>
              <a:buSzPts val="1400"/>
              <a:buFont typeface="Calibri"/>
              <a:buNone/>
            </a:pPr>
            <a:r>
              <a:rPr b="1" lang="en-US" sz="1300"/>
              <a:t xml:space="preserve">7 layer validation </a:t>
            </a:r>
            <a:r>
              <a:rPr lang="en-US" sz="1300"/>
              <a:t>– rigorous best practices (used to validate AI-generated software) – automated &amp; attorney expert testing; published error rates</a:t>
            </a:r>
            <a:endParaRPr sz="1300"/>
          </a:p>
          <a:p>
            <a:pPr indent="0" lvl="0" marL="0" rtl="0" algn="l">
              <a:lnSpc>
                <a:spcPct val="100000"/>
              </a:lnSpc>
              <a:spcBef>
                <a:spcPts val="0"/>
              </a:spcBef>
              <a:spcAft>
                <a:spcPts val="0"/>
              </a:spcAft>
              <a:buClr>
                <a:schemeClr val="lt1"/>
              </a:buClr>
              <a:buSzPts val="1400"/>
              <a:buFont typeface="Calibri"/>
              <a:buNone/>
            </a:pPr>
            <a:r>
              <a:t/>
            </a:r>
            <a:endParaRPr sz="1300"/>
          </a:p>
          <a:p>
            <a:pPr indent="0" lvl="0" marL="0" rtl="0" algn="l">
              <a:lnSpc>
                <a:spcPct val="100000"/>
              </a:lnSpc>
              <a:spcBef>
                <a:spcPts val="0"/>
              </a:spcBef>
              <a:spcAft>
                <a:spcPts val="0"/>
              </a:spcAft>
              <a:buClr>
                <a:schemeClr val="lt1"/>
              </a:buClr>
              <a:buSzPts val="1400"/>
              <a:buFont typeface="Calibri"/>
              <a:buNone/>
            </a:pPr>
            <a:r>
              <a:t/>
            </a:r>
            <a:endParaRPr sz="1100"/>
          </a:p>
          <a:p>
            <a:pPr indent="0" lvl="0" marL="0" rtl="0" algn="l">
              <a:lnSpc>
                <a:spcPct val="100000"/>
              </a:lnSpc>
              <a:spcBef>
                <a:spcPts val="0"/>
              </a:spcBef>
              <a:spcAft>
                <a:spcPts val="0"/>
              </a:spcAft>
              <a:buClr>
                <a:srgbClr val="4A5568"/>
              </a:buClr>
              <a:buSzPts val="1150"/>
              <a:buFont typeface="Calibri"/>
              <a:buNone/>
            </a:pPr>
            <a:r>
              <a:rPr lang="en-US" sz="1300"/>
              <a:t>Every file labeled DRAFT, VALIDATED, or CERTIFIED per published standards.</a:t>
            </a:r>
            <a:endParaRPr sz="1300"/>
          </a:p>
          <a:p>
            <a:pPr indent="0" lvl="0" marL="0" rtl="0" algn="l">
              <a:lnSpc>
                <a:spcPct val="100000"/>
              </a:lnSpc>
              <a:spcBef>
                <a:spcPts val="0"/>
              </a:spcBef>
              <a:spcAft>
                <a:spcPts val="0"/>
              </a:spcAft>
              <a:buClr>
                <a:srgbClr val="4A5568"/>
              </a:buClr>
              <a:buSzPts val="1150"/>
              <a:buFont typeface="Calibri"/>
              <a:buNone/>
            </a:pPr>
            <a:r>
              <a:t/>
            </a:r>
            <a:endParaRPr>
              <a:solidFill>
                <a:srgbClr val="4A5568"/>
              </a:solidFill>
            </a:endParaRPr>
          </a:p>
          <a:p>
            <a:pPr indent="0" lvl="0" marL="0" rtl="0" algn="l">
              <a:lnSpc>
                <a:spcPct val="100000"/>
              </a:lnSpc>
              <a:spcBef>
                <a:spcPts val="0"/>
              </a:spcBef>
              <a:spcAft>
                <a:spcPts val="0"/>
              </a:spcAft>
              <a:buClr>
                <a:srgbClr val="4A5568"/>
              </a:buClr>
              <a:buSzPts val="1150"/>
              <a:buFont typeface="Calibri"/>
              <a:buNone/>
            </a:pPr>
            <a:r>
              <a:t/>
            </a:r>
            <a:endParaRPr>
              <a:solidFill>
                <a:srgbClr val="4A5568"/>
              </a:solidFill>
            </a:endParaRPr>
          </a:p>
        </p:txBody>
      </p:sp>
      <p:sp>
        <p:nvSpPr>
          <p:cNvPr id="395" name="Google Shape;395;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hard question isn't can you generate rules, it's how you know they're right. We borrow the discipline enterprise software teams already use to validate AI-generated code: automated checks at machine speed, then expert human review where accountability rests. This is the emerging standard for AI-generated work, applied to law.</a:t>
            </a:r>
            <a:br>
              <a:rPr lang="en-US"/>
            </a:br>
            <a:br>
              <a:rPr lang="en-US"/>
            </a:br>
            <a:r>
              <a:rPr lang="en-US"/>
              <a:t>THE SEVEN LAYERS: (1) Live statutory grounding — every citation checked against current statutory text via a live connector; a changed statute fails the check (continuous-testing practice). (2) Multi-model consensus — multiple frontier models generate each file independently; disagreements routed to human review (differential testing). (3) Internal consistency logic — automated structural, range, completeness, citation-format checks (static analysis). (4) Golden-set behavioral tests — known-correct fact patterns per state; must pass to advance (unit testing vs. a golden dataset). (5) Cross-jurisdiction anomaly detection — each file compared against all others for outliers (property/regression testing). (6) Temporal freshness monitoring — legislative trackers watch cited statutes; drift becomes a managed queue (CI w/ dependency alerts). (7) Stratified expert human review — a statistically powered sample reviewed by named senior practitioners; published error rate with confidence intervals; inter-reviewer reliability measured via Cohen's kappa. This is the layer that turns a plausible draft into something a person can rely on.</a:t>
            </a:r>
            <a:br>
              <a:rPr lang="en-US"/>
            </a:br>
            <a:br>
              <a:rPr lang="en-US"/>
            </a:br>
            <a:r>
              <a:rPr lang="en-US"/>
              <a:t>WHY THIS IS CREDIBLE (best-practice justification): (a) Automated-first, human for the high-stakes remainder — industry analysis finds automated scanners catch ~70% of serious defect classes in AI-generated code, with ~30% needing manual expert analysis (Apiiro 2025, via ShiftAsia Apr 2026). Our layers 1-6 screen; experts handle what automation misses. (b) AI fails on edge cases, not the happy path — same research; this is why our golden sets and anomaly detection target edge cases. (c) High-stakes code is never accepted without expert review — for catastrophic-error domains (canonically cryptography) human review is a rule, not a guideline (ShiftAsia). Eviction defense is our cryptography. (d) Multi-model consensus with a critical caveat: a 2025 study found LLM cross-validators have very high true-positive rates (&gt;96%) but low true-negative rates (often under 25%) — an agreeableness bias (arXiv 2510.11822). That is exactly why consensus is a routing signal to humans, not a verdict. Citing a documented weakness and building around it is itself evidence of rigor. (e) Golden datasets are the accepted ground-truth backbone of LLM evaluation (Arize, Deepchecks, Klu 2024-26). (f) Continuous, not one-time testing, because law changes (Testkube Jan 2026; Evozon Feb 2026).</a:t>
            </a:r>
            <a:br>
              <a:rPr lang="en-US"/>
            </a:br>
            <a:br>
              <a:rPr lang="en-US"/>
            </a:br>
            <a:r>
              <a:rPr lang="en-US"/>
              <a:t>THE DISANALOGY WE'RE EXPLICIT ABOUT: in software, tests verify code against a spec the team controls; here the spec is the law itself — external, sometimes contested, changing. So the automated layers are bounded by, not a substitute for, expert human review.</a:t>
            </a:r>
            <a:br>
              <a:rPr lang="en-US"/>
            </a:br>
            <a:br>
              <a:rPr lang="en-US"/>
            </a:br>
            <a:r>
              <a:rPr lang="en-US"/>
              <a:t>THE STANDARD WE CLAIM: not perfection (no legal-info source is error-free) but a documented, continuously monitored accuracy rate, materially better than the alternative, by a methodology experts would call prudent — the autonomous-vehicle standard: certified performance under defined conditions, openly measured. The honest comparator isn't a perfect lawyer; it's the help Maria gets today, which is usually none.</a:t>
            </a:r>
            <a:br>
              <a:rPr lang="en-US"/>
            </a:br>
            <a:br>
              <a:rPr lang="en-US"/>
            </a:br>
            <a:r>
              <a:rPr lang="en-US"/>
              <a:t>SOURCES (verify before external use): ShiftAsia Apr 2026 (Apiiro analysis); arXiv 2510.11822 (agreeableness bias); Testkube Jan 2026; Arize/Deepchecks/Klu (golden datasets); Evozon Feb 2026; Veracode Feb 2026; Cohen's kappa for inter-rater reliability.</a:t>
            </a:r>
            <a:endParaRPr/>
          </a:p>
        </p:txBody>
      </p:sp>
      <p:sp>
        <p:nvSpPr>
          <p:cNvPr id="439" name="Google Shape;43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WHY “NOVEL” HOLDS UP (background on past law-coding efforts): Encoding law as code is not new — it has a decades-long track record OUTSIDE legal aid. (1) Computational law / “Rules as Code” has roots going back to the 1970s-80s (Layman Allen on law and logic; later Genesereth, Surden) and matured in govtech: New Zealand’s “Better Rules” program (from 2018, with Inland Revenue and others) and the OpenFisca rules engine encoded benefits and entitlement formulas into machine-readable, reusable code; Jersey has used it in legal drafting; Germany’s Law-as-Code / Rulemapping work continues today. (2) Compliance domains (e.g., construction Automated Compliance Checking) routinely translate regulations into executable logic. KEY POINT: these efforts target government benefits, tax, and regulatory compliance — not civil legal aid / a2j. WHAT a2j ALREADY HAS: guided-interview DOCUMENT ASSEMBLY — A2J Author (Chicago-Kent/CALI, 2004), HotDocs, and LawHelp Interactive (Pro Bono Net), used in 40+ states; these encode interview/branching logic to help self-represented litigants fill court forms, authored by legal-aid subject-matter experts. THE GAP WE FILL: no one has built an open, shareable, independently VALIDATED layer of substantive legal DECISION LOGIC (what the law requires, not just form-filling or what it says) for legal aid, designed to sit on top of modern AI infrastructure. Document assembly tells you how to complete a form; our rules layer tells you whether Maria’s notice is defective and what defense she has. That combination — a2j-specific, decision-logic, open-source, AI-native, with published error rates — is what is new. SOURCES (verify before external use): MIT Computational Law Report (X2RL; Governing Digital Legal Systems); NZ Service Innovation Lab — Legislation as Code / Better Rules; OpenFisca; law-as-code.org (Rulemapping Group, Germany); Jessica Frank, “A2J Author, Legal Aid Organizations, and Courts,” 39 W. New Eng. L. Rev.; Pro Bono Net / LawHelp Interactive; A2J Author (a2jauthor.org).</a:t>
            </a:r>
            <a:endParaRPr/>
          </a:p>
        </p:txBody>
      </p:sp>
      <p:sp>
        <p:nvSpPr>
          <p:cNvPr id="484" name="Google Shape;484;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8" name="Google Shape;51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2" name="Google Shape;54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6.png"/><Relationship Id="rId4" Type="http://schemas.openxmlformats.org/officeDocument/2006/relationships/image" Target="../media/image3.png"/><Relationship Id="rId11" Type="http://schemas.openxmlformats.org/officeDocument/2006/relationships/image" Target="../media/image6.png"/><Relationship Id="rId10" Type="http://schemas.openxmlformats.org/officeDocument/2006/relationships/image" Target="../media/image18.png"/><Relationship Id="rId9" Type="http://schemas.openxmlformats.org/officeDocument/2006/relationships/image" Target="../media/image4.png"/><Relationship Id="rId5" Type="http://schemas.openxmlformats.org/officeDocument/2006/relationships/image" Target="../media/image20.png"/><Relationship Id="rId6" Type="http://schemas.openxmlformats.org/officeDocument/2006/relationships/image" Target="../media/image2.png"/><Relationship Id="rId7" Type="http://schemas.openxmlformats.org/officeDocument/2006/relationships/image" Target="../media/image12.png"/><Relationship Id="rId8" Type="http://schemas.openxmlformats.org/officeDocument/2006/relationships/image" Target="../media/image8.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9.png"/><Relationship Id="rId5" Type="http://schemas.openxmlformats.org/officeDocument/2006/relationships/image" Target="../media/image1.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6.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0.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3.png"/><Relationship Id="rId11" Type="http://schemas.openxmlformats.org/officeDocument/2006/relationships/image" Target="../media/image18.png"/><Relationship Id="rId10" Type="http://schemas.openxmlformats.org/officeDocument/2006/relationships/image" Target="../media/image4.png"/><Relationship Id="rId12" Type="http://schemas.openxmlformats.org/officeDocument/2006/relationships/image" Target="../media/image6.png"/><Relationship Id="rId9" Type="http://schemas.openxmlformats.org/officeDocument/2006/relationships/image" Target="../media/image8.png"/><Relationship Id="rId5" Type="http://schemas.openxmlformats.org/officeDocument/2006/relationships/image" Target="../media/image20.png"/><Relationship Id="rId6" Type="http://schemas.openxmlformats.org/officeDocument/2006/relationships/image" Target="../media/image10.png"/><Relationship Id="rId7" Type="http://schemas.openxmlformats.org/officeDocument/2006/relationships/image" Target="../media/image2.png"/><Relationship Id="rId8" Type="http://schemas.openxmlformats.org/officeDocument/2006/relationships/image" Target="../media/image12.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0.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0.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1.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9.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15" name="Shape 15"/>
        <p:cNvGrpSpPr/>
        <p:nvPr/>
      </p:nvGrpSpPr>
      <p:grpSpPr>
        <a:xfrm>
          <a:off x="0" y="0"/>
          <a:ext cx="0" cy="0"/>
          <a:chOff x="0" y="0"/>
          <a:chExt cx="0" cy="0"/>
        </a:xfrm>
      </p:grpSpPr>
      <p:sp>
        <p:nvSpPr>
          <p:cNvPr id="16" name="Google Shape;16;p3"/>
          <p:cNvSpPr/>
          <p:nvPr/>
        </p:nvSpPr>
        <p:spPr>
          <a:xfrm>
            <a:off x="640080" y="2011680"/>
            <a:ext cx="109728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5400"/>
              <a:buFont typeface="Georgia"/>
              <a:buNone/>
            </a:pPr>
            <a:r>
              <a:rPr b="1" i="0" lang="en-US" sz="5400" u="none" cap="none" strike="noStrike">
                <a:solidFill>
                  <a:srgbClr val="FFFFFF"/>
                </a:solidFill>
                <a:latin typeface="Georgia"/>
                <a:ea typeface="Georgia"/>
                <a:cs typeface="Georgia"/>
                <a:sym typeface="Georgia"/>
              </a:rPr>
              <a:t xml:space="preserve">Civil Justice </a:t>
            </a:r>
            <a:r>
              <a:rPr b="1" i="0" lang="en-US" sz="3900" u="none" cap="none" strike="noStrike">
                <a:solidFill>
                  <a:srgbClr val="FFFFFF"/>
                </a:solidFill>
                <a:latin typeface="Georgia"/>
                <a:ea typeface="Georgia"/>
                <a:cs typeface="Georgia"/>
                <a:sym typeface="Georgia"/>
              </a:rPr>
              <a:t>as</a:t>
            </a:r>
            <a:r>
              <a:rPr b="1" i="0" lang="en-US" sz="5400" u="none" cap="none" strike="noStrike">
                <a:solidFill>
                  <a:srgbClr val="FFFFFF"/>
                </a:solidFill>
                <a:latin typeface="Georgia"/>
                <a:ea typeface="Georgia"/>
                <a:cs typeface="Georgia"/>
                <a:sym typeface="Georgia"/>
              </a:rPr>
              <a:t xml:space="preserve"> Code</a:t>
            </a:r>
            <a:endParaRPr b="0" i="0" sz="5400" u="none" cap="none" strike="noStrike">
              <a:solidFill>
                <a:schemeClr val="dk1"/>
              </a:solidFill>
              <a:latin typeface="Calibri"/>
              <a:ea typeface="Calibri"/>
              <a:cs typeface="Calibri"/>
              <a:sym typeface="Calibri"/>
            </a:endParaRPr>
          </a:p>
        </p:txBody>
      </p:sp>
      <p:sp>
        <p:nvSpPr>
          <p:cNvPr id="17" name="Google Shape;17;p3"/>
          <p:cNvSpPr/>
          <p:nvPr/>
        </p:nvSpPr>
        <p:spPr>
          <a:xfrm>
            <a:off x="658368" y="3200400"/>
            <a:ext cx="1051560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900"/>
              <a:buFont typeface="Calibri"/>
              <a:buNone/>
            </a:pPr>
            <a:r>
              <a:rPr b="0" i="1" lang="en-US" sz="1900" u="none" cap="none" strike="noStrike">
                <a:solidFill>
                  <a:srgbClr val="CADCFC"/>
                </a:solidFill>
                <a:latin typeface="Calibri"/>
                <a:ea typeface="Calibri"/>
                <a:cs typeface="Calibri"/>
                <a:sym typeface="Calibri"/>
              </a:rPr>
              <a:t>AI For Good project – to help people who can’t afford a lawyer</a:t>
            </a:r>
            <a:endParaRPr b="0" i="0" sz="1900" u="none" cap="none" strike="noStrike">
              <a:solidFill>
                <a:schemeClr val="dk1"/>
              </a:solidFill>
              <a:latin typeface="Calibri"/>
              <a:ea typeface="Calibri"/>
              <a:cs typeface="Calibri"/>
              <a:sym typeface="Calibri"/>
            </a:endParaRPr>
          </a:p>
        </p:txBody>
      </p:sp>
      <p:sp>
        <p:nvSpPr>
          <p:cNvPr id="18" name="Google Shape;18;p3"/>
          <p:cNvSpPr/>
          <p:nvPr/>
        </p:nvSpPr>
        <p:spPr>
          <a:xfrm>
            <a:off x="685800" y="4069080"/>
            <a:ext cx="2194560" cy="36576"/>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
          <p:cNvSpPr/>
          <p:nvPr/>
        </p:nvSpPr>
        <p:spPr>
          <a:xfrm>
            <a:off x="658368" y="4480560"/>
            <a:ext cx="10058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Andrew Cohen   •   Board Member, Bay Area Legal Aid</a:t>
            </a:r>
            <a:endParaRPr b="0" i="0" sz="1600" u="none" cap="none" strike="noStrike">
              <a:solidFill>
                <a:schemeClr val="dk1"/>
              </a:solidFill>
              <a:latin typeface="Calibri"/>
              <a:ea typeface="Calibri"/>
              <a:cs typeface="Calibri"/>
              <a:sym typeface="Calibri"/>
            </a:endParaRPr>
          </a:p>
        </p:txBody>
      </p:sp>
      <p:sp>
        <p:nvSpPr>
          <p:cNvPr id="20" name="Google Shape;20;p3"/>
          <p:cNvSpPr/>
          <p:nvPr/>
        </p:nvSpPr>
        <p:spPr>
          <a:xfrm>
            <a:off x="658368" y="4846320"/>
            <a:ext cx="100584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300"/>
              <a:buFont typeface="Calibri"/>
              <a:buNone/>
            </a:pPr>
            <a:r>
              <a:rPr b="0" i="0" lang="en-US" sz="1300" u="none" cap="none" strike="noStrike">
                <a:solidFill>
                  <a:srgbClr val="8FA8CC"/>
                </a:solidFill>
                <a:latin typeface="Calibri"/>
                <a:ea typeface="Calibri"/>
                <a:cs typeface="Calibri"/>
                <a:sym typeface="Calibri"/>
              </a:rPr>
              <a:t>Working Document   •   June 2026</a:t>
            </a:r>
            <a:endParaRPr b="0" i="0" sz="1300" u="none" cap="none" strike="noStrike">
              <a:solidFill>
                <a:schemeClr val="dk1"/>
              </a:solidFill>
              <a:latin typeface="Calibri"/>
              <a:ea typeface="Calibri"/>
              <a:cs typeface="Calibri"/>
              <a:sym typeface="Calibri"/>
            </a:endParaRPr>
          </a:p>
        </p:txBody>
      </p:sp>
      <p:sp>
        <p:nvSpPr>
          <p:cNvPr id="21" name="Google Shape;21;p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000"/>
              <a:buFont typeface="Calibri"/>
              <a:buNone/>
            </a:pPr>
            <a:r>
              <a:rPr b="0" i="0" lang="en-US" sz="1000" u="none" cap="none" strike="noStrike">
                <a:solidFill>
                  <a:srgbClr val="8FA8CC"/>
                </a:solidFill>
                <a:latin typeface="Calibri"/>
                <a:ea typeface="Calibri"/>
                <a:cs typeface="Calibri"/>
                <a:sym typeface="Calibri"/>
              </a:rPr>
              <a:t>© 2026 Andrew Cohen. All rights reserved.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26" name="Shape 26"/>
        <p:cNvGrpSpPr/>
        <p:nvPr/>
      </p:nvGrpSpPr>
      <p:grpSpPr>
        <a:xfrm>
          <a:off x="0" y="0"/>
          <a:ext cx="0" cy="0"/>
          <a:chOff x="0" y="0"/>
          <a:chExt cx="0" cy="0"/>
        </a:xfrm>
      </p:grpSpPr>
      <p:sp>
        <p:nvSpPr>
          <p:cNvPr id="27" name="Google Shape;27;p4"/>
          <p:cNvSpPr/>
          <p:nvPr/>
        </p:nvSpPr>
        <p:spPr>
          <a:xfrm>
            <a:off x="640080" y="411480"/>
            <a:ext cx="10881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THE PROBLEM — THE JUSTICE GAP: DECADES OLD &amp; CORROSIVE TO DEMOCRACY</a:t>
            </a:r>
            <a:endParaRPr b="0" i="0" sz="1800" u="none" cap="none" strike="noStrike">
              <a:solidFill>
                <a:schemeClr val="dk1"/>
              </a:solidFill>
              <a:latin typeface="Calibri"/>
              <a:ea typeface="Calibri"/>
              <a:cs typeface="Calibri"/>
              <a:sym typeface="Calibri"/>
            </a:endParaRPr>
          </a:p>
        </p:txBody>
      </p:sp>
      <p:sp>
        <p:nvSpPr>
          <p:cNvPr id="28" name="Google Shape;28;p4"/>
          <p:cNvSpPr/>
          <p:nvPr/>
        </p:nvSpPr>
        <p:spPr>
          <a:xfrm>
            <a:off x="640075" y="850626"/>
            <a:ext cx="11155800" cy="73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10s of millions face cascading civil legal crises — without a lawyer</a:t>
            </a:r>
            <a:endParaRPr b="0" i="0" sz="2600" u="none" cap="none" strike="noStrike">
              <a:solidFill>
                <a:schemeClr val="dk1"/>
              </a:solidFill>
              <a:latin typeface="Calibri"/>
              <a:ea typeface="Calibri"/>
              <a:cs typeface="Calibri"/>
              <a:sym typeface="Calibri"/>
            </a:endParaRPr>
          </a:p>
        </p:txBody>
      </p:sp>
      <p:sp>
        <p:nvSpPr>
          <p:cNvPr id="29" name="Google Shape;29;p4"/>
          <p:cNvSpPr/>
          <p:nvPr/>
        </p:nvSpPr>
        <p:spPr>
          <a:xfrm>
            <a:off x="640080" y="1783080"/>
            <a:ext cx="2606100" cy="1828800"/>
          </a:xfrm>
          <a:prstGeom prst="rect">
            <a:avLst/>
          </a:prstGeom>
          <a:solidFill>
            <a:srgbClr val="223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0" name="Google Shape;30;p4"/>
          <p:cNvSpPr/>
          <p:nvPr/>
        </p:nvSpPr>
        <p:spPr>
          <a:xfrm>
            <a:off x="640080" y="1783080"/>
            <a:ext cx="2606100" cy="732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1" name="Google Shape;31;p4"/>
          <p:cNvSpPr/>
          <p:nvPr/>
        </p:nvSpPr>
        <p:spPr>
          <a:xfrm>
            <a:off x="822960" y="2002536"/>
            <a:ext cx="22404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200"/>
              <a:buFont typeface="Georgia"/>
              <a:buNone/>
            </a:pPr>
            <a:r>
              <a:rPr b="1" i="0" lang="en-US" sz="3000" u="none" cap="none" strike="noStrike">
                <a:solidFill>
                  <a:srgbClr val="FFFFFF"/>
                </a:solidFill>
                <a:latin typeface="Georgia"/>
                <a:ea typeface="Georgia"/>
                <a:cs typeface="Georgia"/>
                <a:sym typeface="Georgia"/>
              </a:rPr>
              <a:t>92%</a:t>
            </a:r>
            <a:endParaRPr b="0" i="0" sz="3000" u="none" cap="none" strike="noStrike">
              <a:solidFill>
                <a:schemeClr val="dk1"/>
              </a:solidFill>
              <a:latin typeface="Calibri"/>
              <a:ea typeface="Calibri"/>
              <a:cs typeface="Calibri"/>
              <a:sym typeface="Calibri"/>
            </a:endParaRPr>
          </a:p>
        </p:txBody>
      </p:sp>
      <p:sp>
        <p:nvSpPr>
          <p:cNvPr id="32" name="Google Shape;32;p4"/>
          <p:cNvSpPr/>
          <p:nvPr/>
        </p:nvSpPr>
        <p:spPr>
          <a:xfrm>
            <a:off x="841248" y="2788920"/>
            <a:ext cx="22221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700" u="none" cap="none" strike="noStrike">
                <a:solidFill>
                  <a:srgbClr val="CADCFC"/>
                </a:solidFill>
                <a:latin typeface="Calibri"/>
                <a:ea typeface="Calibri"/>
                <a:cs typeface="Calibri"/>
                <a:sym typeface="Calibri"/>
              </a:rPr>
              <a:t>of low-income civil legal needs get no help</a:t>
            </a:r>
            <a:endParaRPr b="0" i="0" sz="1700" u="none" cap="none" strike="noStrike">
              <a:solidFill>
                <a:schemeClr val="dk1"/>
              </a:solidFill>
              <a:latin typeface="Calibri"/>
              <a:ea typeface="Calibri"/>
              <a:cs typeface="Calibri"/>
              <a:sym typeface="Calibri"/>
            </a:endParaRPr>
          </a:p>
        </p:txBody>
      </p:sp>
      <p:sp>
        <p:nvSpPr>
          <p:cNvPr id="33" name="Google Shape;33;p4"/>
          <p:cNvSpPr/>
          <p:nvPr/>
        </p:nvSpPr>
        <p:spPr>
          <a:xfrm>
            <a:off x="3474720" y="1783080"/>
            <a:ext cx="2606100" cy="1828800"/>
          </a:xfrm>
          <a:prstGeom prst="rect">
            <a:avLst/>
          </a:prstGeom>
          <a:solidFill>
            <a:srgbClr val="223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4" name="Google Shape;34;p4"/>
          <p:cNvSpPr/>
          <p:nvPr/>
        </p:nvSpPr>
        <p:spPr>
          <a:xfrm>
            <a:off x="3657600" y="2002536"/>
            <a:ext cx="22404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200"/>
              <a:buFont typeface="Georgia"/>
              <a:buNone/>
            </a:pPr>
            <a:r>
              <a:rPr b="1" i="0" lang="en-US" sz="3000" u="none" cap="none" strike="noStrike">
                <a:solidFill>
                  <a:srgbClr val="FFFFFF"/>
                </a:solidFill>
                <a:latin typeface="Georgia"/>
                <a:ea typeface="Georgia"/>
                <a:cs typeface="Georgia"/>
                <a:sym typeface="Georgia"/>
              </a:rPr>
              <a:t>39%</a:t>
            </a:r>
            <a:endParaRPr b="0" i="0" sz="3000" u="none" cap="none" strike="noStrike">
              <a:solidFill>
                <a:schemeClr val="dk1"/>
              </a:solidFill>
              <a:latin typeface="Calibri"/>
              <a:ea typeface="Calibri"/>
              <a:cs typeface="Calibri"/>
              <a:sym typeface="Calibri"/>
            </a:endParaRPr>
          </a:p>
        </p:txBody>
      </p:sp>
      <p:sp>
        <p:nvSpPr>
          <p:cNvPr id="35" name="Google Shape;35;p4"/>
          <p:cNvSpPr/>
          <p:nvPr/>
        </p:nvSpPr>
        <p:spPr>
          <a:xfrm>
            <a:off x="3675888" y="2788920"/>
            <a:ext cx="22221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700" u="none" cap="none" strike="noStrike">
                <a:solidFill>
                  <a:srgbClr val="CADCFC"/>
                </a:solidFill>
                <a:latin typeface="Calibri"/>
                <a:ea typeface="Calibri"/>
                <a:cs typeface="Calibri"/>
                <a:sym typeface="Calibri"/>
              </a:rPr>
              <a:t>of low-income households face 5+ legal problems at once</a:t>
            </a:r>
            <a:endParaRPr b="0" i="0" sz="1700" u="none" cap="none" strike="noStrike">
              <a:solidFill>
                <a:schemeClr val="dk1"/>
              </a:solidFill>
              <a:latin typeface="Calibri"/>
              <a:ea typeface="Calibri"/>
              <a:cs typeface="Calibri"/>
              <a:sym typeface="Calibri"/>
            </a:endParaRPr>
          </a:p>
        </p:txBody>
      </p:sp>
      <p:sp>
        <p:nvSpPr>
          <p:cNvPr id="36" name="Google Shape;36;p4"/>
          <p:cNvSpPr/>
          <p:nvPr/>
        </p:nvSpPr>
        <p:spPr>
          <a:xfrm>
            <a:off x="6309360" y="1783080"/>
            <a:ext cx="2606100" cy="1828800"/>
          </a:xfrm>
          <a:prstGeom prst="rect">
            <a:avLst/>
          </a:prstGeom>
          <a:solidFill>
            <a:srgbClr val="223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7" name="Google Shape;37;p4"/>
          <p:cNvSpPr/>
          <p:nvPr/>
        </p:nvSpPr>
        <p:spPr>
          <a:xfrm>
            <a:off x="6309360" y="1783080"/>
            <a:ext cx="2606100" cy="732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 name="Google Shape;38;p4"/>
          <p:cNvSpPr/>
          <p:nvPr/>
        </p:nvSpPr>
        <p:spPr>
          <a:xfrm>
            <a:off x="6492240" y="2002536"/>
            <a:ext cx="22404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200"/>
              <a:buFont typeface="Georgia"/>
              <a:buNone/>
            </a:pPr>
            <a:r>
              <a:rPr b="1" i="0" lang="en-US" sz="3000" u="none" cap="none" strike="noStrike">
                <a:solidFill>
                  <a:srgbClr val="FFFFFF"/>
                </a:solidFill>
                <a:latin typeface="Georgia"/>
                <a:ea typeface="Georgia"/>
                <a:cs typeface="Georgia"/>
                <a:sym typeface="Georgia"/>
              </a:rPr>
              <a:t xml:space="preserve">3.6M </a:t>
            </a:r>
            <a:endParaRPr b="0" i="0" sz="3000" u="none" cap="none" strike="noStrike">
              <a:solidFill>
                <a:schemeClr val="dk1"/>
              </a:solidFill>
              <a:latin typeface="Calibri"/>
              <a:ea typeface="Calibri"/>
              <a:cs typeface="Calibri"/>
              <a:sym typeface="Calibri"/>
            </a:endParaRPr>
          </a:p>
        </p:txBody>
      </p:sp>
      <p:sp>
        <p:nvSpPr>
          <p:cNvPr id="39" name="Google Shape;39;p4"/>
          <p:cNvSpPr/>
          <p:nvPr/>
        </p:nvSpPr>
        <p:spPr>
          <a:xfrm>
            <a:off x="6510528" y="2788920"/>
            <a:ext cx="22221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700" u="none" cap="none" strike="noStrike">
                <a:solidFill>
                  <a:srgbClr val="CADCFC"/>
                </a:solidFill>
                <a:latin typeface="Calibri"/>
                <a:ea typeface="Calibri"/>
                <a:cs typeface="Calibri"/>
                <a:sym typeface="Calibri"/>
              </a:rPr>
              <a:t xml:space="preserve">eviction filings a year; fewer than </a:t>
            </a:r>
            <a:r>
              <a:rPr b="1" i="0" lang="en-US" sz="1700" u="none" cap="none" strike="noStrike">
                <a:solidFill>
                  <a:schemeClr val="lt1"/>
                </a:solidFill>
                <a:latin typeface="Calibri"/>
                <a:ea typeface="Calibri"/>
                <a:cs typeface="Calibri"/>
                <a:sym typeface="Calibri"/>
              </a:rPr>
              <a:t xml:space="preserve">5% </a:t>
            </a:r>
            <a:r>
              <a:rPr b="0" i="0" lang="en-US" sz="1700" u="none" cap="none" strike="noStrike">
                <a:solidFill>
                  <a:srgbClr val="CADCFC"/>
                </a:solidFill>
                <a:latin typeface="Calibri"/>
                <a:ea typeface="Calibri"/>
                <a:cs typeface="Calibri"/>
                <a:sym typeface="Calibri"/>
              </a:rPr>
              <a:t>of tenants have a lawyer</a:t>
            </a:r>
            <a:endParaRPr b="0" i="0" sz="1700" u="none" cap="none" strike="noStrike">
              <a:solidFill>
                <a:schemeClr val="dk1"/>
              </a:solidFill>
              <a:latin typeface="Calibri"/>
              <a:ea typeface="Calibri"/>
              <a:cs typeface="Calibri"/>
              <a:sym typeface="Calibri"/>
            </a:endParaRPr>
          </a:p>
        </p:txBody>
      </p:sp>
      <p:sp>
        <p:nvSpPr>
          <p:cNvPr id="40" name="Google Shape;40;p4"/>
          <p:cNvSpPr/>
          <p:nvPr/>
        </p:nvSpPr>
        <p:spPr>
          <a:xfrm>
            <a:off x="9144000" y="1783080"/>
            <a:ext cx="2606100" cy="1828800"/>
          </a:xfrm>
          <a:prstGeom prst="rect">
            <a:avLst/>
          </a:prstGeom>
          <a:solidFill>
            <a:srgbClr val="223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1" name="Google Shape;41;p4"/>
          <p:cNvSpPr/>
          <p:nvPr/>
        </p:nvSpPr>
        <p:spPr>
          <a:xfrm>
            <a:off x="9144000" y="1783080"/>
            <a:ext cx="2606100" cy="732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2" name="Google Shape;42;p4"/>
          <p:cNvSpPr/>
          <p:nvPr/>
        </p:nvSpPr>
        <p:spPr>
          <a:xfrm>
            <a:off x="9326880" y="2002536"/>
            <a:ext cx="22404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200"/>
              <a:buFont typeface="Georgia"/>
              <a:buNone/>
            </a:pPr>
            <a:r>
              <a:rPr b="1" i="0" lang="en-US" sz="3000" u="none" cap="none" strike="noStrike">
                <a:solidFill>
                  <a:srgbClr val="FFFFFF"/>
                </a:solidFill>
                <a:latin typeface="Georgia"/>
                <a:ea typeface="Georgia"/>
                <a:cs typeface="Georgia"/>
                <a:sym typeface="Georgia"/>
              </a:rPr>
              <a:t>70%+</a:t>
            </a:r>
            <a:endParaRPr b="0" i="0" sz="3000" u="none" cap="none" strike="noStrike">
              <a:solidFill>
                <a:schemeClr val="dk1"/>
              </a:solidFill>
              <a:latin typeface="Calibri"/>
              <a:ea typeface="Calibri"/>
              <a:cs typeface="Calibri"/>
              <a:sym typeface="Calibri"/>
            </a:endParaRPr>
          </a:p>
        </p:txBody>
      </p:sp>
      <p:sp>
        <p:nvSpPr>
          <p:cNvPr id="43" name="Google Shape;43;p4"/>
          <p:cNvSpPr/>
          <p:nvPr/>
        </p:nvSpPr>
        <p:spPr>
          <a:xfrm>
            <a:off x="9345168" y="2788920"/>
            <a:ext cx="22221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700" u="none" cap="none" strike="noStrike">
                <a:solidFill>
                  <a:srgbClr val="CADCFC"/>
                </a:solidFill>
                <a:latin typeface="Calibri"/>
                <a:ea typeface="Calibri"/>
                <a:cs typeface="Calibri"/>
                <a:sym typeface="Calibri"/>
              </a:rPr>
              <a:t>of debt suits end in default against the unrepresented</a:t>
            </a:r>
            <a:endParaRPr b="0" i="0" sz="1700" u="none" cap="none" strike="noStrike">
              <a:solidFill>
                <a:schemeClr val="dk1"/>
              </a:solidFill>
              <a:latin typeface="Calibri"/>
              <a:ea typeface="Calibri"/>
              <a:cs typeface="Calibri"/>
              <a:sym typeface="Calibri"/>
            </a:endParaRPr>
          </a:p>
        </p:txBody>
      </p:sp>
      <p:sp>
        <p:nvSpPr>
          <p:cNvPr id="44" name="Google Shape;44;p4"/>
          <p:cNvSpPr/>
          <p:nvPr/>
        </p:nvSpPr>
        <p:spPr>
          <a:xfrm>
            <a:off x="626250" y="4134799"/>
            <a:ext cx="10908900" cy="1323000"/>
          </a:xfrm>
          <a:prstGeom prst="rect">
            <a:avLst/>
          </a:prstGeom>
          <a:solidFill>
            <a:srgbClr val="0D11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 name="Google Shape;45;p4"/>
          <p:cNvSpPr/>
          <p:nvPr/>
        </p:nvSpPr>
        <p:spPr>
          <a:xfrm>
            <a:off x="912625" y="4350855"/>
            <a:ext cx="10610700" cy="63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800" u="none" cap="none" strike="noStrike">
                <a:solidFill>
                  <a:srgbClr val="FFFFFF"/>
                </a:solidFill>
                <a:latin typeface="Calibri"/>
                <a:ea typeface="Calibri"/>
                <a:cs typeface="Calibri"/>
                <a:sym typeface="Calibri"/>
              </a:rPr>
              <a:t xml:space="preserve">Before May 2026 — no shared legal-tech infrastructure. Legal aid agencies and courts – creative embrace of AI but fragmented: reinventing the wheel 1 isolated expensive AI pilot at a time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500"/>
              <a:buFont typeface="Calibri"/>
              <a:buNone/>
            </a:pPr>
            <a:r>
              <a:t/>
            </a:r>
            <a:endParaRPr b="1" i="0" sz="1800" u="none" cap="none" strike="noStrike">
              <a:solidFill>
                <a:srgbClr val="FFFFFF"/>
              </a:solidFill>
              <a:latin typeface="Calibri"/>
              <a:ea typeface="Calibri"/>
              <a:cs typeface="Calibri"/>
              <a:sym typeface="Calibri"/>
            </a:endParaRPr>
          </a:p>
        </p:txBody>
      </p:sp>
      <p:sp>
        <p:nvSpPr>
          <p:cNvPr id="46" name="Google Shape;46;p4"/>
          <p:cNvSpPr/>
          <p:nvPr/>
        </p:nvSpPr>
        <p:spPr>
          <a:xfrm>
            <a:off x="914400" y="5110661"/>
            <a:ext cx="10332600" cy="19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400"/>
              <a:buFont typeface="Calibri"/>
              <a:buNone/>
            </a:pPr>
            <a:r>
              <a:rPr b="1" i="1" lang="en-US" sz="1800" u="none" cap="none" strike="noStrike">
                <a:solidFill>
                  <a:srgbClr val="2A9DA6"/>
                </a:solidFill>
                <a:latin typeface="Calibri"/>
                <a:ea typeface="Calibri"/>
                <a:cs typeface="Calibri"/>
                <a:sym typeface="Calibri"/>
              </a:rPr>
              <a:t>That just changed. →</a:t>
            </a:r>
            <a:endParaRPr b="0" i="0" sz="1800" u="none" cap="none" strike="noStrike">
              <a:solidFill>
                <a:schemeClr val="dk1"/>
              </a:solidFill>
              <a:latin typeface="Calibri"/>
              <a:ea typeface="Calibri"/>
              <a:cs typeface="Calibri"/>
              <a:sym typeface="Calibri"/>
            </a:endParaRPr>
          </a:p>
        </p:txBody>
      </p:sp>
      <p:sp>
        <p:nvSpPr>
          <p:cNvPr id="47" name="Google Shape;47;p4"/>
          <p:cNvSpPr/>
          <p:nvPr/>
        </p:nvSpPr>
        <p:spPr>
          <a:xfrm>
            <a:off x="640080" y="5961895"/>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100"/>
              <a:buFont typeface="Calibri"/>
              <a:buNone/>
            </a:pPr>
            <a:r>
              <a:rPr b="1" i="0" lang="en-US" sz="1800" u="none" cap="none" strike="noStrike">
                <a:solidFill>
                  <a:srgbClr val="8FA8CC"/>
                </a:solidFill>
                <a:latin typeface="Calibri"/>
                <a:ea typeface="Calibri"/>
                <a:cs typeface="Calibri"/>
                <a:sym typeface="Calibri"/>
              </a:rPr>
              <a:t>THE PROBLEM</a:t>
            </a:r>
            <a:endParaRPr b="0" i="0" sz="1800" u="none" cap="none" strike="noStrike">
              <a:solidFill>
                <a:schemeClr val="dk1"/>
              </a:solidFill>
              <a:latin typeface="Calibri"/>
              <a:ea typeface="Calibri"/>
              <a:cs typeface="Calibri"/>
              <a:sym typeface="Calibri"/>
            </a:endParaRPr>
          </a:p>
        </p:txBody>
      </p:sp>
      <p:sp>
        <p:nvSpPr>
          <p:cNvPr id="48" name="Google Shape;48;p4"/>
          <p:cNvSpPr/>
          <p:nvPr/>
        </p:nvSpPr>
        <p:spPr>
          <a:xfrm>
            <a:off x="11521440" y="6446520"/>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49" name="Google Shape;49;p4"/>
          <p:cNvSpPr/>
          <p:nvPr/>
        </p:nvSpPr>
        <p:spPr>
          <a:xfrm>
            <a:off x="640080" y="6492240"/>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
        <p:nvSpPr>
          <p:cNvPr id="50" name="Google Shape;50;p4"/>
          <p:cNvSpPr/>
          <p:nvPr/>
        </p:nvSpPr>
        <p:spPr>
          <a:xfrm>
            <a:off x="3491230" y="1776730"/>
            <a:ext cx="2606100" cy="732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55" name="Shape 55"/>
        <p:cNvGrpSpPr/>
        <p:nvPr/>
      </p:nvGrpSpPr>
      <p:grpSpPr>
        <a:xfrm>
          <a:off x="0" y="0"/>
          <a:ext cx="0" cy="0"/>
          <a:chOff x="0" y="0"/>
          <a:chExt cx="0" cy="0"/>
        </a:xfrm>
      </p:grpSpPr>
      <p:sp>
        <p:nvSpPr>
          <p:cNvPr id="56" name="Google Shape;56;p5"/>
          <p:cNvSpPr/>
          <p:nvPr/>
        </p:nvSpPr>
        <p:spPr>
          <a:xfrm>
            <a:off x="640080" y="234271"/>
            <a:ext cx="10881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 xml:space="preserve">WHAT CHANGED IN MAY 2026 - LAWYERS NOW HAVE WHAT OTHER INDUSTRIES HAVE LONG HAD  </a:t>
            </a:r>
            <a:endParaRPr b="0" i="0" sz="1800" u="none" cap="none" strike="noStrike">
              <a:solidFill>
                <a:schemeClr val="dk1"/>
              </a:solidFill>
              <a:latin typeface="Calibri"/>
              <a:ea typeface="Calibri"/>
              <a:cs typeface="Calibri"/>
              <a:sym typeface="Calibri"/>
            </a:endParaRPr>
          </a:p>
        </p:txBody>
      </p:sp>
      <p:sp>
        <p:nvSpPr>
          <p:cNvPr id="57" name="Google Shape;57;p5"/>
          <p:cNvSpPr/>
          <p:nvPr/>
        </p:nvSpPr>
        <p:spPr>
          <a:xfrm>
            <a:off x="640080" y="668930"/>
            <a:ext cx="109728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3000"/>
              <a:buFont typeface="Georgia"/>
              <a:buNone/>
            </a:pPr>
            <a:r>
              <a:rPr b="1" i="0" lang="en-US" sz="3000" u="none" cap="none" strike="noStrike">
                <a:solidFill>
                  <a:srgbClr val="1A2E4A"/>
                </a:solidFill>
                <a:latin typeface="Georgia"/>
                <a:ea typeface="Georgia"/>
                <a:cs typeface="Georgia"/>
                <a:sym typeface="Georgia"/>
              </a:rPr>
              <a:t>Anthropic’s new legal infrastructure/platform</a:t>
            </a:r>
            <a:endParaRPr b="0" i="0" sz="3000" u="none" cap="none" strike="noStrike">
              <a:solidFill>
                <a:schemeClr val="dk1"/>
              </a:solidFill>
              <a:latin typeface="Calibri"/>
              <a:ea typeface="Calibri"/>
              <a:cs typeface="Calibri"/>
              <a:sym typeface="Calibri"/>
            </a:endParaRPr>
          </a:p>
        </p:txBody>
      </p:sp>
      <p:sp>
        <p:nvSpPr>
          <p:cNvPr id="58" name="Google Shape;58;p5"/>
          <p:cNvSpPr/>
          <p:nvPr/>
        </p:nvSpPr>
        <p:spPr>
          <a:xfrm>
            <a:off x="640175" y="1441578"/>
            <a:ext cx="10729200" cy="1269900"/>
          </a:xfrm>
          <a:prstGeom prst="rect">
            <a:avLst/>
          </a:prstGeom>
          <a:solidFill>
            <a:srgbClr val="1A2E4A"/>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5"/>
          <p:cNvSpPr/>
          <p:nvPr/>
        </p:nvSpPr>
        <p:spPr>
          <a:xfrm>
            <a:off x="952500" y="1734525"/>
            <a:ext cx="726600" cy="7815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0" name="Google Shape;60;p5"/>
          <p:cNvPicPr preferRelativeResize="0"/>
          <p:nvPr/>
        </p:nvPicPr>
        <p:blipFill rotWithShape="1">
          <a:blip r:embed="rId3">
            <a:alphaModFix/>
          </a:blip>
          <a:srcRect b="0" l="0" r="0" t="0"/>
          <a:stretch/>
        </p:blipFill>
        <p:spPr>
          <a:xfrm>
            <a:off x="1044800" y="1836691"/>
            <a:ext cx="578525" cy="507956"/>
          </a:xfrm>
          <a:prstGeom prst="rect">
            <a:avLst/>
          </a:prstGeom>
          <a:noFill/>
          <a:ln>
            <a:noFill/>
          </a:ln>
        </p:spPr>
      </p:pic>
      <p:sp>
        <p:nvSpPr>
          <p:cNvPr id="61" name="Google Shape;61;p5"/>
          <p:cNvSpPr/>
          <p:nvPr/>
        </p:nvSpPr>
        <p:spPr>
          <a:xfrm>
            <a:off x="1974575" y="1578461"/>
            <a:ext cx="9187800" cy="101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Calibri"/>
              <a:buNone/>
            </a:pPr>
            <a:r>
              <a:rPr b="1" i="0" lang="en-US" sz="1600" u="none" cap="none" strike="noStrike">
                <a:solidFill>
                  <a:srgbClr val="FFFFFF"/>
                </a:solidFill>
                <a:latin typeface="Calibri"/>
                <a:ea typeface="Calibri"/>
                <a:cs typeface="Calibri"/>
                <a:sym typeface="Calibri"/>
              </a:rPr>
              <a:t>F</a:t>
            </a:r>
            <a:r>
              <a:rPr b="1" i="0" lang="en-US" sz="1700" u="none" cap="none" strike="noStrike">
                <a:solidFill>
                  <a:srgbClr val="FFFFFF"/>
                </a:solidFill>
                <a:latin typeface="Calibri"/>
                <a:ea typeface="Calibri"/>
                <a:cs typeface="Calibri"/>
                <a:sym typeface="Calibri"/>
              </a:rPr>
              <a:t xml:space="preserve">or the first time, legal tech has common shareable building blocks </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rgbClr val="CADCFC"/>
              </a:buClr>
              <a:buSzPts val="1700"/>
              <a:buFont typeface="Calibri"/>
              <a:buNone/>
            </a:pPr>
            <a:r>
              <a:rPr b="0" i="0" lang="en-US" sz="1700" u="none" cap="none" strike="noStrike">
                <a:solidFill>
                  <a:srgbClr val="CADCFC"/>
                </a:solidFill>
                <a:latin typeface="Calibri"/>
                <a:ea typeface="Calibri"/>
                <a:cs typeface="Calibri"/>
                <a:sym typeface="Calibri"/>
              </a:rPr>
              <a:t xml:space="preserve">Built once, improved by everyone — open sourced— the way Linux, FHIR, Kubernetes and CfA became standard continuously improving  software infrastructure in their fields. </a:t>
            </a:r>
            <a:endParaRPr b="0" i="0" sz="1700" u="none" cap="none" strike="noStrike">
              <a:solidFill>
                <a:schemeClr val="dk1"/>
              </a:solidFill>
              <a:latin typeface="Calibri"/>
              <a:ea typeface="Calibri"/>
              <a:cs typeface="Calibri"/>
              <a:sym typeface="Calibri"/>
            </a:endParaRPr>
          </a:p>
        </p:txBody>
      </p:sp>
      <p:sp>
        <p:nvSpPr>
          <p:cNvPr id="62" name="Google Shape;62;p5"/>
          <p:cNvSpPr/>
          <p:nvPr/>
        </p:nvSpPr>
        <p:spPr>
          <a:xfrm>
            <a:off x="640075" y="6200357"/>
            <a:ext cx="7315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8AB"/>
              </a:buClr>
              <a:buSzPts val="1100"/>
              <a:buFont typeface="Calibri"/>
              <a:buNone/>
            </a:pPr>
            <a:r>
              <a:rPr b="1" i="0" lang="en-US" sz="1800" u="none" cap="none" strike="noStrike">
                <a:solidFill>
                  <a:srgbClr val="8A98AB"/>
                </a:solidFill>
                <a:latin typeface="Calibri"/>
                <a:ea typeface="Calibri"/>
                <a:cs typeface="Calibri"/>
                <a:sym typeface="Calibri"/>
              </a:rPr>
              <a:t xml:space="preserve">WHAT CHANGED </a:t>
            </a:r>
            <a:endParaRPr b="0" i="0" sz="1800" u="none" cap="none" strike="noStrike">
              <a:solidFill>
                <a:schemeClr val="dk1"/>
              </a:solidFill>
              <a:latin typeface="Calibri"/>
              <a:ea typeface="Calibri"/>
              <a:cs typeface="Calibri"/>
              <a:sym typeface="Calibri"/>
            </a:endParaRPr>
          </a:p>
        </p:txBody>
      </p:sp>
      <p:sp>
        <p:nvSpPr>
          <p:cNvPr id="63" name="Google Shape;63;p5"/>
          <p:cNvSpPr/>
          <p:nvPr/>
        </p:nvSpPr>
        <p:spPr>
          <a:xfrm>
            <a:off x="11521440" y="6446520"/>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64" name="Google Shape;64;p5"/>
          <p:cNvSpPr/>
          <p:nvPr/>
        </p:nvSpPr>
        <p:spPr>
          <a:xfrm>
            <a:off x="640080" y="6515558"/>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
        <p:nvSpPr>
          <p:cNvPr id="65" name="Google Shape;65;p5"/>
          <p:cNvSpPr/>
          <p:nvPr/>
        </p:nvSpPr>
        <p:spPr>
          <a:xfrm>
            <a:off x="650750" y="3202574"/>
            <a:ext cx="10729200" cy="639300"/>
          </a:xfrm>
          <a:prstGeom prst="rect">
            <a:avLst/>
          </a:prstGeom>
          <a:solidFill>
            <a:schemeClr val="lt2"/>
          </a:solidFill>
          <a:ln cap="flat" cmpd="sng" w="11725">
            <a:solidFill>
              <a:srgbClr val="D6DEEA"/>
            </a:solidFill>
            <a:prstDash val="solid"/>
            <a:round/>
            <a:headEnd len="sm" w="sm" type="none"/>
            <a:tailEnd len="sm" w="sm" type="none"/>
          </a:ln>
          <a:effectLst>
            <a:outerShdw blurRad="58665" rotWithShape="0" algn="bl" dir="8100000" dist="23466">
              <a:srgbClr val="000000">
                <a:alpha val="10196"/>
              </a:srgbClr>
            </a:outerShdw>
          </a:effectLst>
        </p:spPr>
        <p:txBody>
          <a:bodyPr anchorCtr="0" anchor="ctr" bIns="84475" lIns="84475" spcFirstLastPara="1" rIns="84475" wrap="square" tIns="844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700" u="none" cap="none" strike="noStrike">
              <a:solidFill>
                <a:srgbClr val="000000"/>
              </a:solidFill>
              <a:latin typeface="Arial"/>
              <a:ea typeface="Arial"/>
              <a:cs typeface="Arial"/>
              <a:sym typeface="Arial"/>
            </a:endParaRPr>
          </a:p>
        </p:txBody>
      </p:sp>
      <p:sp>
        <p:nvSpPr>
          <p:cNvPr id="66" name="Google Shape;66;p5"/>
          <p:cNvSpPr/>
          <p:nvPr/>
        </p:nvSpPr>
        <p:spPr>
          <a:xfrm>
            <a:off x="650750" y="3202574"/>
            <a:ext cx="72000" cy="639300"/>
          </a:xfrm>
          <a:prstGeom prst="rect">
            <a:avLst/>
          </a:prstGeom>
          <a:solidFill>
            <a:schemeClr val="lt2"/>
          </a:solidFill>
          <a:ln>
            <a:noFill/>
          </a:ln>
        </p:spPr>
        <p:txBody>
          <a:bodyPr anchorCtr="0" anchor="ctr" bIns="84475" lIns="84475" spcFirstLastPara="1" rIns="84475" wrap="square" tIns="844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700" u="none" cap="none" strike="noStrike">
              <a:solidFill>
                <a:srgbClr val="000000"/>
              </a:solidFill>
              <a:latin typeface="Arial"/>
              <a:ea typeface="Arial"/>
              <a:cs typeface="Arial"/>
              <a:sym typeface="Arial"/>
            </a:endParaRPr>
          </a:p>
        </p:txBody>
      </p:sp>
      <p:sp>
        <p:nvSpPr>
          <p:cNvPr id="67" name="Google Shape;67;p5"/>
          <p:cNvSpPr/>
          <p:nvPr/>
        </p:nvSpPr>
        <p:spPr>
          <a:xfrm>
            <a:off x="848600" y="3278446"/>
            <a:ext cx="1816200" cy="531000"/>
          </a:xfrm>
          <a:prstGeom prst="rect">
            <a:avLst/>
          </a:prstGeom>
          <a:solidFill>
            <a:schemeClr val="l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1293"/>
              <a:buFont typeface="Calibri"/>
              <a:buNone/>
            </a:pPr>
            <a:r>
              <a:rPr b="1" i="0" lang="en-US" sz="1700" u="none" cap="none" strike="noStrike">
                <a:solidFill>
                  <a:srgbClr val="1A2E4A"/>
                </a:solidFill>
                <a:latin typeface="Calibri"/>
                <a:ea typeface="Calibri"/>
                <a:cs typeface="Calibri"/>
                <a:sym typeface="Calibri"/>
              </a:rPr>
              <a:t>Healthcare</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277"/>
              </a:spcBef>
              <a:spcAft>
                <a:spcPts val="0"/>
              </a:spcAft>
              <a:buClr>
                <a:srgbClr val="1A6B72"/>
              </a:buClr>
              <a:buSzPts val="970"/>
              <a:buFont typeface="Calibri"/>
              <a:buNone/>
            </a:pPr>
            <a:r>
              <a:rPr b="0" i="1" lang="en-US" sz="1700" u="none" cap="none" strike="noStrike">
                <a:solidFill>
                  <a:srgbClr val="1A6B72"/>
                </a:solidFill>
                <a:latin typeface="Calibri"/>
                <a:ea typeface="Calibri"/>
                <a:cs typeface="Calibri"/>
                <a:sym typeface="Calibri"/>
              </a:rPr>
              <a:t>HL7 / FHIR</a:t>
            </a:r>
            <a:endParaRPr b="0" i="0" sz="1700" u="none" cap="none" strike="noStrike">
              <a:solidFill>
                <a:schemeClr val="dk1"/>
              </a:solidFill>
              <a:latin typeface="Calibri"/>
              <a:ea typeface="Calibri"/>
              <a:cs typeface="Calibri"/>
              <a:sym typeface="Calibri"/>
            </a:endParaRPr>
          </a:p>
        </p:txBody>
      </p:sp>
      <p:sp>
        <p:nvSpPr>
          <p:cNvPr id="68" name="Google Shape;68;p5"/>
          <p:cNvSpPr/>
          <p:nvPr/>
        </p:nvSpPr>
        <p:spPr>
          <a:xfrm>
            <a:off x="2805325" y="3256775"/>
            <a:ext cx="3511200" cy="531000"/>
          </a:xfrm>
          <a:prstGeom prst="rect">
            <a:avLst/>
          </a:prstGeom>
          <a:solidFill>
            <a:schemeClr val="l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16"/>
              <a:buFont typeface="Calibri"/>
              <a:buNone/>
            </a:pPr>
            <a:r>
              <a:rPr b="0" i="0" lang="en-US" sz="1700" u="none" cap="none" strike="noStrike">
                <a:solidFill>
                  <a:srgbClr val="4A5568"/>
                </a:solidFill>
                <a:latin typeface="Calibri"/>
                <a:ea typeface="Calibri"/>
                <a:cs typeface="Calibri"/>
                <a:sym typeface="Calibri"/>
              </a:rPr>
              <a:t xml:space="preserve">Each hospital had its own data formats </a:t>
            </a:r>
            <a:endParaRPr b="0" i="0" sz="1700" u="none" cap="none" strike="noStrike">
              <a:solidFill>
                <a:schemeClr val="dk1"/>
              </a:solidFill>
              <a:latin typeface="Calibri"/>
              <a:ea typeface="Calibri"/>
              <a:cs typeface="Calibri"/>
              <a:sym typeface="Calibri"/>
            </a:endParaRPr>
          </a:p>
        </p:txBody>
      </p:sp>
      <p:sp>
        <p:nvSpPr>
          <p:cNvPr id="69" name="Google Shape;69;p5"/>
          <p:cNvSpPr/>
          <p:nvPr/>
        </p:nvSpPr>
        <p:spPr>
          <a:xfrm>
            <a:off x="6316510" y="3202574"/>
            <a:ext cx="449700" cy="639300"/>
          </a:xfrm>
          <a:prstGeom prst="rect">
            <a:avLst/>
          </a:prstGeom>
          <a:solidFill>
            <a:schemeClr val="l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9DA6"/>
              </a:buClr>
              <a:buSzPts val="1663"/>
              <a:buFont typeface="Calibri"/>
              <a:buNone/>
            </a:pPr>
            <a:r>
              <a:rPr b="1" i="0" lang="en-US" sz="1700" u="none" cap="none" strike="noStrike">
                <a:solidFill>
                  <a:srgbClr val="2A9DA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70" name="Google Shape;70;p5"/>
          <p:cNvSpPr/>
          <p:nvPr/>
        </p:nvSpPr>
        <p:spPr>
          <a:xfrm>
            <a:off x="6766174" y="3256763"/>
            <a:ext cx="4406700" cy="531000"/>
          </a:xfrm>
          <a:prstGeom prst="rect">
            <a:avLst/>
          </a:prstGeom>
          <a:solidFill>
            <a:schemeClr val="l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16"/>
              <a:buFont typeface="Calibri"/>
              <a:buNone/>
            </a:pPr>
            <a:r>
              <a:rPr b="0" i="0" lang="en-US" sz="1700" u="none" cap="none" strike="noStrike">
                <a:solidFill>
                  <a:srgbClr val="4A5568"/>
                </a:solidFill>
                <a:latin typeface="Calibri"/>
                <a:ea typeface="Calibri"/>
                <a:cs typeface="Calibri"/>
                <a:sym typeface="Calibri"/>
              </a:rPr>
              <a:t xml:space="preserve">FHIR - data standards </a:t>
            </a:r>
            <a:endParaRPr b="0" i="0" sz="1700" u="none" cap="none" strike="noStrike">
              <a:solidFill>
                <a:schemeClr val="dk1"/>
              </a:solidFill>
              <a:latin typeface="Calibri"/>
              <a:ea typeface="Calibri"/>
              <a:cs typeface="Calibri"/>
              <a:sym typeface="Calibri"/>
            </a:endParaRPr>
          </a:p>
        </p:txBody>
      </p:sp>
      <p:sp>
        <p:nvSpPr>
          <p:cNvPr id="71" name="Google Shape;71;p5"/>
          <p:cNvSpPr/>
          <p:nvPr/>
        </p:nvSpPr>
        <p:spPr>
          <a:xfrm>
            <a:off x="650750" y="3907022"/>
            <a:ext cx="10729200" cy="639300"/>
          </a:xfrm>
          <a:prstGeom prst="rect">
            <a:avLst/>
          </a:prstGeom>
          <a:solidFill>
            <a:schemeClr val="lt2"/>
          </a:solidFill>
          <a:ln cap="flat" cmpd="sng" w="11725">
            <a:solidFill>
              <a:srgbClr val="D6DEEA"/>
            </a:solidFill>
            <a:prstDash val="solid"/>
            <a:round/>
            <a:headEnd len="sm" w="sm" type="none"/>
            <a:tailEnd len="sm" w="sm" type="none"/>
          </a:ln>
          <a:effectLst>
            <a:outerShdw blurRad="58665" rotWithShape="0" algn="bl" dir="8100000" dist="23466">
              <a:srgbClr val="000000">
                <a:alpha val="10196"/>
              </a:srgbClr>
            </a:outerShdw>
          </a:effectLst>
        </p:spPr>
        <p:txBody>
          <a:bodyPr anchorCtr="0" anchor="ctr" bIns="84475" lIns="84475" spcFirstLastPara="1" rIns="84475" wrap="square" tIns="844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700" u="none" cap="none" strike="noStrike">
              <a:solidFill>
                <a:srgbClr val="000000"/>
              </a:solidFill>
              <a:latin typeface="Arial"/>
              <a:ea typeface="Arial"/>
              <a:cs typeface="Arial"/>
              <a:sym typeface="Arial"/>
            </a:endParaRPr>
          </a:p>
        </p:txBody>
      </p:sp>
      <p:sp>
        <p:nvSpPr>
          <p:cNvPr id="72" name="Google Shape;72;p5"/>
          <p:cNvSpPr/>
          <p:nvPr/>
        </p:nvSpPr>
        <p:spPr>
          <a:xfrm>
            <a:off x="650750" y="3907022"/>
            <a:ext cx="72000" cy="639300"/>
          </a:xfrm>
          <a:prstGeom prst="rect">
            <a:avLst/>
          </a:prstGeom>
          <a:solidFill>
            <a:schemeClr val="lt2"/>
          </a:solidFill>
          <a:ln>
            <a:noFill/>
          </a:ln>
        </p:spPr>
        <p:txBody>
          <a:bodyPr anchorCtr="0" anchor="ctr" bIns="84475" lIns="84475" spcFirstLastPara="1" rIns="84475" wrap="square" tIns="844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700" u="none" cap="none" strike="noStrike">
              <a:solidFill>
                <a:srgbClr val="000000"/>
              </a:solidFill>
              <a:latin typeface="Arial"/>
              <a:ea typeface="Arial"/>
              <a:cs typeface="Arial"/>
              <a:sym typeface="Arial"/>
            </a:endParaRPr>
          </a:p>
        </p:txBody>
      </p:sp>
      <p:sp>
        <p:nvSpPr>
          <p:cNvPr id="73" name="Google Shape;73;p5"/>
          <p:cNvSpPr/>
          <p:nvPr/>
        </p:nvSpPr>
        <p:spPr>
          <a:xfrm>
            <a:off x="848600" y="3982878"/>
            <a:ext cx="1724100" cy="531000"/>
          </a:xfrm>
          <a:prstGeom prst="rect">
            <a:avLst/>
          </a:prstGeom>
          <a:solidFill>
            <a:schemeClr val="l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1293"/>
              <a:buFont typeface="Calibri"/>
              <a:buNone/>
            </a:pPr>
            <a:r>
              <a:rPr b="1" i="0" lang="en-US" sz="1700" u="none" cap="none" strike="noStrike">
                <a:solidFill>
                  <a:srgbClr val="1A2E4A"/>
                </a:solidFill>
                <a:latin typeface="Calibri"/>
                <a:ea typeface="Calibri"/>
                <a:cs typeface="Calibri"/>
                <a:sym typeface="Calibri"/>
              </a:rPr>
              <a:t xml:space="preserve">Cloud </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277"/>
              </a:spcBef>
              <a:spcAft>
                <a:spcPts val="0"/>
              </a:spcAft>
              <a:buClr>
                <a:srgbClr val="1A6B72"/>
              </a:buClr>
              <a:buSzPts val="970"/>
              <a:buFont typeface="Calibri"/>
              <a:buNone/>
            </a:pPr>
            <a:r>
              <a:rPr b="0" i="1" lang="en-US" sz="1700" u="none" cap="none" strike="noStrike">
                <a:solidFill>
                  <a:srgbClr val="1A6B72"/>
                </a:solidFill>
                <a:latin typeface="Calibri"/>
                <a:ea typeface="Calibri"/>
                <a:cs typeface="Calibri"/>
                <a:sym typeface="Calibri"/>
              </a:rPr>
              <a:t>CNCF</a:t>
            </a:r>
            <a:endParaRPr b="0" i="0" sz="1700" u="none" cap="none" strike="noStrike">
              <a:solidFill>
                <a:schemeClr val="dk1"/>
              </a:solidFill>
              <a:latin typeface="Calibri"/>
              <a:ea typeface="Calibri"/>
              <a:cs typeface="Calibri"/>
              <a:sym typeface="Calibri"/>
            </a:endParaRPr>
          </a:p>
        </p:txBody>
      </p:sp>
      <p:sp>
        <p:nvSpPr>
          <p:cNvPr id="74" name="Google Shape;74;p5"/>
          <p:cNvSpPr/>
          <p:nvPr/>
        </p:nvSpPr>
        <p:spPr>
          <a:xfrm>
            <a:off x="2805175" y="3961200"/>
            <a:ext cx="3511200" cy="531000"/>
          </a:xfrm>
          <a:prstGeom prst="rect">
            <a:avLst/>
          </a:prstGeom>
          <a:solidFill>
            <a:schemeClr val="l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16"/>
              <a:buFont typeface="Calibri"/>
              <a:buNone/>
            </a:pPr>
            <a:r>
              <a:rPr b="0" i="0" lang="en-US" sz="1700" u="none" cap="none" strike="noStrike">
                <a:solidFill>
                  <a:srgbClr val="4A5568"/>
                </a:solidFill>
                <a:latin typeface="Calibri"/>
                <a:ea typeface="Calibri"/>
                <a:cs typeface="Calibri"/>
                <a:sym typeface="Calibri"/>
              </a:rPr>
              <a:t>Each company had its own way to build and operate software</a:t>
            </a:r>
            <a:endParaRPr b="0" i="0" sz="1700" u="none" cap="none" strike="noStrike">
              <a:solidFill>
                <a:schemeClr val="dk1"/>
              </a:solidFill>
              <a:latin typeface="Calibri"/>
              <a:ea typeface="Calibri"/>
              <a:cs typeface="Calibri"/>
              <a:sym typeface="Calibri"/>
            </a:endParaRPr>
          </a:p>
        </p:txBody>
      </p:sp>
      <p:sp>
        <p:nvSpPr>
          <p:cNvPr id="75" name="Google Shape;75;p5"/>
          <p:cNvSpPr/>
          <p:nvPr/>
        </p:nvSpPr>
        <p:spPr>
          <a:xfrm>
            <a:off x="6316510" y="3907022"/>
            <a:ext cx="449700" cy="639300"/>
          </a:xfrm>
          <a:prstGeom prst="rect">
            <a:avLst/>
          </a:prstGeom>
          <a:solidFill>
            <a:schemeClr val="l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9DA6"/>
              </a:buClr>
              <a:buSzPts val="1663"/>
              <a:buFont typeface="Calibri"/>
              <a:buNone/>
            </a:pPr>
            <a:r>
              <a:rPr b="1" i="0" lang="en-US" sz="1700" u="none" cap="none" strike="noStrike">
                <a:solidFill>
                  <a:srgbClr val="2A9DA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76" name="Google Shape;76;p5"/>
          <p:cNvSpPr/>
          <p:nvPr/>
        </p:nvSpPr>
        <p:spPr>
          <a:xfrm>
            <a:off x="6766174" y="3961210"/>
            <a:ext cx="4406700" cy="531000"/>
          </a:xfrm>
          <a:prstGeom prst="rect">
            <a:avLst/>
          </a:prstGeom>
          <a:solidFill>
            <a:schemeClr val="l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16"/>
              <a:buFont typeface="Calibri"/>
              <a:buNone/>
            </a:pPr>
            <a:r>
              <a:rPr b="0" i="0" lang="en-US" sz="1700" u="none" cap="none" strike="noStrike">
                <a:solidFill>
                  <a:srgbClr val="4A5568"/>
                </a:solidFill>
                <a:latin typeface="Calibri"/>
                <a:ea typeface="Calibri"/>
                <a:cs typeface="Calibri"/>
                <a:sym typeface="Calibri"/>
              </a:rPr>
              <a:t>CNCF - shared standards &amp; certification</a:t>
            </a:r>
            <a:endParaRPr b="0" i="0" sz="1700" u="none" cap="none" strike="noStrike">
              <a:solidFill>
                <a:schemeClr val="dk1"/>
              </a:solidFill>
              <a:latin typeface="Calibri"/>
              <a:ea typeface="Calibri"/>
              <a:cs typeface="Calibri"/>
              <a:sym typeface="Calibri"/>
            </a:endParaRPr>
          </a:p>
        </p:txBody>
      </p:sp>
      <p:sp>
        <p:nvSpPr>
          <p:cNvPr id="77" name="Google Shape;77;p5"/>
          <p:cNvSpPr/>
          <p:nvPr/>
        </p:nvSpPr>
        <p:spPr>
          <a:xfrm>
            <a:off x="650750" y="4611470"/>
            <a:ext cx="10729200" cy="639300"/>
          </a:xfrm>
          <a:prstGeom prst="rect">
            <a:avLst/>
          </a:prstGeom>
          <a:solidFill>
            <a:schemeClr val="lt2"/>
          </a:solidFill>
          <a:ln cap="flat" cmpd="sng" w="11725">
            <a:solidFill>
              <a:srgbClr val="D6DEEA"/>
            </a:solidFill>
            <a:prstDash val="solid"/>
            <a:round/>
            <a:headEnd len="sm" w="sm" type="none"/>
            <a:tailEnd len="sm" w="sm" type="none"/>
          </a:ln>
          <a:effectLst>
            <a:outerShdw blurRad="58665" rotWithShape="0" algn="bl" dir="8100000" dist="23466">
              <a:srgbClr val="000000">
                <a:alpha val="10196"/>
              </a:srgbClr>
            </a:outerShdw>
          </a:effectLst>
        </p:spPr>
        <p:txBody>
          <a:bodyPr anchorCtr="0" anchor="ctr" bIns="84475" lIns="84475" spcFirstLastPara="1" rIns="84475" wrap="square" tIns="844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700" u="none" cap="none" strike="noStrike">
              <a:solidFill>
                <a:srgbClr val="000000"/>
              </a:solidFill>
              <a:latin typeface="Arial"/>
              <a:ea typeface="Arial"/>
              <a:cs typeface="Arial"/>
              <a:sym typeface="Arial"/>
            </a:endParaRPr>
          </a:p>
        </p:txBody>
      </p:sp>
      <p:sp>
        <p:nvSpPr>
          <p:cNvPr id="78" name="Google Shape;78;p5"/>
          <p:cNvSpPr/>
          <p:nvPr/>
        </p:nvSpPr>
        <p:spPr>
          <a:xfrm>
            <a:off x="650750" y="4611470"/>
            <a:ext cx="72000" cy="639300"/>
          </a:xfrm>
          <a:prstGeom prst="rect">
            <a:avLst/>
          </a:prstGeom>
          <a:solidFill>
            <a:schemeClr val="lt2"/>
          </a:solidFill>
          <a:ln>
            <a:noFill/>
          </a:ln>
        </p:spPr>
        <p:txBody>
          <a:bodyPr anchorCtr="0" anchor="ctr" bIns="84475" lIns="84475" spcFirstLastPara="1" rIns="84475" wrap="square" tIns="844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700" u="none" cap="none" strike="noStrike">
              <a:solidFill>
                <a:srgbClr val="000000"/>
              </a:solidFill>
              <a:latin typeface="Arial"/>
              <a:ea typeface="Arial"/>
              <a:cs typeface="Arial"/>
              <a:sym typeface="Arial"/>
            </a:endParaRPr>
          </a:p>
        </p:txBody>
      </p:sp>
      <p:sp>
        <p:nvSpPr>
          <p:cNvPr id="79" name="Google Shape;79;p5"/>
          <p:cNvSpPr/>
          <p:nvPr/>
        </p:nvSpPr>
        <p:spPr>
          <a:xfrm>
            <a:off x="848600" y="4687332"/>
            <a:ext cx="1724100" cy="531000"/>
          </a:xfrm>
          <a:prstGeom prst="rect">
            <a:avLst/>
          </a:prstGeom>
          <a:solidFill>
            <a:schemeClr val="l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1293"/>
              <a:buFont typeface="Calibri"/>
              <a:buNone/>
            </a:pPr>
            <a:r>
              <a:rPr b="1" i="0" lang="en-US" sz="1700" u="none" cap="none" strike="noStrike">
                <a:solidFill>
                  <a:srgbClr val="1A2E4A"/>
                </a:solidFill>
                <a:latin typeface="Calibri"/>
                <a:ea typeface="Calibri"/>
                <a:cs typeface="Calibri"/>
                <a:sym typeface="Calibri"/>
              </a:rPr>
              <a:t xml:space="preserve">Benefits </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277"/>
              </a:spcBef>
              <a:spcAft>
                <a:spcPts val="0"/>
              </a:spcAft>
              <a:buClr>
                <a:srgbClr val="1A6B72"/>
              </a:buClr>
              <a:buSzPts val="970"/>
              <a:buFont typeface="Calibri"/>
              <a:buNone/>
            </a:pPr>
            <a:r>
              <a:rPr b="0" i="1" lang="en-US" sz="1700" u="none" cap="none" strike="noStrike">
                <a:solidFill>
                  <a:srgbClr val="1A6B72"/>
                </a:solidFill>
                <a:latin typeface="Calibri"/>
                <a:ea typeface="Calibri"/>
                <a:cs typeface="Calibri"/>
                <a:sym typeface="Calibri"/>
              </a:rPr>
              <a:t>CfA Playbooks</a:t>
            </a:r>
            <a:endParaRPr b="0" i="0" sz="1700" u="none" cap="none" strike="noStrike">
              <a:solidFill>
                <a:schemeClr val="dk1"/>
              </a:solidFill>
              <a:latin typeface="Calibri"/>
              <a:ea typeface="Calibri"/>
              <a:cs typeface="Calibri"/>
              <a:sym typeface="Calibri"/>
            </a:endParaRPr>
          </a:p>
        </p:txBody>
      </p:sp>
      <p:sp>
        <p:nvSpPr>
          <p:cNvPr id="80" name="Google Shape;80;p5"/>
          <p:cNvSpPr/>
          <p:nvPr/>
        </p:nvSpPr>
        <p:spPr>
          <a:xfrm>
            <a:off x="2805175" y="4665658"/>
            <a:ext cx="3421500" cy="531000"/>
          </a:xfrm>
          <a:prstGeom prst="rect">
            <a:avLst/>
          </a:prstGeom>
          <a:solidFill>
            <a:schemeClr val="l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16"/>
              <a:buFont typeface="Calibri"/>
              <a:buNone/>
            </a:pPr>
            <a:r>
              <a:rPr b="0" i="0" lang="en-US" sz="1700" u="none" cap="none" strike="noStrike">
                <a:solidFill>
                  <a:srgbClr val="4A5568"/>
                </a:solidFill>
                <a:latin typeface="Calibri"/>
                <a:ea typeface="Calibri"/>
                <a:cs typeface="Calibri"/>
                <a:sym typeface="Calibri"/>
              </a:rPr>
              <a:t>Each state built its own benefits intake from scratch</a:t>
            </a:r>
            <a:endParaRPr b="0" i="0" sz="1700" u="none" cap="none" strike="noStrike">
              <a:solidFill>
                <a:schemeClr val="dk1"/>
              </a:solidFill>
              <a:latin typeface="Calibri"/>
              <a:ea typeface="Calibri"/>
              <a:cs typeface="Calibri"/>
              <a:sym typeface="Calibri"/>
            </a:endParaRPr>
          </a:p>
        </p:txBody>
      </p:sp>
      <p:sp>
        <p:nvSpPr>
          <p:cNvPr id="81" name="Google Shape;81;p5"/>
          <p:cNvSpPr/>
          <p:nvPr/>
        </p:nvSpPr>
        <p:spPr>
          <a:xfrm>
            <a:off x="6316510" y="4611470"/>
            <a:ext cx="449700" cy="639300"/>
          </a:xfrm>
          <a:prstGeom prst="rect">
            <a:avLst/>
          </a:prstGeom>
          <a:solidFill>
            <a:schemeClr val="l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9DA6"/>
              </a:buClr>
              <a:buSzPts val="1663"/>
              <a:buFont typeface="Calibri"/>
              <a:buNone/>
            </a:pPr>
            <a:r>
              <a:rPr b="1" i="0" lang="en-US" sz="1700" u="none" cap="none" strike="noStrike">
                <a:solidFill>
                  <a:srgbClr val="2A9DA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82" name="Google Shape;82;p5"/>
          <p:cNvSpPr/>
          <p:nvPr/>
        </p:nvSpPr>
        <p:spPr>
          <a:xfrm>
            <a:off x="6766175" y="4665658"/>
            <a:ext cx="4500900" cy="531000"/>
          </a:xfrm>
          <a:prstGeom prst="rect">
            <a:avLst/>
          </a:prstGeom>
          <a:solidFill>
            <a:schemeClr val="l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16"/>
              <a:buFont typeface="Calibri"/>
              <a:buNone/>
            </a:pPr>
            <a:r>
              <a:rPr b="0" i="0" lang="en-US" sz="1700" u="none" cap="none" strike="noStrike">
                <a:solidFill>
                  <a:srgbClr val="4A5568"/>
                </a:solidFill>
                <a:latin typeface="Calibri"/>
                <a:ea typeface="Calibri"/>
                <a:cs typeface="Calibri"/>
                <a:sym typeface="Calibri"/>
              </a:rPr>
              <a:t>Code for America - reusable playbooks</a:t>
            </a:r>
            <a:endParaRPr b="0" i="0" sz="1700" u="none" cap="none" strike="noStrike">
              <a:solidFill>
                <a:schemeClr val="dk1"/>
              </a:solidFill>
              <a:latin typeface="Calibri"/>
              <a:ea typeface="Calibri"/>
              <a:cs typeface="Calibri"/>
              <a:sym typeface="Calibri"/>
            </a:endParaRPr>
          </a:p>
        </p:txBody>
      </p:sp>
      <p:sp>
        <p:nvSpPr>
          <p:cNvPr id="83" name="Google Shape;83;p5"/>
          <p:cNvSpPr/>
          <p:nvPr/>
        </p:nvSpPr>
        <p:spPr>
          <a:xfrm>
            <a:off x="650750" y="5384944"/>
            <a:ext cx="10729200" cy="639300"/>
          </a:xfrm>
          <a:prstGeom prst="rect">
            <a:avLst/>
          </a:prstGeom>
          <a:solidFill>
            <a:srgbClr val="1A2E4A"/>
          </a:solidFill>
          <a:ln cap="flat" cmpd="sng" w="11725">
            <a:solidFill>
              <a:srgbClr val="D6DEEA"/>
            </a:solidFill>
            <a:prstDash val="solid"/>
            <a:round/>
            <a:headEnd len="sm" w="sm" type="none"/>
            <a:tailEnd len="sm" w="sm" type="none"/>
          </a:ln>
          <a:effectLst>
            <a:outerShdw blurRad="58665" rotWithShape="0" algn="bl" dir="8100000" dist="23466">
              <a:srgbClr val="000000">
                <a:alpha val="10196"/>
              </a:srgbClr>
            </a:outerShdw>
          </a:effectLst>
        </p:spPr>
        <p:txBody>
          <a:bodyPr anchorCtr="0" anchor="ctr" bIns="84475" lIns="84475" spcFirstLastPara="1" rIns="84475" wrap="square" tIns="844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700" u="none" cap="none" strike="noStrike">
              <a:solidFill>
                <a:srgbClr val="000000"/>
              </a:solidFill>
              <a:latin typeface="Arial"/>
              <a:ea typeface="Arial"/>
              <a:cs typeface="Arial"/>
              <a:sym typeface="Arial"/>
            </a:endParaRPr>
          </a:p>
        </p:txBody>
      </p:sp>
      <p:sp>
        <p:nvSpPr>
          <p:cNvPr id="84" name="Google Shape;84;p5"/>
          <p:cNvSpPr/>
          <p:nvPr/>
        </p:nvSpPr>
        <p:spPr>
          <a:xfrm>
            <a:off x="650750" y="5384944"/>
            <a:ext cx="72000" cy="639300"/>
          </a:xfrm>
          <a:prstGeom prst="rect">
            <a:avLst/>
          </a:prstGeom>
          <a:solidFill>
            <a:srgbClr val="2A9DA6"/>
          </a:solidFill>
          <a:ln>
            <a:noFill/>
          </a:ln>
        </p:spPr>
        <p:txBody>
          <a:bodyPr anchorCtr="0" anchor="ctr" bIns="84475" lIns="84475" spcFirstLastPara="1" rIns="84475" wrap="square" tIns="844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700" u="none" cap="none" strike="noStrike">
              <a:solidFill>
                <a:srgbClr val="000000"/>
              </a:solidFill>
              <a:latin typeface="Arial"/>
              <a:ea typeface="Arial"/>
              <a:cs typeface="Arial"/>
              <a:sym typeface="Arial"/>
            </a:endParaRPr>
          </a:p>
        </p:txBody>
      </p:sp>
      <p:sp>
        <p:nvSpPr>
          <p:cNvPr id="85" name="Google Shape;85;p5"/>
          <p:cNvSpPr/>
          <p:nvPr/>
        </p:nvSpPr>
        <p:spPr>
          <a:xfrm>
            <a:off x="848600" y="5460813"/>
            <a:ext cx="1816200" cy="53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93"/>
              <a:buFont typeface="Calibri"/>
              <a:buNone/>
            </a:pPr>
            <a:r>
              <a:rPr b="1" i="0" lang="en-US" sz="1700" u="none" cap="none" strike="noStrike">
                <a:solidFill>
                  <a:srgbClr val="FFFFFF"/>
                </a:solidFill>
                <a:latin typeface="Calibri"/>
                <a:ea typeface="Calibri"/>
                <a:cs typeface="Calibri"/>
                <a:sym typeface="Calibri"/>
              </a:rPr>
              <a:t>Civil Justice</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277"/>
              </a:spcBef>
              <a:spcAft>
                <a:spcPts val="0"/>
              </a:spcAft>
              <a:buClr>
                <a:srgbClr val="2A9DA6"/>
              </a:buClr>
              <a:buSzPts val="970"/>
              <a:buFont typeface="Calibri"/>
              <a:buNone/>
            </a:pPr>
            <a:r>
              <a:rPr b="0" i="1" lang="en-US" sz="1700" u="none" cap="none" strike="noStrike">
                <a:solidFill>
                  <a:srgbClr val="2A9DA6"/>
                </a:solidFill>
                <a:latin typeface="Calibri"/>
                <a:ea typeface="Calibri"/>
                <a:cs typeface="Calibri"/>
                <a:sym typeface="Calibri"/>
              </a:rPr>
              <a:t>Claude for Legal</a:t>
            </a:r>
            <a:endParaRPr b="0" i="0" sz="1700" u="none" cap="none" strike="noStrike">
              <a:solidFill>
                <a:schemeClr val="dk1"/>
              </a:solidFill>
              <a:latin typeface="Calibri"/>
              <a:ea typeface="Calibri"/>
              <a:cs typeface="Calibri"/>
              <a:sym typeface="Calibri"/>
            </a:endParaRPr>
          </a:p>
        </p:txBody>
      </p:sp>
      <p:sp>
        <p:nvSpPr>
          <p:cNvPr id="86" name="Google Shape;86;p5"/>
          <p:cNvSpPr/>
          <p:nvPr/>
        </p:nvSpPr>
        <p:spPr>
          <a:xfrm>
            <a:off x="2805175" y="5439140"/>
            <a:ext cx="3421500" cy="53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16"/>
              <a:buFont typeface="Calibri"/>
              <a:buNone/>
            </a:pPr>
            <a:r>
              <a:rPr b="1" i="0" lang="en-US" sz="1700" u="none" cap="none" strike="noStrike">
                <a:solidFill>
                  <a:schemeClr val="lt1"/>
                </a:solidFill>
                <a:latin typeface="Calibri"/>
                <a:ea typeface="Calibri"/>
                <a:cs typeface="Calibri"/>
                <a:sym typeface="Calibri"/>
              </a:rPr>
              <a:t>Every agency builds legal-help AI from scratch</a:t>
            </a:r>
            <a:endParaRPr b="1" i="0" sz="1700" u="none" cap="none" strike="noStrike">
              <a:solidFill>
                <a:schemeClr val="lt1"/>
              </a:solidFill>
              <a:latin typeface="Calibri"/>
              <a:ea typeface="Calibri"/>
              <a:cs typeface="Calibri"/>
              <a:sym typeface="Calibri"/>
            </a:endParaRPr>
          </a:p>
        </p:txBody>
      </p:sp>
      <p:sp>
        <p:nvSpPr>
          <p:cNvPr id="87" name="Google Shape;87;p5"/>
          <p:cNvSpPr/>
          <p:nvPr/>
        </p:nvSpPr>
        <p:spPr>
          <a:xfrm>
            <a:off x="6316510" y="5384944"/>
            <a:ext cx="449700" cy="63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9DA6"/>
              </a:buClr>
              <a:buSzPts val="1663"/>
              <a:buFont typeface="Calibri"/>
              <a:buNone/>
            </a:pPr>
            <a:r>
              <a:rPr b="1" i="0" lang="en-US" sz="1700" u="none" cap="none" strike="noStrike">
                <a:solidFill>
                  <a:srgbClr val="2A9DA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88" name="Google Shape;88;p5"/>
          <p:cNvSpPr/>
          <p:nvPr/>
        </p:nvSpPr>
        <p:spPr>
          <a:xfrm>
            <a:off x="6766174" y="5439132"/>
            <a:ext cx="4406700" cy="53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16"/>
              <a:buFont typeface="Calibri"/>
              <a:buNone/>
            </a:pPr>
            <a:r>
              <a:rPr b="1" i="0" lang="en-US" sz="1700" u="none" cap="none" strike="noStrike">
                <a:solidFill>
                  <a:srgbClr val="FFFFFF"/>
                </a:solidFill>
                <a:latin typeface="Calibri"/>
                <a:ea typeface="Calibri"/>
                <a:cs typeface="Calibri"/>
                <a:sym typeface="Calibri"/>
              </a:rPr>
              <a:t xml:space="preserve">Anthropic - shared legal infrastructure. Other AI models likely to follow. </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93" name="Shape 93"/>
        <p:cNvGrpSpPr/>
        <p:nvPr/>
      </p:nvGrpSpPr>
      <p:grpSpPr>
        <a:xfrm>
          <a:off x="0" y="0"/>
          <a:ext cx="0" cy="0"/>
          <a:chOff x="0" y="0"/>
          <a:chExt cx="0" cy="0"/>
        </a:xfrm>
      </p:grpSpPr>
      <p:sp>
        <p:nvSpPr>
          <p:cNvPr id="94" name="Google Shape;94;p6"/>
          <p:cNvSpPr/>
          <p:nvPr/>
        </p:nvSpPr>
        <p:spPr>
          <a:xfrm>
            <a:off x="640080" y="313788"/>
            <a:ext cx="10881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 xml:space="preserve">POWERFUL NEW LEGAL AI INFRASTRUCTURE </a:t>
            </a:r>
            <a:endParaRPr b="0" i="0" sz="1800" u="none" cap="none" strike="noStrike">
              <a:solidFill>
                <a:schemeClr val="dk1"/>
              </a:solidFill>
              <a:latin typeface="Calibri"/>
              <a:ea typeface="Calibri"/>
              <a:cs typeface="Calibri"/>
              <a:sym typeface="Calibri"/>
            </a:endParaRPr>
          </a:p>
        </p:txBody>
      </p:sp>
      <p:sp>
        <p:nvSpPr>
          <p:cNvPr id="95" name="Google Shape;95;p6"/>
          <p:cNvSpPr/>
          <p:nvPr/>
        </p:nvSpPr>
        <p:spPr>
          <a:xfrm>
            <a:off x="640080" y="713232"/>
            <a:ext cx="111556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Shared nonprofit legal AI infrastructure</a:t>
            </a:r>
            <a:endParaRPr b="0" i="0" sz="2400" u="none" cap="none" strike="noStrike">
              <a:solidFill>
                <a:schemeClr val="dk1"/>
              </a:solidFill>
              <a:latin typeface="Calibri"/>
              <a:ea typeface="Calibri"/>
              <a:cs typeface="Calibri"/>
              <a:sym typeface="Calibri"/>
            </a:endParaRPr>
          </a:p>
        </p:txBody>
      </p:sp>
      <p:sp>
        <p:nvSpPr>
          <p:cNvPr id="96" name="Google Shape;96;p6"/>
          <p:cNvSpPr/>
          <p:nvPr/>
        </p:nvSpPr>
        <p:spPr>
          <a:xfrm>
            <a:off x="489204" y="1691640"/>
            <a:ext cx="203362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000"/>
              <a:buFont typeface="Calibri"/>
              <a:buNone/>
            </a:pPr>
            <a:r>
              <a:rPr b="1" i="0" lang="en-US" sz="1000" u="none" cap="none" strike="noStrike">
                <a:solidFill>
                  <a:srgbClr val="8FA8CC"/>
                </a:solidFill>
                <a:latin typeface="Calibri"/>
                <a:ea typeface="Calibri"/>
                <a:cs typeface="Calibri"/>
                <a:sym typeface="Calibri"/>
              </a:rPr>
              <a:t>AUTHORITATIVE LAW</a:t>
            </a:r>
            <a:endParaRPr b="0" i="0" sz="1000" u="none" cap="none" strike="noStrike">
              <a:solidFill>
                <a:schemeClr val="dk1"/>
              </a:solidFill>
              <a:latin typeface="Calibri"/>
              <a:ea typeface="Calibri"/>
              <a:cs typeface="Calibri"/>
              <a:sym typeface="Calibri"/>
            </a:endParaRPr>
          </a:p>
        </p:txBody>
      </p:sp>
      <p:sp>
        <p:nvSpPr>
          <p:cNvPr id="97" name="Google Shape;97;p6"/>
          <p:cNvSpPr/>
          <p:nvPr/>
        </p:nvSpPr>
        <p:spPr>
          <a:xfrm>
            <a:off x="489204" y="2002536"/>
            <a:ext cx="2033626" cy="630022"/>
          </a:xfrm>
          <a:prstGeom prst="rect">
            <a:avLst/>
          </a:prstGeom>
          <a:solidFill>
            <a:srgbClr val="0D11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8" name="Google Shape;98;p6"/>
          <p:cNvPicPr preferRelativeResize="0"/>
          <p:nvPr/>
        </p:nvPicPr>
        <p:blipFill rotWithShape="1">
          <a:blip r:embed="rId3">
            <a:alphaModFix/>
          </a:blip>
          <a:srcRect b="0" l="0" r="0" t="0"/>
          <a:stretch/>
        </p:blipFill>
        <p:spPr>
          <a:xfrm>
            <a:off x="659282" y="2157984"/>
            <a:ext cx="329184" cy="329184"/>
          </a:xfrm>
          <a:prstGeom prst="rect">
            <a:avLst/>
          </a:prstGeom>
          <a:noFill/>
          <a:ln>
            <a:noFill/>
          </a:ln>
        </p:spPr>
      </p:pic>
      <p:sp>
        <p:nvSpPr>
          <p:cNvPr id="99" name="Google Shape;99;p6"/>
          <p:cNvSpPr/>
          <p:nvPr/>
        </p:nvSpPr>
        <p:spPr>
          <a:xfrm>
            <a:off x="1075334" y="2103120"/>
            <a:ext cx="1371600" cy="4261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Statutes</a:t>
            </a:r>
            <a:endParaRPr b="0" i="0" sz="1300" u="none" cap="none" strike="noStrike">
              <a:solidFill>
                <a:schemeClr val="dk1"/>
              </a:solidFill>
              <a:latin typeface="Calibri"/>
              <a:ea typeface="Calibri"/>
              <a:cs typeface="Calibri"/>
              <a:sym typeface="Calibri"/>
            </a:endParaRPr>
          </a:p>
        </p:txBody>
      </p:sp>
      <p:sp>
        <p:nvSpPr>
          <p:cNvPr id="100" name="Google Shape;100;p6"/>
          <p:cNvSpPr/>
          <p:nvPr/>
        </p:nvSpPr>
        <p:spPr>
          <a:xfrm>
            <a:off x="489204" y="2794406"/>
            <a:ext cx="2033626" cy="630022"/>
          </a:xfrm>
          <a:prstGeom prst="rect">
            <a:avLst/>
          </a:prstGeom>
          <a:solidFill>
            <a:srgbClr val="0D11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1" name="Google Shape;101;p6"/>
          <p:cNvPicPr preferRelativeResize="0"/>
          <p:nvPr/>
        </p:nvPicPr>
        <p:blipFill rotWithShape="1">
          <a:blip r:embed="rId4">
            <a:alphaModFix/>
          </a:blip>
          <a:srcRect b="0" l="0" r="0" t="0"/>
          <a:stretch/>
        </p:blipFill>
        <p:spPr>
          <a:xfrm>
            <a:off x="659282" y="2949854"/>
            <a:ext cx="329184" cy="329184"/>
          </a:xfrm>
          <a:prstGeom prst="rect">
            <a:avLst/>
          </a:prstGeom>
          <a:noFill/>
          <a:ln>
            <a:noFill/>
          </a:ln>
        </p:spPr>
      </p:pic>
      <p:sp>
        <p:nvSpPr>
          <p:cNvPr id="102" name="Google Shape;102;p6"/>
          <p:cNvSpPr/>
          <p:nvPr/>
        </p:nvSpPr>
        <p:spPr>
          <a:xfrm>
            <a:off x="1075334" y="2894990"/>
            <a:ext cx="1371600" cy="4261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Case law</a:t>
            </a:r>
            <a:endParaRPr b="0" i="0" sz="1300" u="none" cap="none" strike="noStrike">
              <a:solidFill>
                <a:schemeClr val="dk1"/>
              </a:solidFill>
              <a:latin typeface="Calibri"/>
              <a:ea typeface="Calibri"/>
              <a:cs typeface="Calibri"/>
              <a:sym typeface="Calibri"/>
            </a:endParaRPr>
          </a:p>
        </p:txBody>
      </p:sp>
      <p:sp>
        <p:nvSpPr>
          <p:cNvPr id="103" name="Google Shape;103;p6"/>
          <p:cNvSpPr/>
          <p:nvPr/>
        </p:nvSpPr>
        <p:spPr>
          <a:xfrm>
            <a:off x="489204" y="3586277"/>
            <a:ext cx="2033626" cy="630022"/>
          </a:xfrm>
          <a:prstGeom prst="rect">
            <a:avLst/>
          </a:prstGeom>
          <a:solidFill>
            <a:srgbClr val="0D11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4" name="Google Shape;104;p6"/>
          <p:cNvPicPr preferRelativeResize="0"/>
          <p:nvPr/>
        </p:nvPicPr>
        <p:blipFill rotWithShape="1">
          <a:blip r:embed="rId5">
            <a:alphaModFix/>
          </a:blip>
          <a:srcRect b="0" l="0" r="0" t="0"/>
          <a:stretch/>
        </p:blipFill>
        <p:spPr>
          <a:xfrm>
            <a:off x="659282" y="3741725"/>
            <a:ext cx="329184" cy="329184"/>
          </a:xfrm>
          <a:prstGeom prst="rect">
            <a:avLst/>
          </a:prstGeom>
          <a:noFill/>
          <a:ln>
            <a:noFill/>
          </a:ln>
        </p:spPr>
      </p:pic>
      <p:sp>
        <p:nvSpPr>
          <p:cNvPr id="105" name="Google Shape;105;p6"/>
          <p:cNvSpPr/>
          <p:nvPr/>
        </p:nvSpPr>
        <p:spPr>
          <a:xfrm>
            <a:off x="1075334" y="3686861"/>
            <a:ext cx="1371600" cy="4261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Court systems</a:t>
            </a:r>
            <a:endParaRPr b="0" i="0" sz="1300" u="none" cap="none" strike="noStrike">
              <a:solidFill>
                <a:schemeClr val="dk1"/>
              </a:solidFill>
              <a:latin typeface="Calibri"/>
              <a:ea typeface="Calibri"/>
              <a:cs typeface="Calibri"/>
              <a:sym typeface="Calibri"/>
            </a:endParaRPr>
          </a:p>
        </p:txBody>
      </p:sp>
      <p:sp>
        <p:nvSpPr>
          <p:cNvPr id="106" name="Google Shape;106;p6"/>
          <p:cNvSpPr/>
          <p:nvPr/>
        </p:nvSpPr>
        <p:spPr>
          <a:xfrm>
            <a:off x="3319275" y="1979675"/>
            <a:ext cx="3985800" cy="929100"/>
          </a:xfrm>
          <a:prstGeom prst="rect">
            <a:avLst/>
          </a:prstGeom>
          <a:solidFill>
            <a:srgbClr val="22395C"/>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6"/>
          <p:cNvSpPr/>
          <p:nvPr/>
        </p:nvSpPr>
        <p:spPr>
          <a:xfrm>
            <a:off x="3319272" y="1969285"/>
            <a:ext cx="3985800" cy="915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6"/>
          <p:cNvSpPr/>
          <p:nvPr/>
        </p:nvSpPr>
        <p:spPr>
          <a:xfrm>
            <a:off x="3937406" y="2107692"/>
            <a:ext cx="3200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600" u="none" cap="none" strike="noStrike">
                <a:solidFill>
                  <a:srgbClr val="FFFFFF"/>
                </a:solidFill>
                <a:latin typeface="Calibri"/>
                <a:ea typeface="Calibri"/>
                <a:cs typeface="Calibri"/>
                <a:sym typeface="Calibri"/>
              </a:rPr>
              <a:t>Connectors</a:t>
            </a:r>
            <a:endParaRPr b="0" i="0" sz="1600" u="none" cap="none" strike="noStrike">
              <a:solidFill>
                <a:schemeClr val="dk1"/>
              </a:solidFill>
              <a:latin typeface="Calibri"/>
              <a:ea typeface="Calibri"/>
              <a:cs typeface="Calibri"/>
              <a:sym typeface="Calibri"/>
            </a:endParaRPr>
          </a:p>
        </p:txBody>
      </p:sp>
      <p:sp>
        <p:nvSpPr>
          <p:cNvPr id="109" name="Google Shape;109;p6"/>
          <p:cNvSpPr/>
          <p:nvPr/>
        </p:nvSpPr>
        <p:spPr>
          <a:xfrm>
            <a:off x="3937400" y="2400300"/>
            <a:ext cx="3108900" cy="42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50"/>
              <a:buFont typeface="Calibri"/>
              <a:buNone/>
            </a:pPr>
            <a:r>
              <a:rPr b="1" i="0" lang="en-US" sz="1400" u="none" cap="none" strike="noStrike">
                <a:solidFill>
                  <a:srgbClr val="CADCFC"/>
                </a:solidFill>
                <a:latin typeface="Calibri"/>
                <a:ea typeface="Calibri"/>
                <a:cs typeface="Calibri"/>
                <a:sym typeface="Calibri"/>
              </a:rPr>
              <a:t>Live, deterministic lookups — the law as it is today.</a:t>
            </a:r>
            <a:endParaRPr b="1" i="0" sz="1400" u="none" cap="none" strike="noStrike">
              <a:solidFill>
                <a:schemeClr val="dk1"/>
              </a:solidFill>
              <a:latin typeface="Calibri"/>
              <a:ea typeface="Calibri"/>
              <a:cs typeface="Calibri"/>
              <a:sym typeface="Calibri"/>
            </a:endParaRPr>
          </a:p>
        </p:txBody>
      </p:sp>
      <p:sp>
        <p:nvSpPr>
          <p:cNvPr id="110" name="Google Shape;110;p6"/>
          <p:cNvSpPr/>
          <p:nvPr/>
        </p:nvSpPr>
        <p:spPr>
          <a:xfrm>
            <a:off x="3316100" y="3153676"/>
            <a:ext cx="3985800" cy="31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6"/>
          <p:cNvSpPr/>
          <p:nvPr/>
        </p:nvSpPr>
        <p:spPr>
          <a:xfrm>
            <a:off x="3316100" y="3557375"/>
            <a:ext cx="3985800" cy="822900"/>
          </a:xfrm>
          <a:prstGeom prst="rect">
            <a:avLst/>
          </a:prstGeom>
          <a:solidFill>
            <a:srgbClr val="22395C"/>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6"/>
          <p:cNvSpPr/>
          <p:nvPr/>
        </p:nvSpPr>
        <p:spPr>
          <a:xfrm>
            <a:off x="3319272" y="3712464"/>
            <a:ext cx="3985800" cy="915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3" name="Google Shape;113;p6"/>
          <p:cNvPicPr preferRelativeResize="0"/>
          <p:nvPr/>
        </p:nvPicPr>
        <p:blipFill rotWithShape="1">
          <a:blip r:embed="rId6">
            <a:alphaModFix/>
          </a:blip>
          <a:srcRect b="0" l="0" r="0" t="0"/>
          <a:stretch/>
        </p:blipFill>
        <p:spPr>
          <a:xfrm>
            <a:off x="3499409" y="3986784"/>
            <a:ext cx="310896" cy="310896"/>
          </a:xfrm>
          <a:prstGeom prst="rect">
            <a:avLst/>
          </a:prstGeom>
          <a:noFill/>
          <a:ln>
            <a:noFill/>
          </a:ln>
        </p:spPr>
      </p:pic>
      <p:sp>
        <p:nvSpPr>
          <p:cNvPr id="114" name="Google Shape;114;p6"/>
          <p:cNvSpPr/>
          <p:nvPr/>
        </p:nvSpPr>
        <p:spPr>
          <a:xfrm>
            <a:off x="3937406" y="3840480"/>
            <a:ext cx="320040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600" u="none" cap="none" strike="noStrike">
                <a:solidFill>
                  <a:srgbClr val="FFFFFF"/>
                </a:solidFill>
                <a:latin typeface="Calibri"/>
                <a:ea typeface="Calibri"/>
                <a:cs typeface="Calibri"/>
                <a:sym typeface="Calibri"/>
              </a:rPr>
              <a:t>Skills &amp; plugins</a:t>
            </a:r>
            <a:endParaRPr b="0" i="0" sz="1600" u="none" cap="none" strike="noStrike">
              <a:solidFill>
                <a:schemeClr val="dk1"/>
              </a:solidFill>
              <a:latin typeface="Calibri"/>
              <a:ea typeface="Calibri"/>
              <a:cs typeface="Calibri"/>
              <a:sym typeface="Calibri"/>
            </a:endParaRPr>
          </a:p>
        </p:txBody>
      </p:sp>
      <p:sp>
        <p:nvSpPr>
          <p:cNvPr id="115" name="Google Shape;115;p6"/>
          <p:cNvSpPr/>
          <p:nvPr/>
        </p:nvSpPr>
        <p:spPr>
          <a:xfrm>
            <a:off x="3937406" y="4133088"/>
            <a:ext cx="310896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50"/>
              <a:buFont typeface="Calibri"/>
              <a:buNone/>
            </a:pPr>
            <a:r>
              <a:rPr b="1" i="0" lang="en-US" sz="1200" u="none" cap="none" strike="noStrike">
                <a:solidFill>
                  <a:srgbClr val="CADCFC"/>
                </a:solidFill>
                <a:latin typeface="Calibri"/>
                <a:ea typeface="Calibri"/>
                <a:cs typeface="Calibri"/>
                <a:sym typeface="Calibri"/>
              </a:rPr>
              <a:t>Workflows: intake, eligibility, drafting, deadlines.</a:t>
            </a:r>
            <a:endParaRPr b="1" i="0" sz="1200" u="none" cap="none" strike="noStrike">
              <a:solidFill>
                <a:schemeClr val="dk1"/>
              </a:solidFill>
              <a:latin typeface="Calibri"/>
              <a:ea typeface="Calibri"/>
              <a:cs typeface="Calibri"/>
              <a:sym typeface="Calibri"/>
            </a:endParaRPr>
          </a:p>
        </p:txBody>
      </p:sp>
      <p:sp>
        <p:nvSpPr>
          <p:cNvPr id="116" name="Google Shape;116;p6"/>
          <p:cNvSpPr/>
          <p:nvPr/>
        </p:nvSpPr>
        <p:spPr>
          <a:xfrm>
            <a:off x="2601275" y="4541250"/>
            <a:ext cx="5265300" cy="713100"/>
          </a:xfrm>
          <a:prstGeom prst="rect">
            <a:avLst/>
          </a:prstGeom>
          <a:solidFill>
            <a:srgbClr val="0D1137"/>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7" name="Google Shape;117;p6"/>
          <p:cNvPicPr preferRelativeResize="0"/>
          <p:nvPr/>
        </p:nvPicPr>
        <p:blipFill rotWithShape="1">
          <a:blip r:embed="rId7">
            <a:alphaModFix/>
          </a:blip>
          <a:srcRect b="0" l="0" r="0" t="0"/>
          <a:stretch/>
        </p:blipFill>
        <p:spPr>
          <a:xfrm>
            <a:off x="2763317" y="4733267"/>
            <a:ext cx="384048" cy="384048"/>
          </a:xfrm>
          <a:prstGeom prst="rect">
            <a:avLst/>
          </a:prstGeom>
          <a:noFill/>
          <a:ln>
            <a:noFill/>
          </a:ln>
        </p:spPr>
      </p:pic>
      <p:sp>
        <p:nvSpPr>
          <p:cNvPr id="118" name="Google Shape;118;p6"/>
          <p:cNvSpPr/>
          <p:nvPr/>
        </p:nvSpPr>
        <p:spPr>
          <a:xfrm>
            <a:off x="3351276" y="4478897"/>
            <a:ext cx="4342500" cy="71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800" u="none" cap="none" strike="noStrike">
                <a:solidFill>
                  <a:srgbClr val="FFFFFF"/>
                </a:solidFill>
                <a:latin typeface="Calibri"/>
                <a:ea typeface="Calibri"/>
                <a:cs typeface="Calibri"/>
                <a:sym typeface="Calibri"/>
              </a:rPr>
              <a:t xml:space="preserve">                             TIER 1 (AI)</a:t>
            </a:r>
            <a:endParaRPr b="1" i="0" sz="18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200"/>
              <a:buFont typeface="Calibri"/>
              <a:buNone/>
            </a:pPr>
            <a:r>
              <a:rPr b="1" i="0" lang="en-US" sz="1400" u="none" cap="none" strike="noStrike">
                <a:solidFill>
                  <a:srgbClr val="FFFFFF"/>
                </a:solidFill>
                <a:latin typeface="Calibri"/>
                <a:ea typeface="Calibri"/>
                <a:cs typeface="Calibri"/>
                <a:sym typeface="Calibri"/>
              </a:rPr>
              <a:t>AI foundation: translation · reasoning · drafting (“predictive”)</a:t>
            </a:r>
            <a:endParaRPr b="0" i="0" sz="1400" u="none" cap="none" strike="noStrike">
              <a:solidFill>
                <a:schemeClr val="dk1"/>
              </a:solidFill>
              <a:latin typeface="Calibri"/>
              <a:ea typeface="Calibri"/>
              <a:cs typeface="Calibri"/>
              <a:sym typeface="Calibri"/>
            </a:endParaRPr>
          </a:p>
        </p:txBody>
      </p:sp>
      <p:cxnSp>
        <p:nvCxnSpPr>
          <p:cNvPr id="119" name="Google Shape;119;p6"/>
          <p:cNvCxnSpPr/>
          <p:nvPr/>
        </p:nvCxnSpPr>
        <p:spPr>
          <a:xfrm rot="10800000">
            <a:off x="3959352" y="4394843"/>
            <a:ext cx="0" cy="146400"/>
          </a:xfrm>
          <a:prstGeom prst="straightConnector1">
            <a:avLst/>
          </a:prstGeom>
          <a:noFill/>
          <a:ln cap="flat" cmpd="sng" w="25400">
            <a:solidFill>
              <a:srgbClr val="8FA8CC"/>
            </a:solidFill>
            <a:prstDash val="solid"/>
            <a:round/>
            <a:headEnd len="sm" w="sm" type="none"/>
            <a:tailEnd len="med" w="med" type="triangle"/>
          </a:ln>
        </p:spPr>
      </p:cxnSp>
      <p:cxnSp>
        <p:nvCxnSpPr>
          <p:cNvPr id="120" name="Google Shape;120;p6"/>
          <p:cNvCxnSpPr/>
          <p:nvPr/>
        </p:nvCxnSpPr>
        <p:spPr>
          <a:xfrm rot="10800000">
            <a:off x="6665062" y="4394843"/>
            <a:ext cx="0" cy="146400"/>
          </a:xfrm>
          <a:prstGeom prst="straightConnector1">
            <a:avLst/>
          </a:prstGeom>
          <a:noFill/>
          <a:ln cap="flat" cmpd="sng" w="25400">
            <a:solidFill>
              <a:srgbClr val="8FA8CC"/>
            </a:solidFill>
            <a:prstDash val="solid"/>
            <a:round/>
            <a:headEnd len="sm" w="sm" type="none"/>
            <a:tailEnd len="med" w="med" type="triangle"/>
          </a:ln>
        </p:spPr>
      </p:cxnSp>
      <p:cxnSp>
        <p:nvCxnSpPr>
          <p:cNvPr id="121" name="Google Shape;121;p6"/>
          <p:cNvCxnSpPr/>
          <p:nvPr/>
        </p:nvCxnSpPr>
        <p:spPr>
          <a:xfrm>
            <a:off x="2522830" y="2258568"/>
            <a:ext cx="796442" cy="0"/>
          </a:xfrm>
          <a:prstGeom prst="straightConnector1">
            <a:avLst/>
          </a:prstGeom>
          <a:noFill/>
          <a:ln cap="flat" cmpd="sng" w="19050">
            <a:solidFill>
              <a:srgbClr val="2A9DA6"/>
            </a:solidFill>
            <a:prstDash val="dash"/>
            <a:round/>
            <a:headEnd len="sm" w="sm" type="none"/>
            <a:tailEnd len="sm" w="sm" type="none"/>
          </a:ln>
        </p:spPr>
      </p:cxnSp>
      <p:cxnSp>
        <p:nvCxnSpPr>
          <p:cNvPr id="122" name="Google Shape;122;p6"/>
          <p:cNvCxnSpPr/>
          <p:nvPr/>
        </p:nvCxnSpPr>
        <p:spPr>
          <a:xfrm flipH="1" rot="10800000">
            <a:off x="2522830" y="2286000"/>
            <a:ext cx="796442" cy="822960"/>
          </a:xfrm>
          <a:prstGeom prst="straightConnector1">
            <a:avLst/>
          </a:prstGeom>
          <a:noFill/>
          <a:ln cap="flat" cmpd="sng" w="19050">
            <a:solidFill>
              <a:srgbClr val="2A9DA6"/>
            </a:solidFill>
            <a:prstDash val="dash"/>
            <a:round/>
            <a:headEnd len="sm" w="sm" type="none"/>
            <a:tailEnd len="sm" w="sm" type="none"/>
          </a:ln>
        </p:spPr>
      </p:cxnSp>
      <p:cxnSp>
        <p:nvCxnSpPr>
          <p:cNvPr id="123" name="Google Shape;123;p6"/>
          <p:cNvCxnSpPr/>
          <p:nvPr/>
        </p:nvCxnSpPr>
        <p:spPr>
          <a:xfrm flipH="1" rot="10800000">
            <a:off x="2522830" y="2295144"/>
            <a:ext cx="796442" cy="1600200"/>
          </a:xfrm>
          <a:prstGeom prst="straightConnector1">
            <a:avLst/>
          </a:prstGeom>
          <a:noFill/>
          <a:ln cap="flat" cmpd="sng" w="19050">
            <a:solidFill>
              <a:srgbClr val="2A9DA6"/>
            </a:solidFill>
            <a:prstDash val="dash"/>
            <a:round/>
            <a:headEnd len="sm" w="sm" type="none"/>
            <a:tailEnd len="sm" w="sm" type="none"/>
          </a:ln>
        </p:spPr>
      </p:cxnSp>
      <p:sp>
        <p:nvSpPr>
          <p:cNvPr id="124" name="Google Shape;124;p6"/>
          <p:cNvSpPr/>
          <p:nvPr/>
        </p:nvSpPr>
        <p:spPr>
          <a:xfrm>
            <a:off x="8393278" y="2002536"/>
            <a:ext cx="2733142" cy="1016813"/>
          </a:xfrm>
          <a:prstGeom prst="rect">
            <a:avLst/>
          </a:prstGeom>
          <a:solidFill>
            <a:srgbClr val="22395C"/>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6"/>
          <p:cNvSpPr/>
          <p:nvPr/>
        </p:nvSpPr>
        <p:spPr>
          <a:xfrm>
            <a:off x="8595360" y="2258568"/>
            <a:ext cx="512064" cy="512064"/>
          </a:xfrm>
          <a:prstGeom prst="ellipse">
            <a:avLst/>
          </a:prstGeom>
          <a:solidFill>
            <a:srgbClr val="E078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6" name="Google Shape;126;p6"/>
          <p:cNvPicPr preferRelativeResize="0"/>
          <p:nvPr/>
        </p:nvPicPr>
        <p:blipFill rotWithShape="1">
          <a:blip r:embed="rId8">
            <a:alphaModFix/>
          </a:blip>
          <a:srcRect b="0" l="0" r="0" t="0"/>
          <a:stretch/>
        </p:blipFill>
        <p:spPr>
          <a:xfrm>
            <a:off x="8732520" y="2386584"/>
            <a:ext cx="237744" cy="237744"/>
          </a:xfrm>
          <a:prstGeom prst="rect">
            <a:avLst/>
          </a:prstGeom>
          <a:noFill/>
          <a:ln>
            <a:noFill/>
          </a:ln>
        </p:spPr>
      </p:pic>
      <p:sp>
        <p:nvSpPr>
          <p:cNvPr id="127" name="Google Shape;127;p6"/>
          <p:cNvSpPr/>
          <p:nvPr/>
        </p:nvSpPr>
        <p:spPr>
          <a:xfrm>
            <a:off x="9198864" y="2185416"/>
            <a:ext cx="1783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Legal-aid worker</a:t>
            </a:r>
            <a:endParaRPr b="0" i="0" sz="1400" u="none" cap="none" strike="noStrike">
              <a:solidFill>
                <a:schemeClr val="dk1"/>
              </a:solidFill>
              <a:latin typeface="Calibri"/>
              <a:ea typeface="Calibri"/>
              <a:cs typeface="Calibri"/>
              <a:sym typeface="Calibri"/>
            </a:endParaRPr>
          </a:p>
        </p:txBody>
      </p:sp>
      <p:sp>
        <p:nvSpPr>
          <p:cNvPr id="128" name="Google Shape;128;p6"/>
          <p:cNvSpPr/>
          <p:nvPr/>
        </p:nvSpPr>
        <p:spPr>
          <a:xfrm>
            <a:off x="9198864" y="2551176"/>
            <a:ext cx="17830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Review &amp; oversee</a:t>
            </a:r>
            <a:endParaRPr b="0" i="0" sz="1100" u="none" cap="none" strike="noStrike">
              <a:solidFill>
                <a:schemeClr val="dk1"/>
              </a:solidFill>
              <a:latin typeface="Calibri"/>
              <a:ea typeface="Calibri"/>
              <a:cs typeface="Calibri"/>
              <a:sym typeface="Calibri"/>
            </a:endParaRPr>
          </a:p>
        </p:txBody>
      </p:sp>
      <p:sp>
        <p:nvSpPr>
          <p:cNvPr id="129" name="Google Shape;129;p6"/>
          <p:cNvSpPr/>
          <p:nvPr/>
        </p:nvSpPr>
        <p:spPr>
          <a:xfrm>
            <a:off x="8393278" y="3240634"/>
            <a:ext cx="2733142" cy="1016813"/>
          </a:xfrm>
          <a:prstGeom prst="rect">
            <a:avLst/>
          </a:prstGeom>
          <a:solidFill>
            <a:srgbClr val="22395C"/>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6"/>
          <p:cNvSpPr/>
          <p:nvPr/>
        </p:nvSpPr>
        <p:spPr>
          <a:xfrm>
            <a:off x="8595360" y="3496666"/>
            <a:ext cx="512064" cy="512064"/>
          </a:xfrm>
          <a:prstGeom prst="ellipse">
            <a:avLst/>
          </a:prstGeom>
          <a:solidFill>
            <a:srgbClr val="E078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1" name="Google Shape;131;p6"/>
          <p:cNvPicPr preferRelativeResize="0"/>
          <p:nvPr/>
        </p:nvPicPr>
        <p:blipFill rotWithShape="1">
          <a:blip r:embed="rId9">
            <a:alphaModFix/>
          </a:blip>
          <a:srcRect b="0" l="0" r="0" t="0"/>
          <a:stretch/>
        </p:blipFill>
        <p:spPr>
          <a:xfrm>
            <a:off x="8732520" y="3624682"/>
            <a:ext cx="237744" cy="237744"/>
          </a:xfrm>
          <a:prstGeom prst="rect">
            <a:avLst/>
          </a:prstGeom>
          <a:noFill/>
          <a:ln>
            <a:noFill/>
          </a:ln>
        </p:spPr>
      </p:pic>
      <p:sp>
        <p:nvSpPr>
          <p:cNvPr id="132" name="Google Shape;132;p6"/>
          <p:cNvSpPr/>
          <p:nvPr/>
        </p:nvSpPr>
        <p:spPr>
          <a:xfrm>
            <a:off x="9198864" y="3423514"/>
            <a:ext cx="1783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Impacted  person</a:t>
            </a:r>
            <a:endParaRPr b="0" i="0" sz="1400" u="none" cap="none" strike="noStrike">
              <a:solidFill>
                <a:schemeClr val="dk1"/>
              </a:solidFill>
              <a:latin typeface="Calibri"/>
              <a:ea typeface="Calibri"/>
              <a:cs typeface="Calibri"/>
              <a:sym typeface="Calibri"/>
            </a:endParaRPr>
          </a:p>
        </p:txBody>
      </p:sp>
      <p:sp>
        <p:nvSpPr>
          <p:cNvPr id="133" name="Google Shape;133;p6"/>
          <p:cNvSpPr/>
          <p:nvPr/>
        </p:nvSpPr>
        <p:spPr>
          <a:xfrm>
            <a:off x="9198864" y="3789274"/>
            <a:ext cx="17830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Needs safe, usable help</a:t>
            </a:r>
            <a:endParaRPr b="0" i="0" sz="1100" u="none" cap="none" strike="noStrike">
              <a:solidFill>
                <a:schemeClr val="dk1"/>
              </a:solidFill>
              <a:latin typeface="Calibri"/>
              <a:ea typeface="Calibri"/>
              <a:cs typeface="Calibri"/>
              <a:sym typeface="Calibri"/>
            </a:endParaRPr>
          </a:p>
        </p:txBody>
      </p:sp>
      <p:sp>
        <p:nvSpPr>
          <p:cNvPr id="134" name="Google Shape;134;p6"/>
          <p:cNvSpPr/>
          <p:nvPr/>
        </p:nvSpPr>
        <p:spPr>
          <a:xfrm>
            <a:off x="640080" y="5700037"/>
            <a:ext cx="10908900" cy="548700"/>
          </a:xfrm>
          <a:prstGeom prst="rect">
            <a:avLst/>
          </a:prstGeom>
          <a:solidFill>
            <a:srgbClr val="C790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5" name="Google Shape;135;p6"/>
          <p:cNvPicPr preferRelativeResize="0"/>
          <p:nvPr/>
        </p:nvPicPr>
        <p:blipFill rotWithShape="1">
          <a:blip r:embed="rId10">
            <a:alphaModFix/>
          </a:blip>
          <a:srcRect b="0" l="0" r="0" t="0"/>
          <a:stretch/>
        </p:blipFill>
        <p:spPr>
          <a:xfrm>
            <a:off x="868680" y="5808518"/>
            <a:ext cx="310896" cy="310896"/>
          </a:xfrm>
          <a:prstGeom prst="rect">
            <a:avLst/>
          </a:prstGeom>
          <a:noFill/>
          <a:ln>
            <a:noFill/>
          </a:ln>
        </p:spPr>
      </p:pic>
      <p:sp>
        <p:nvSpPr>
          <p:cNvPr id="136" name="Google Shape;136;p6"/>
          <p:cNvSpPr/>
          <p:nvPr/>
        </p:nvSpPr>
        <p:spPr>
          <a:xfrm>
            <a:off x="1325875" y="5679252"/>
            <a:ext cx="102231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137"/>
              </a:buClr>
              <a:buSzPts val="1150"/>
              <a:buFont typeface="Calibri"/>
              <a:buNone/>
            </a:pPr>
            <a:r>
              <a:rPr b="1" i="0" lang="en-US" sz="1400" u="none" cap="none" strike="noStrike">
                <a:solidFill>
                  <a:srgbClr val="0D1137"/>
                </a:solidFill>
                <a:latin typeface="Calibri"/>
                <a:ea typeface="Calibri"/>
                <a:cs typeface="Calibri"/>
                <a:sym typeface="Calibri"/>
              </a:rPr>
              <a:t xml:space="preserve">PROCESS GUARDRAILS WRAP THE WHOLE SYSTEM:  </a:t>
            </a:r>
            <a:r>
              <a:rPr b="0" i="0" lang="en-US" sz="1400" u="none" cap="none" strike="noStrike">
                <a:solidFill>
                  <a:srgbClr val="0D1137"/>
                </a:solidFill>
                <a:latin typeface="Calibri"/>
                <a:ea typeface="Calibri"/>
                <a:cs typeface="Calibri"/>
                <a:sym typeface="Calibri"/>
              </a:rPr>
              <a:t>multi-layer testing · PII &amp; privacy · mandatory human-attorney review · published accuracy standards.</a:t>
            </a:r>
            <a:endParaRPr b="0" i="0" sz="1400" u="none" cap="none" strike="noStrike">
              <a:solidFill>
                <a:schemeClr val="dk1"/>
              </a:solidFill>
              <a:latin typeface="Calibri"/>
              <a:ea typeface="Calibri"/>
              <a:cs typeface="Calibri"/>
              <a:sym typeface="Calibri"/>
            </a:endParaRPr>
          </a:p>
        </p:txBody>
      </p:sp>
      <p:sp>
        <p:nvSpPr>
          <p:cNvPr id="137" name="Google Shape;137;p6"/>
          <p:cNvSpPr/>
          <p:nvPr/>
        </p:nvSpPr>
        <p:spPr>
          <a:xfrm>
            <a:off x="640080" y="6310191"/>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100"/>
              <a:buFont typeface="Calibri"/>
              <a:buNone/>
            </a:pPr>
            <a:r>
              <a:rPr b="1" i="0" lang="en-US" sz="1800" u="none" cap="none" strike="noStrike">
                <a:solidFill>
                  <a:srgbClr val="8FA8CC"/>
                </a:solidFill>
                <a:latin typeface="Calibri"/>
                <a:ea typeface="Calibri"/>
                <a:cs typeface="Calibri"/>
                <a:sym typeface="Calibri"/>
              </a:rPr>
              <a:t>LEGAL AI INFRASTRUCTURE</a:t>
            </a:r>
            <a:endParaRPr b="0" i="0" sz="1800" u="none" cap="none" strike="noStrike">
              <a:solidFill>
                <a:schemeClr val="dk1"/>
              </a:solidFill>
              <a:latin typeface="Calibri"/>
              <a:ea typeface="Calibri"/>
              <a:cs typeface="Calibri"/>
              <a:sym typeface="Calibri"/>
            </a:endParaRPr>
          </a:p>
        </p:txBody>
      </p:sp>
      <p:sp>
        <p:nvSpPr>
          <p:cNvPr id="138" name="Google Shape;138;p6"/>
          <p:cNvSpPr/>
          <p:nvPr/>
        </p:nvSpPr>
        <p:spPr>
          <a:xfrm>
            <a:off x="11521440"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39" name="Google Shape;139;p6"/>
          <p:cNvSpPr txBox="1"/>
          <p:nvPr/>
        </p:nvSpPr>
        <p:spPr>
          <a:xfrm>
            <a:off x="4653454" y="1575950"/>
            <a:ext cx="1783200" cy="32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TIER 2 (LEGAL)</a:t>
            </a:r>
            <a:endParaRPr b="0" i="0" sz="1800" u="none" cap="none" strike="noStrike">
              <a:solidFill>
                <a:srgbClr val="000000"/>
              </a:solidFill>
              <a:latin typeface="Arial"/>
              <a:ea typeface="Arial"/>
              <a:cs typeface="Arial"/>
              <a:sym typeface="Arial"/>
            </a:endParaRPr>
          </a:p>
        </p:txBody>
      </p:sp>
      <p:sp>
        <p:nvSpPr>
          <p:cNvPr id="140" name="Google Shape;140;p6"/>
          <p:cNvSpPr txBox="1"/>
          <p:nvPr/>
        </p:nvSpPr>
        <p:spPr>
          <a:xfrm>
            <a:off x="4809078" y="5335075"/>
            <a:ext cx="1665600" cy="42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TIER 2 (SAFETY)</a:t>
            </a:r>
            <a:endParaRPr b="0" i="0" sz="1800" u="none" cap="none" strike="noStrike">
              <a:solidFill>
                <a:srgbClr val="000000"/>
              </a:solidFill>
              <a:latin typeface="Arial"/>
              <a:ea typeface="Arial"/>
              <a:cs typeface="Arial"/>
              <a:sym typeface="Arial"/>
            </a:endParaRPr>
          </a:p>
        </p:txBody>
      </p:sp>
      <p:sp>
        <p:nvSpPr>
          <p:cNvPr id="141" name="Google Shape;141;p6"/>
          <p:cNvSpPr/>
          <p:nvPr/>
        </p:nvSpPr>
        <p:spPr>
          <a:xfrm>
            <a:off x="640080" y="6533804"/>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pic>
        <p:nvPicPr>
          <p:cNvPr descr="preencoded.png" id="142" name="Google Shape;142;p6"/>
          <p:cNvPicPr preferRelativeResize="0"/>
          <p:nvPr/>
        </p:nvPicPr>
        <p:blipFill rotWithShape="1">
          <a:blip r:embed="rId11">
            <a:alphaModFix/>
          </a:blip>
          <a:srcRect b="0" l="0" r="0" t="0"/>
          <a:stretch/>
        </p:blipFill>
        <p:spPr>
          <a:xfrm>
            <a:off x="3497580" y="2261485"/>
            <a:ext cx="329200" cy="329200"/>
          </a:xfrm>
          <a:prstGeom prst="rect">
            <a:avLst/>
          </a:prstGeom>
          <a:noFill/>
          <a:ln>
            <a:noFill/>
          </a:ln>
        </p:spPr>
      </p:pic>
      <p:cxnSp>
        <p:nvCxnSpPr>
          <p:cNvPr id="143" name="Google Shape;143;p6"/>
          <p:cNvCxnSpPr/>
          <p:nvPr/>
        </p:nvCxnSpPr>
        <p:spPr>
          <a:xfrm flipH="1" rot="10800000">
            <a:off x="7388225" y="2857390"/>
            <a:ext cx="921900" cy="300300"/>
          </a:xfrm>
          <a:prstGeom prst="straightConnector1">
            <a:avLst/>
          </a:prstGeom>
          <a:noFill/>
          <a:ln cap="flat" cmpd="sng" w="19050">
            <a:solidFill>
              <a:srgbClr val="E07B39"/>
            </a:solidFill>
            <a:prstDash val="dash"/>
            <a:round/>
            <a:headEnd len="sm" w="sm" type="none"/>
            <a:tailEnd len="sm" w="sm" type="none"/>
          </a:ln>
        </p:spPr>
      </p:cxnSp>
      <p:cxnSp>
        <p:nvCxnSpPr>
          <p:cNvPr id="144" name="Google Shape;144;p6"/>
          <p:cNvCxnSpPr/>
          <p:nvPr/>
        </p:nvCxnSpPr>
        <p:spPr>
          <a:xfrm>
            <a:off x="7389938" y="3325725"/>
            <a:ext cx="915300" cy="564000"/>
          </a:xfrm>
          <a:prstGeom prst="straightConnector1">
            <a:avLst/>
          </a:prstGeom>
          <a:noFill/>
          <a:ln cap="flat" cmpd="sng" w="19050">
            <a:solidFill>
              <a:srgbClr val="E07B39"/>
            </a:solidFill>
            <a:prstDash val="dash"/>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49" name="Shape 149"/>
        <p:cNvGrpSpPr/>
        <p:nvPr/>
      </p:nvGrpSpPr>
      <p:grpSpPr>
        <a:xfrm>
          <a:off x="0" y="0"/>
          <a:ext cx="0" cy="0"/>
          <a:chOff x="0" y="0"/>
          <a:chExt cx="0" cy="0"/>
        </a:xfrm>
      </p:grpSpPr>
      <p:sp>
        <p:nvSpPr>
          <p:cNvPr id="150" name="Google Shape;150;p7"/>
          <p:cNvSpPr/>
          <p:nvPr/>
        </p:nvSpPr>
        <p:spPr>
          <a:xfrm>
            <a:off x="640080" y="411480"/>
            <a:ext cx="10881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INFRASTRUCTURE, TIER 1 — THE CORE AI (PREDICTIVE)</a:t>
            </a:r>
            <a:endParaRPr b="1" i="0" sz="1800" u="none" cap="none" strike="noStrike">
              <a:solidFill>
                <a:schemeClr val="dk1"/>
              </a:solidFill>
              <a:latin typeface="Calibri"/>
              <a:ea typeface="Calibri"/>
              <a:cs typeface="Calibri"/>
              <a:sym typeface="Calibri"/>
            </a:endParaRPr>
          </a:p>
        </p:txBody>
      </p:sp>
      <p:sp>
        <p:nvSpPr>
          <p:cNvPr id="151" name="Google Shape;151;p7"/>
          <p:cNvSpPr/>
          <p:nvPr/>
        </p:nvSpPr>
        <p:spPr>
          <a:xfrm>
            <a:off x="640075" y="713227"/>
            <a:ext cx="10424100" cy="5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2700"/>
              <a:buFont typeface="Georgia"/>
              <a:buNone/>
            </a:pPr>
            <a:r>
              <a:rPr b="1" i="0" lang="en-US" sz="2700" u="none" cap="none" strike="noStrike">
                <a:solidFill>
                  <a:srgbClr val="1A2E4A"/>
                </a:solidFill>
                <a:latin typeface="Georgia"/>
                <a:ea typeface="Georgia"/>
                <a:cs typeface="Georgia"/>
                <a:sym typeface="Georgia"/>
              </a:rPr>
              <a:t>Tier 1 AI layer: translation, drafting, and reasoning</a:t>
            </a:r>
            <a:endParaRPr b="0" i="0" sz="2700" u="none" cap="none" strike="noStrike">
              <a:solidFill>
                <a:schemeClr val="dk1"/>
              </a:solidFill>
              <a:latin typeface="Calibri"/>
              <a:ea typeface="Calibri"/>
              <a:cs typeface="Calibri"/>
              <a:sym typeface="Calibri"/>
            </a:endParaRPr>
          </a:p>
        </p:txBody>
      </p:sp>
      <p:sp>
        <p:nvSpPr>
          <p:cNvPr id="152" name="Google Shape;152;p7"/>
          <p:cNvSpPr/>
          <p:nvPr/>
        </p:nvSpPr>
        <p:spPr>
          <a:xfrm>
            <a:off x="10744200" y="384048"/>
            <a:ext cx="914400" cy="255900"/>
          </a:xfrm>
          <a:prstGeom prst="rect">
            <a:avLst/>
          </a:prstGeom>
          <a:solidFill>
            <a:srgbClr val="22395C"/>
          </a:solidFill>
          <a:ln cap="flat" cmpd="sng" w="9525">
            <a:solidFill>
              <a:srgbClr val="2239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7"/>
          <p:cNvSpPr/>
          <p:nvPr/>
        </p:nvSpPr>
        <p:spPr>
          <a:xfrm>
            <a:off x="10744200" y="384048"/>
            <a:ext cx="9144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FA8CC"/>
              </a:buClr>
              <a:buSzPts val="850"/>
              <a:buFont typeface="Calibri"/>
              <a:buNone/>
            </a:pPr>
            <a:r>
              <a:rPr b="0" i="0" lang="en-US" sz="850" u="none" cap="none" strike="noStrike">
                <a:solidFill>
                  <a:srgbClr val="8FA8CC"/>
                </a:solidFill>
                <a:latin typeface="Calibri"/>
                <a:ea typeface="Calibri"/>
                <a:cs typeface="Calibri"/>
                <a:sym typeface="Calibri"/>
              </a:rPr>
              <a:t>T3 · Rules</a:t>
            </a:r>
            <a:endParaRPr b="0" i="0" sz="850" u="none" cap="none" strike="noStrike">
              <a:solidFill>
                <a:schemeClr val="dk1"/>
              </a:solidFill>
              <a:latin typeface="Calibri"/>
              <a:ea typeface="Calibri"/>
              <a:cs typeface="Calibri"/>
              <a:sym typeface="Calibri"/>
            </a:endParaRPr>
          </a:p>
        </p:txBody>
      </p:sp>
      <p:sp>
        <p:nvSpPr>
          <p:cNvPr id="154" name="Google Shape;154;p7"/>
          <p:cNvSpPr/>
          <p:nvPr/>
        </p:nvSpPr>
        <p:spPr>
          <a:xfrm>
            <a:off x="10744200" y="704088"/>
            <a:ext cx="914400" cy="255900"/>
          </a:xfrm>
          <a:prstGeom prst="rect">
            <a:avLst/>
          </a:prstGeom>
          <a:solidFill>
            <a:srgbClr val="22395C"/>
          </a:solidFill>
          <a:ln cap="flat" cmpd="sng" w="9525">
            <a:solidFill>
              <a:srgbClr val="2239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7"/>
          <p:cNvSpPr/>
          <p:nvPr/>
        </p:nvSpPr>
        <p:spPr>
          <a:xfrm>
            <a:off x="10744200" y="704088"/>
            <a:ext cx="9144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FA8CC"/>
              </a:buClr>
              <a:buSzPts val="850"/>
              <a:buFont typeface="Calibri"/>
              <a:buNone/>
            </a:pPr>
            <a:r>
              <a:rPr b="0" i="0" lang="en-US" sz="850" u="none" cap="none" strike="noStrike">
                <a:solidFill>
                  <a:srgbClr val="8FA8CC"/>
                </a:solidFill>
                <a:latin typeface="Calibri"/>
                <a:ea typeface="Calibri"/>
                <a:cs typeface="Calibri"/>
                <a:sym typeface="Calibri"/>
              </a:rPr>
              <a:t>T2 · Legal</a:t>
            </a:r>
            <a:endParaRPr b="0" i="0" sz="850" u="none" cap="none" strike="noStrike">
              <a:solidFill>
                <a:schemeClr val="dk1"/>
              </a:solidFill>
              <a:latin typeface="Calibri"/>
              <a:ea typeface="Calibri"/>
              <a:cs typeface="Calibri"/>
              <a:sym typeface="Calibri"/>
            </a:endParaRPr>
          </a:p>
        </p:txBody>
      </p:sp>
      <p:sp>
        <p:nvSpPr>
          <p:cNvPr id="156" name="Google Shape;156;p7"/>
          <p:cNvSpPr/>
          <p:nvPr/>
        </p:nvSpPr>
        <p:spPr>
          <a:xfrm>
            <a:off x="10744200" y="1024128"/>
            <a:ext cx="914400" cy="255900"/>
          </a:xfrm>
          <a:prstGeom prst="rect">
            <a:avLst/>
          </a:prstGeom>
          <a:solidFill>
            <a:srgbClr val="2A9DA6"/>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7"/>
          <p:cNvSpPr/>
          <p:nvPr/>
        </p:nvSpPr>
        <p:spPr>
          <a:xfrm>
            <a:off x="10744200" y="1024128"/>
            <a:ext cx="9144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T1 · AI</a:t>
            </a:r>
            <a:endParaRPr b="0" i="0" sz="850" u="none" cap="none" strike="noStrike">
              <a:solidFill>
                <a:schemeClr val="dk1"/>
              </a:solidFill>
              <a:latin typeface="Calibri"/>
              <a:ea typeface="Calibri"/>
              <a:cs typeface="Calibri"/>
              <a:sym typeface="Calibri"/>
            </a:endParaRPr>
          </a:p>
        </p:txBody>
      </p:sp>
      <p:sp>
        <p:nvSpPr>
          <p:cNvPr id="158" name="Google Shape;158;p7"/>
          <p:cNvSpPr/>
          <p:nvPr/>
        </p:nvSpPr>
        <p:spPr>
          <a:xfrm>
            <a:off x="714055" y="1280150"/>
            <a:ext cx="10424100" cy="73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500"/>
              <a:buFont typeface="Calibri"/>
              <a:buNone/>
            </a:pPr>
            <a:r>
              <a:rPr b="0" i="1" lang="en-US" sz="1800" u="none" cap="none" strike="noStrike">
                <a:solidFill>
                  <a:srgbClr val="4A5568"/>
                </a:solidFill>
                <a:latin typeface="Calibri"/>
                <a:ea typeface="Calibri"/>
                <a:cs typeface="Calibri"/>
                <a:sym typeface="Calibri"/>
              </a:rPr>
              <a:t>A continuously improving AI model is the engine — powerful, but not fully trustworthy for law on its own, including because it is “predictive” and reasons from memory. The legal layer (next) makes it more reliable.</a:t>
            </a:r>
            <a:endParaRPr b="0" i="0" sz="1800" u="none" cap="none" strike="noStrike">
              <a:solidFill>
                <a:schemeClr val="dk1"/>
              </a:solidFill>
              <a:latin typeface="Calibri"/>
              <a:ea typeface="Calibri"/>
              <a:cs typeface="Calibri"/>
              <a:sym typeface="Calibri"/>
            </a:endParaRPr>
          </a:p>
        </p:txBody>
      </p:sp>
      <p:sp>
        <p:nvSpPr>
          <p:cNvPr id="159" name="Google Shape;159;p7"/>
          <p:cNvSpPr/>
          <p:nvPr/>
        </p:nvSpPr>
        <p:spPr>
          <a:xfrm>
            <a:off x="640080" y="2331720"/>
            <a:ext cx="3456300" cy="31089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7"/>
          <p:cNvSpPr/>
          <p:nvPr/>
        </p:nvSpPr>
        <p:spPr>
          <a:xfrm>
            <a:off x="960120" y="2697480"/>
            <a:ext cx="822900" cy="822900"/>
          </a:xfrm>
          <a:prstGeom prst="ellipse">
            <a:avLst/>
          </a:prstGeom>
          <a:solidFill>
            <a:srgbClr val="1A2E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1" name="Google Shape;161;p7"/>
          <p:cNvPicPr preferRelativeResize="0"/>
          <p:nvPr/>
        </p:nvPicPr>
        <p:blipFill rotWithShape="1">
          <a:blip r:embed="rId3">
            <a:alphaModFix/>
          </a:blip>
          <a:srcRect b="0" l="0" r="0" t="0"/>
          <a:stretch/>
        </p:blipFill>
        <p:spPr>
          <a:xfrm>
            <a:off x="1161288" y="2898648"/>
            <a:ext cx="420624" cy="420624"/>
          </a:xfrm>
          <a:prstGeom prst="rect">
            <a:avLst/>
          </a:prstGeom>
          <a:noFill/>
          <a:ln>
            <a:noFill/>
          </a:ln>
        </p:spPr>
      </p:pic>
      <p:sp>
        <p:nvSpPr>
          <p:cNvPr id="162" name="Google Shape;162;p7"/>
          <p:cNvSpPr/>
          <p:nvPr/>
        </p:nvSpPr>
        <p:spPr>
          <a:xfrm>
            <a:off x="960120" y="3703320"/>
            <a:ext cx="2816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2000"/>
              <a:buFont typeface="Georgia"/>
              <a:buNone/>
            </a:pPr>
            <a:r>
              <a:rPr b="1" i="0" lang="en-US" sz="2000" u="none" cap="none" strike="noStrike">
                <a:solidFill>
                  <a:srgbClr val="1A2E4A"/>
                </a:solidFill>
                <a:latin typeface="Georgia"/>
                <a:ea typeface="Georgia"/>
                <a:cs typeface="Georgia"/>
                <a:sym typeface="Georgia"/>
              </a:rPr>
              <a:t>Translation</a:t>
            </a:r>
            <a:endParaRPr b="0" i="0" sz="2000" u="none" cap="none" strike="noStrike">
              <a:solidFill>
                <a:schemeClr val="dk1"/>
              </a:solidFill>
              <a:latin typeface="Calibri"/>
              <a:ea typeface="Calibri"/>
              <a:cs typeface="Calibri"/>
              <a:sym typeface="Calibri"/>
            </a:endParaRPr>
          </a:p>
        </p:txBody>
      </p:sp>
      <p:sp>
        <p:nvSpPr>
          <p:cNvPr id="163" name="Google Shape;163;p7"/>
          <p:cNvSpPr/>
          <p:nvPr/>
        </p:nvSpPr>
        <p:spPr>
          <a:xfrm>
            <a:off x="960125" y="4114800"/>
            <a:ext cx="2960700" cy="123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400"/>
              <a:buFont typeface="Calibri"/>
              <a:buNone/>
            </a:pPr>
            <a:r>
              <a:rPr b="0" i="0" lang="en-US" sz="1600" u="none" cap="none" strike="noStrike">
                <a:solidFill>
                  <a:srgbClr val="4A5568"/>
                </a:solidFill>
                <a:latin typeface="Calibri"/>
                <a:ea typeface="Calibri"/>
                <a:cs typeface="Calibri"/>
                <a:sym typeface="Calibri"/>
              </a:rPr>
              <a:t>Turns a person's plain-language description into structured legal concepts — and turns legal complexity back into plain language.</a:t>
            </a:r>
            <a:endParaRPr b="0" i="0" sz="1600" u="none" cap="none" strike="noStrike">
              <a:solidFill>
                <a:schemeClr val="dk1"/>
              </a:solidFill>
              <a:latin typeface="Calibri"/>
              <a:ea typeface="Calibri"/>
              <a:cs typeface="Calibri"/>
              <a:sym typeface="Calibri"/>
            </a:endParaRPr>
          </a:p>
        </p:txBody>
      </p:sp>
      <p:sp>
        <p:nvSpPr>
          <p:cNvPr id="164" name="Google Shape;164;p7"/>
          <p:cNvSpPr/>
          <p:nvPr/>
        </p:nvSpPr>
        <p:spPr>
          <a:xfrm>
            <a:off x="4370832" y="2331720"/>
            <a:ext cx="3456300" cy="31089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7"/>
          <p:cNvSpPr/>
          <p:nvPr/>
        </p:nvSpPr>
        <p:spPr>
          <a:xfrm>
            <a:off x="4690872" y="2697480"/>
            <a:ext cx="822900" cy="822900"/>
          </a:xfrm>
          <a:prstGeom prst="ellipse">
            <a:avLst/>
          </a:prstGeom>
          <a:solidFill>
            <a:srgbClr val="1A2E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6" name="Google Shape;166;p7"/>
          <p:cNvPicPr preferRelativeResize="0"/>
          <p:nvPr/>
        </p:nvPicPr>
        <p:blipFill rotWithShape="1">
          <a:blip r:embed="rId4">
            <a:alphaModFix/>
          </a:blip>
          <a:srcRect b="0" l="0" r="0" t="0"/>
          <a:stretch/>
        </p:blipFill>
        <p:spPr>
          <a:xfrm>
            <a:off x="4892040" y="2898648"/>
            <a:ext cx="420624" cy="420624"/>
          </a:xfrm>
          <a:prstGeom prst="rect">
            <a:avLst/>
          </a:prstGeom>
          <a:noFill/>
          <a:ln>
            <a:noFill/>
          </a:ln>
        </p:spPr>
      </p:pic>
      <p:sp>
        <p:nvSpPr>
          <p:cNvPr id="167" name="Google Shape;167;p7"/>
          <p:cNvSpPr/>
          <p:nvPr/>
        </p:nvSpPr>
        <p:spPr>
          <a:xfrm>
            <a:off x="4690872" y="3703320"/>
            <a:ext cx="2816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2000"/>
              <a:buFont typeface="Georgia"/>
              <a:buNone/>
            </a:pPr>
            <a:r>
              <a:rPr b="1" i="0" lang="en-US" sz="2000" u="none" cap="none" strike="noStrike">
                <a:solidFill>
                  <a:srgbClr val="1A2E4A"/>
                </a:solidFill>
                <a:latin typeface="Georgia"/>
                <a:ea typeface="Georgia"/>
                <a:cs typeface="Georgia"/>
                <a:sym typeface="Georgia"/>
              </a:rPr>
              <a:t>Drafting</a:t>
            </a:r>
            <a:endParaRPr b="0" i="0" sz="2000" u="none" cap="none" strike="noStrike">
              <a:solidFill>
                <a:schemeClr val="dk1"/>
              </a:solidFill>
              <a:latin typeface="Calibri"/>
              <a:ea typeface="Calibri"/>
              <a:cs typeface="Calibri"/>
              <a:sym typeface="Calibri"/>
            </a:endParaRPr>
          </a:p>
        </p:txBody>
      </p:sp>
      <p:sp>
        <p:nvSpPr>
          <p:cNvPr id="168" name="Google Shape;168;p7"/>
          <p:cNvSpPr/>
          <p:nvPr/>
        </p:nvSpPr>
        <p:spPr>
          <a:xfrm>
            <a:off x="4690875" y="4160525"/>
            <a:ext cx="2960700" cy="118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400"/>
              <a:buFont typeface="Calibri"/>
              <a:buNone/>
            </a:pPr>
            <a:r>
              <a:rPr b="0" i="0" lang="en-US" sz="1600" u="none" cap="none" strike="noStrike">
                <a:solidFill>
                  <a:srgbClr val="4A5568"/>
                </a:solidFill>
                <a:latin typeface="Calibri"/>
                <a:ea typeface="Calibri"/>
                <a:cs typeface="Calibri"/>
                <a:sym typeface="Calibri"/>
              </a:rPr>
              <a:t>Generates court filings, letters, and responses – in seconds for human review.</a:t>
            </a:r>
            <a:endParaRPr b="0" i="0" sz="1600" u="none" cap="none" strike="noStrike">
              <a:solidFill>
                <a:schemeClr val="dk1"/>
              </a:solidFill>
              <a:latin typeface="Calibri"/>
              <a:ea typeface="Calibri"/>
              <a:cs typeface="Calibri"/>
              <a:sym typeface="Calibri"/>
            </a:endParaRPr>
          </a:p>
        </p:txBody>
      </p:sp>
      <p:sp>
        <p:nvSpPr>
          <p:cNvPr id="169" name="Google Shape;169;p7"/>
          <p:cNvSpPr/>
          <p:nvPr/>
        </p:nvSpPr>
        <p:spPr>
          <a:xfrm>
            <a:off x="8101584" y="2331720"/>
            <a:ext cx="3456300" cy="31089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7"/>
          <p:cNvSpPr/>
          <p:nvPr/>
        </p:nvSpPr>
        <p:spPr>
          <a:xfrm>
            <a:off x="8421624" y="2697480"/>
            <a:ext cx="822900" cy="822900"/>
          </a:xfrm>
          <a:prstGeom prst="ellipse">
            <a:avLst/>
          </a:prstGeom>
          <a:solidFill>
            <a:srgbClr val="1A2E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1" name="Google Shape;171;p7"/>
          <p:cNvPicPr preferRelativeResize="0"/>
          <p:nvPr/>
        </p:nvPicPr>
        <p:blipFill rotWithShape="1">
          <a:blip r:embed="rId5">
            <a:alphaModFix/>
          </a:blip>
          <a:srcRect b="0" l="0" r="0" t="0"/>
          <a:stretch/>
        </p:blipFill>
        <p:spPr>
          <a:xfrm>
            <a:off x="8622792" y="2898648"/>
            <a:ext cx="420624" cy="420624"/>
          </a:xfrm>
          <a:prstGeom prst="rect">
            <a:avLst/>
          </a:prstGeom>
          <a:noFill/>
          <a:ln>
            <a:noFill/>
          </a:ln>
        </p:spPr>
      </p:pic>
      <p:sp>
        <p:nvSpPr>
          <p:cNvPr id="172" name="Google Shape;172;p7"/>
          <p:cNvSpPr/>
          <p:nvPr/>
        </p:nvSpPr>
        <p:spPr>
          <a:xfrm>
            <a:off x="8421624" y="3703320"/>
            <a:ext cx="2816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2000"/>
              <a:buFont typeface="Georgia"/>
              <a:buNone/>
            </a:pPr>
            <a:r>
              <a:rPr b="1" i="0" lang="en-US" sz="2000" u="none" cap="none" strike="noStrike">
                <a:solidFill>
                  <a:srgbClr val="1A2E4A"/>
                </a:solidFill>
                <a:latin typeface="Georgia"/>
                <a:ea typeface="Georgia"/>
                <a:cs typeface="Georgia"/>
                <a:sym typeface="Georgia"/>
              </a:rPr>
              <a:t>Reasoning</a:t>
            </a:r>
            <a:endParaRPr b="0" i="0" sz="2000" u="none" cap="none" strike="noStrike">
              <a:solidFill>
                <a:schemeClr val="dk1"/>
              </a:solidFill>
              <a:latin typeface="Calibri"/>
              <a:ea typeface="Calibri"/>
              <a:cs typeface="Calibri"/>
              <a:sym typeface="Calibri"/>
            </a:endParaRPr>
          </a:p>
        </p:txBody>
      </p:sp>
      <p:sp>
        <p:nvSpPr>
          <p:cNvPr id="173" name="Google Shape;173;p7"/>
          <p:cNvSpPr/>
          <p:nvPr/>
        </p:nvSpPr>
        <p:spPr>
          <a:xfrm>
            <a:off x="8421625" y="4160650"/>
            <a:ext cx="2960700" cy="118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400"/>
              <a:buFont typeface="Calibri"/>
              <a:buNone/>
            </a:pPr>
            <a:r>
              <a:rPr b="0" i="0" lang="en-US" sz="1600" u="none" cap="none" strike="noStrike">
                <a:solidFill>
                  <a:srgbClr val="4A5568"/>
                </a:solidFill>
                <a:latin typeface="Calibri"/>
                <a:ea typeface="Calibri"/>
                <a:cs typeface="Calibri"/>
                <a:sym typeface="Calibri"/>
              </a:rPr>
              <a:t xml:space="preserve">Works through multi-step legal logic — conditions, exceptions, sequences. </a:t>
            </a:r>
            <a:endParaRPr b="0" i="0" sz="1600" u="none" cap="none" strike="noStrike">
              <a:solidFill>
                <a:schemeClr val="dk1"/>
              </a:solidFill>
              <a:latin typeface="Calibri"/>
              <a:ea typeface="Calibri"/>
              <a:cs typeface="Calibri"/>
              <a:sym typeface="Calibri"/>
            </a:endParaRPr>
          </a:p>
        </p:txBody>
      </p:sp>
      <p:sp>
        <p:nvSpPr>
          <p:cNvPr id="174" name="Google Shape;174;p7"/>
          <p:cNvSpPr/>
          <p:nvPr/>
        </p:nvSpPr>
        <p:spPr>
          <a:xfrm>
            <a:off x="640080" y="6095874"/>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8AB"/>
              </a:buClr>
              <a:buSzPts val="1100"/>
              <a:buFont typeface="Calibri"/>
              <a:buNone/>
            </a:pPr>
            <a:r>
              <a:rPr b="1" i="0" lang="en-US" sz="1800" u="none" cap="none" strike="noStrike">
                <a:solidFill>
                  <a:srgbClr val="8A98AB"/>
                </a:solidFill>
                <a:latin typeface="Calibri"/>
                <a:ea typeface="Calibri"/>
                <a:cs typeface="Calibri"/>
                <a:sym typeface="Calibri"/>
              </a:rPr>
              <a:t>LEGAL AI INFRASTRUCTURE</a:t>
            </a:r>
            <a:endParaRPr b="0" i="0" sz="1800" u="none" cap="none" strike="noStrike">
              <a:solidFill>
                <a:schemeClr val="dk1"/>
              </a:solidFill>
              <a:latin typeface="Calibri"/>
              <a:ea typeface="Calibri"/>
              <a:cs typeface="Calibri"/>
              <a:sym typeface="Calibri"/>
            </a:endParaRPr>
          </a:p>
        </p:txBody>
      </p:sp>
      <p:sp>
        <p:nvSpPr>
          <p:cNvPr id="175" name="Google Shape;175;p7"/>
          <p:cNvSpPr/>
          <p:nvPr/>
        </p:nvSpPr>
        <p:spPr>
          <a:xfrm>
            <a:off x="11521440" y="6446520"/>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176" name="Google Shape;176;p7"/>
          <p:cNvSpPr/>
          <p:nvPr/>
        </p:nvSpPr>
        <p:spPr>
          <a:xfrm>
            <a:off x="640080" y="6616931"/>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181" name="Shape 181"/>
        <p:cNvGrpSpPr/>
        <p:nvPr/>
      </p:nvGrpSpPr>
      <p:grpSpPr>
        <a:xfrm>
          <a:off x="0" y="0"/>
          <a:ext cx="0" cy="0"/>
          <a:chOff x="0" y="0"/>
          <a:chExt cx="0" cy="0"/>
        </a:xfrm>
      </p:grpSpPr>
      <p:sp>
        <p:nvSpPr>
          <p:cNvPr id="182" name="Google Shape;182;p8"/>
          <p:cNvSpPr/>
          <p:nvPr/>
        </p:nvSpPr>
        <p:spPr>
          <a:xfrm>
            <a:off x="655150" y="214750"/>
            <a:ext cx="10279500" cy="56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 xml:space="preserve">INFRASTRUCTURE, TIER 2 — LEGAL &amp; SAFETY LAYER </a:t>
            </a:r>
            <a:endParaRPr b="0" i="0" sz="1800" u="none" cap="none" strike="noStrike">
              <a:solidFill>
                <a:schemeClr val="dk1"/>
              </a:solidFill>
              <a:latin typeface="Calibri"/>
              <a:ea typeface="Calibri"/>
              <a:cs typeface="Calibri"/>
              <a:sym typeface="Calibri"/>
            </a:endParaRPr>
          </a:p>
        </p:txBody>
      </p:sp>
      <p:sp>
        <p:nvSpPr>
          <p:cNvPr id="183" name="Google Shape;183;p8"/>
          <p:cNvSpPr/>
          <p:nvPr/>
        </p:nvSpPr>
        <p:spPr>
          <a:xfrm>
            <a:off x="640075" y="895998"/>
            <a:ext cx="10424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Tier 2 legal &amp; safety layer: more accurate, improving</a:t>
            </a:r>
            <a:endParaRPr b="0" i="0" sz="2600" u="none" cap="none" strike="noStrike">
              <a:solidFill>
                <a:schemeClr val="dk1"/>
              </a:solidFill>
              <a:latin typeface="Calibri"/>
              <a:ea typeface="Calibri"/>
              <a:cs typeface="Calibri"/>
              <a:sym typeface="Calibri"/>
            </a:endParaRPr>
          </a:p>
        </p:txBody>
      </p:sp>
      <p:sp>
        <p:nvSpPr>
          <p:cNvPr id="184" name="Google Shape;184;p8"/>
          <p:cNvSpPr/>
          <p:nvPr/>
        </p:nvSpPr>
        <p:spPr>
          <a:xfrm>
            <a:off x="10744200" y="384048"/>
            <a:ext cx="914400" cy="255900"/>
          </a:xfrm>
          <a:prstGeom prst="rect">
            <a:avLst/>
          </a:prstGeom>
          <a:solidFill>
            <a:srgbClr val="22395C"/>
          </a:solidFill>
          <a:ln cap="flat" cmpd="sng" w="9525">
            <a:solidFill>
              <a:srgbClr val="2239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8"/>
          <p:cNvSpPr/>
          <p:nvPr/>
        </p:nvSpPr>
        <p:spPr>
          <a:xfrm>
            <a:off x="10744200" y="384048"/>
            <a:ext cx="9144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FA8CC"/>
              </a:buClr>
              <a:buSzPts val="850"/>
              <a:buFont typeface="Calibri"/>
              <a:buNone/>
            </a:pPr>
            <a:r>
              <a:rPr b="0" i="0" lang="en-US" sz="850" u="none" cap="none" strike="noStrike">
                <a:solidFill>
                  <a:srgbClr val="8FA8CC"/>
                </a:solidFill>
                <a:latin typeface="Calibri"/>
                <a:ea typeface="Calibri"/>
                <a:cs typeface="Calibri"/>
                <a:sym typeface="Calibri"/>
              </a:rPr>
              <a:t>T3 · Rules</a:t>
            </a:r>
            <a:endParaRPr b="0" i="0" sz="850" u="none" cap="none" strike="noStrike">
              <a:solidFill>
                <a:schemeClr val="dk1"/>
              </a:solidFill>
              <a:latin typeface="Calibri"/>
              <a:ea typeface="Calibri"/>
              <a:cs typeface="Calibri"/>
              <a:sym typeface="Calibri"/>
            </a:endParaRPr>
          </a:p>
        </p:txBody>
      </p:sp>
      <p:sp>
        <p:nvSpPr>
          <p:cNvPr id="186" name="Google Shape;186;p8"/>
          <p:cNvSpPr/>
          <p:nvPr/>
        </p:nvSpPr>
        <p:spPr>
          <a:xfrm>
            <a:off x="10744200" y="704088"/>
            <a:ext cx="914400" cy="255900"/>
          </a:xfrm>
          <a:prstGeom prst="rect">
            <a:avLst/>
          </a:prstGeom>
          <a:solidFill>
            <a:srgbClr val="2A9DA6"/>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8"/>
          <p:cNvSpPr/>
          <p:nvPr/>
        </p:nvSpPr>
        <p:spPr>
          <a:xfrm>
            <a:off x="10744200" y="704088"/>
            <a:ext cx="9144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T2 · Legal</a:t>
            </a:r>
            <a:endParaRPr b="0" i="0" sz="850" u="none" cap="none" strike="noStrike">
              <a:solidFill>
                <a:schemeClr val="dk1"/>
              </a:solidFill>
              <a:latin typeface="Calibri"/>
              <a:ea typeface="Calibri"/>
              <a:cs typeface="Calibri"/>
              <a:sym typeface="Calibri"/>
            </a:endParaRPr>
          </a:p>
        </p:txBody>
      </p:sp>
      <p:sp>
        <p:nvSpPr>
          <p:cNvPr id="188" name="Google Shape;188;p8"/>
          <p:cNvSpPr/>
          <p:nvPr/>
        </p:nvSpPr>
        <p:spPr>
          <a:xfrm>
            <a:off x="10744200" y="1024128"/>
            <a:ext cx="914400" cy="255900"/>
          </a:xfrm>
          <a:prstGeom prst="rect">
            <a:avLst/>
          </a:prstGeom>
          <a:solidFill>
            <a:srgbClr val="22395C"/>
          </a:solidFill>
          <a:ln cap="flat" cmpd="sng" w="9525">
            <a:solidFill>
              <a:srgbClr val="2239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8"/>
          <p:cNvSpPr/>
          <p:nvPr/>
        </p:nvSpPr>
        <p:spPr>
          <a:xfrm>
            <a:off x="10744200" y="1024128"/>
            <a:ext cx="9144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FA8CC"/>
              </a:buClr>
              <a:buSzPts val="850"/>
              <a:buFont typeface="Calibri"/>
              <a:buNone/>
            </a:pPr>
            <a:r>
              <a:rPr b="0" i="0" lang="en-US" sz="850" u="none" cap="none" strike="noStrike">
                <a:solidFill>
                  <a:srgbClr val="8FA8CC"/>
                </a:solidFill>
                <a:latin typeface="Calibri"/>
                <a:ea typeface="Calibri"/>
                <a:cs typeface="Calibri"/>
                <a:sym typeface="Calibri"/>
              </a:rPr>
              <a:t>T1 · AI</a:t>
            </a:r>
            <a:endParaRPr b="0" i="0" sz="850" u="none" cap="none" strike="noStrike">
              <a:solidFill>
                <a:schemeClr val="dk1"/>
              </a:solidFill>
              <a:latin typeface="Calibri"/>
              <a:ea typeface="Calibri"/>
              <a:cs typeface="Calibri"/>
              <a:sym typeface="Calibri"/>
            </a:endParaRPr>
          </a:p>
        </p:txBody>
      </p:sp>
      <p:sp>
        <p:nvSpPr>
          <p:cNvPr id="190" name="Google Shape;190;p8"/>
          <p:cNvSpPr/>
          <p:nvPr/>
        </p:nvSpPr>
        <p:spPr>
          <a:xfrm>
            <a:off x="640080" y="1444336"/>
            <a:ext cx="10424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500"/>
              <a:buFont typeface="Calibri"/>
              <a:buNone/>
            </a:pPr>
            <a:r>
              <a:rPr b="0" i="1" lang="en-US" sz="1800" u="none" cap="none" strike="noStrike">
                <a:solidFill>
                  <a:srgbClr val="CADCFC"/>
                </a:solidFill>
                <a:latin typeface="Calibri"/>
                <a:ea typeface="Calibri"/>
                <a:cs typeface="Calibri"/>
                <a:sym typeface="Calibri"/>
              </a:rPr>
              <a:t>Three shared components sit on the AI model - reusable across jurisdictions, organizations, and AI providers.</a:t>
            </a:r>
            <a:endParaRPr b="0" i="0" sz="1800" u="none" cap="none" strike="noStrike">
              <a:solidFill>
                <a:schemeClr val="dk1"/>
              </a:solidFill>
              <a:latin typeface="Calibri"/>
              <a:ea typeface="Calibri"/>
              <a:cs typeface="Calibri"/>
              <a:sym typeface="Calibri"/>
            </a:endParaRPr>
          </a:p>
        </p:txBody>
      </p:sp>
      <p:sp>
        <p:nvSpPr>
          <p:cNvPr id="191" name="Google Shape;191;p8"/>
          <p:cNvSpPr/>
          <p:nvPr/>
        </p:nvSpPr>
        <p:spPr>
          <a:xfrm>
            <a:off x="640075" y="2194549"/>
            <a:ext cx="3456300" cy="3627300"/>
          </a:xfrm>
          <a:prstGeom prst="rect">
            <a:avLst/>
          </a:prstGeom>
          <a:solidFill>
            <a:srgbClr val="22395C"/>
          </a:solidFill>
          <a:ln>
            <a:noFill/>
          </a:ln>
          <a:effectLst>
            <a:outerShdw blurRad="88900" rotWithShape="0" algn="bl" dir="8100000" dist="38100">
              <a:srgbClr val="000000">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8"/>
          <p:cNvSpPr/>
          <p:nvPr/>
        </p:nvSpPr>
        <p:spPr>
          <a:xfrm>
            <a:off x="960120" y="2493818"/>
            <a:ext cx="777300" cy="7773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8"/>
          <p:cNvSpPr/>
          <p:nvPr/>
        </p:nvSpPr>
        <p:spPr>
          <a:xfrm>
            <a:off x="932688" y="3401568"/>
            <a:ext cx="2907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Georgia"/>
              <a:buNone/>
            </a:pPr>
            <a:r>
              <a:rPr b="1" i="0" lang="en-US" sz="1700" u="none" cap="none" strike="noStrike">
                <a:solidFill>
                  <a:srgbClr val="FFFFFF"/>
                </a:solidFill>
                <a:latin typeface="Georgia"/>
                <a:ea typeface="Georgia"/>
                <a:cs typeface="Georgia"/>
                <a:sym typeface="Georgia"/>
              </a:rPr>
              <a:t>Connectors to authoritative law</a:t>
            </a:r>
            <a:endParaRPr b="0" i="0" sz="1700" u="none" cap="none" strike="noStrike">
              <a:solidFill>
                <a:schemeClr val="dk1"/>
              </a:solidFill>
              <a:latin typeface="Calibri"/>
              <a:ea typeface="Calibri"/>
              <a:cs typeface="Calibri"/>
              <a:sym typeface="Calibri"/>
            </a:endParaRPr>
          </a:p>
        </p:txBody>
      </p:sp>
      <p:sp>
        <p:nvSpPr>
          <p:cNvPr id="194" name="Google Shape;194;p8"/>
          <p:cNvSpPr/>
          <p:nvPr/>
        </p:nvSpPr>
        <p:spPr>
          <a:xfrm>
            <a:off x="932700" y="4023350"/>
            <a:ext cx="31638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400"/>
              <a:buFont typeface="Calibri"/>
              <a:buNone/>
            </a:pPr>
            <a:r>
              <a:rPr b="0" i="0" lang="en-US" sz="1600" u="none" cap="none" strike="noStrike">
                <a:solidFill>
                  <a:srgbClr val="CADCFC"/>
                </a:solidFill>
                <a:latin typeface="Calibri"/>
                <a:ea typeface="Calibri"/>
                <a:cs typeface="Calibri"/>
                <a:sym typeface="Calibri"/>
              </a:rPr>
              <a:t>Live links to statutes, case law, and court systems — looks up real sources.</a:t>
            </a:r>
            <a:endParaRPr b="0" i="0" sz="1600" u="none" cap="none" strike="noStrike">
              <a:solidFill>
                <a:schemeClr val="dk1"/>
              </a:solidFill>
              <a:latin typeface="Calibri"/>
              <a:ea typeface="Calibri"/>
              <a:cs typeface="Calibri"/>
              <a:sym typeface="Calibri"/>
            </a:endParaRPr>
          </a:p>
        </p:txBody>
      </p:sp>
      <p:sp>
        <p:nvSpPr>
          <p:cNvPr id="195" name="Google Shape;195;p8"/>
          <p:cNvSpPr/>
          <p:nvPr/>
        </p:nvSpPr>
        <p:spPr>
          <a:xfrm>
            <a:off x="932700" y="4736100"/>
            <a:ext cx="3163800" cy="100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600" u="none" cap="none" strike="noStrike">
                <a:solidFill>
                  <a:srgbClr val="2A9DA6"/>
                </a:solidFill>
                <a:latin typeface="Calibri"/>
                <a:ea typeface="Calibri"/>
                <a:cs typeface="Calibri"/>
                <a:sym typeface="Calibri"/>
              </a:rPr>
              <a:t>IMPACT: PREDICTIVE to DETERMINISTIC — past AI guessed the law from memory; now it looks up the law live</a:t>
            </a:r>
            <a:endParaRPr b="0" i="0" sz="1600" u="none" cap="none" strike="noStrike">
              <a:solidFill>
                <a:schemeClr val="dk1"/>
              </a:solidFill>
              <a:latin typeface="Calibri"/>
              <a:ea typeface="Calibri"/>
              <a:cs typeface="Calibri"/>
              <a:sym typeface="Calibri"/>
            </a:endParaRPr>
          </a:p>
        </p:txBody>
      </p:sp>
      <p:sp>
        <p:nvSpPr>
          <p:cNvPr id="196" name="Google Shape;196;p8"/>
          <p:cNvSpPr/>
          <p:nvPr/>
        </p:nvSpPr>
        <p:spPr>
          <a:xfrm>
            <a:off x="4370825" y="2194549"/>
            <a:ext cx="3456600" cy="3627300"/>
          </a:xfrm>
          <a:prstGeom prst="rect">
            <a:avLst/>
          </a:prstGeom>
          <a:solidFill>
            <a:srgbClr val="22395C"/>
          </a:solidFill>
          <a:ln>
            <a:noFill/>
          </a:ln>
          <a:effectLst>
            <a:outerShdw blurRad="88900" rotWithShape="0" algn="bl" dir="8100000" dist="38100">
              <a:srgbClr val="000000">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8"/>
          <p:cNvSpPr/>
          <p:nvPr/>
        </p:nvSpPr>
        <p:spPr>
          <a:xfrm>
            <a:off x="4690872" y="2514600"/>
            <a:ext cx="777300" cy="7773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8" name="Google Shape;198;p8"/>
          <p:cNvPicPr preferRelativeResize="0"/>
          <p:nvPr/>
        </p:nvPicPr>
        <p:blipFill rotWithShape="1">
          <a:blip r:embed="rId3">
            <a:alphaModFix/>
          </a:blip>
          <a:srcRect b="0" l="0" r="0" t="0"/>
          <a:stretch/>
        </p:blipFill>
        <p:spPr>
          <a:xfrm>
            <a:off x="4873752" y="2697480"/>
            <a:ext cx="411480" cy="411480"/>
          </a:xfrm>
          <a:prstGeom prst="rect">
            <a:avLst/>
          </a:prstGeom>
          <a:noFill/>
          <a:ln>
            <a:noFill/>
          </a:ln>
        </p:spPr>
      </p:pic>
      <p:sp>
        <p:nvSpPr>
          <p:cNvPr id="199" name="Google Shape;199;p8"/>
          <p:cNvSpPr/>
          <p:nvPr/>
        </p:nvSpPr>
        <p:spPr>
          <a:xfrm>
            <a:off x="4663440" y="3401568"/>
            <a:ext cx="2907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Georgia"/>
              <a:buNone/>
            </a:pPr>
            <a:r>
              <a:rPr b="1" i="0" lang="en-US" sz="1700" u="none" cap="none" strike="noStrike">
                <a:solidFill>
                  <a:srgbClr val="FFFFFF"/>
                </a:solidFill>
                <a:latin typeface="Georgia"/>
                <a:ea typeface="Georgia"/>
                <a:cs typeface="Georgia"/>
                <a:sym typeface="Georgia"/>
              </a:rPr>
              <a:t>Skills &amp; plugins</a:t>
            </a:r>
            <a:endParaRPr b="0" i="0" sz="1700" u="none" cap="none" strike="noStrike">
              <a:solidFill>
                <a:schemeClr val="dk1"/>
              </a:solidFill>
              <a:latin typeface="Calibri"/>
              <a:ea typeface="Calibri"/>
              <a:cs typeface="Calibri"/>
              <a:sym typeface="Calibri"/>
            </a:endParaRPr>
          </a:p>
        </p:txBody>
      </p:sp>
      <p:sp>
        <p:nvSpPr>
          <p:cNvPr id="200" name="Google Shape;200;p8"/>
          <p:cNvSpPr/>
          <p:nvPr/>
        </p:nvSpPr>
        <p:spPr>
          <a:xfrm>
            <a:off x="4663450" y="4023350"/>
            <a:ext cx="31638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400"/>
              <a:buFont typeface="Calibri"/>
              <a:buNone/>
            </a:pPr>
            <a:r>
              <a:rPr b="0" i="0" lang="en-US" sz="1600" u="none" cap="none" strike="noStrike">
                <a:solidFill>
                  <a:srgbClr val="CADCFC"/>
                </a:solidFill>
                <a:latin typeface="Calibri"/>
                <a:ea typeface="Calibri"/>
                <a:cs typeface="Calibri"/>
                <a:sym typeface="Calibri"/>
              </a:rPr>
              <a:t>Reusable, shareable workflow modules — library of best practices written in English but operate as code</a:t>
            </a:r>
            <a:endParaRPr b="0" i="0" sz="1600" u="none" cap="none" strike="noStrike">
              <a:solidFill>
                <a:schemeClr val="dk1"/>
              </a:solidFill>
              <a:latin typeface="Calibri"/>
              <a:ea typeface="Calibri"/>
              <a:cs typeface="Calibri"/>
              <a:sym typeface="Calibri"/>
            </a:endParaRPr>
          </a:p>
        </p:txBody>
      </p:sp>
      <p:sp>
        <p:nvSpPr>
          <p:cNvPr id="201" name="Google Shape;201;p8"/>
          <p:cNvSpPr/>
          <p:nvPr/>
        </p:nvSpPr>
        <p:spPr>
          <a:xfrm>
            <a:off x="4663450" y="4783462"/>
            <a:ext cx="2907900" cy="86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600" u="none" cap="none" strike="noStrike">
                <a:solidFill>
                  <a:srgbClr val="2A9DA6"/>
                </a:solidFill>
                <a:latin typeface="Calibri"/>
                <a:ea typeface="Calibri"/>
                <a:cs typeface="Calibri"/>
                <a:sym typeface="Calibri"/>
              </a:rPr>
              <a:t>IMPACT: the open contribution of expert prompts; continuous improvement</a:t>
            </a:r>
            <a:endParaRPr b="0" i="0" sz="1600" u="none" cap="none" strike="noStrike">
              <a:solidFill>
                <a:schemeClr val="dk1"/>
              </a:solidFill>
              <a:latin typeface="Calibri"/>
              <a:ea typeface="Calibri"/>
              <a:cs typeface="Calibri"/>
              <a:sym typeface="Calibri"/>
            </a:endParaRPr>
          </a:p>
        </p:txBody>
      </p:sp>
      <p:sp>
        <p:nvSpPr>
          <p:cNvPr id="202" name="Google Shape;202;p8"/>
          <p:cNvSpPr/>
          <p:nvPr/>
        </p:nvSpPr>
        <p:spPr>
          <a:xfrm>
            <a:off x="8101575" y="2194550"/>
            <a:ext cx="3456300" cy="3627300"/>
          </a:xfrm>
          <a:prstGeom prst="rect">
            <a:avLst/>
          </a:prstGeom>
          <a:solidFill>
            <a:srgbClr val="22395C"/>
          </a:solidFill>
          <a:ln>
            <a:noFill/>
          </a:ln>
          <a:effectLst>
            <a:outerShdw blurRad="88900" rotWithShape="0" algn="bl" dir="8100000" dist="38100">
              <a:srgbClr val="000000">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8"/>
          <p:cNvSpPr/>
          <p:nvPr/>
        </p:nvSpPr>
        <p:spPr>
          <a:xfrm>
            <a:off x="8421624" y="2514600"/>
            <a:ext cx="777300" cy="7773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4" name="Google Shape;204;p8"/>
          <p:cNvPicPr preferRelativeResize="0"/>
          <p:nvPr/>
        </p:nvPicPr>
        <p:blipFill rotWithShape="1">
          <a:blip r:embed="rId4">
            <a:alphaModFix/>
          </a:blip>
          <a:srcRect b="0" l="0" r="0" t="0"/>
          <a:stretch/>
        </p:blipFill>
        <p:spPr>
          <a:xfrm>
            <a:off x="8604504" y="2697480"/>
            <a:ext cx="411480" cy="411480"/>
          </a:xfrm>
          <a:prstGeom prst="rect">
            <a:avLst/>
          </a:prstGeom>
          <a:noFill/>
          <a:ln>
            <a:noFill/>
          </a:ln>
        </p:spPr>
      </p:pic>
      <p:sp>
        <p:nvSpPr>
          <p:cNvPr id="205" name="Google Shape;205;p8"/>
          <p:cNvSpPr/>
          <p:nvPr/>
        </p:nvSpPr>
        <p:spPr>
          <a:xfrm>
            <a:off x="8394192" y="3401568"/>
            <a:ext cx="2907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Georgia"/>
              <a:buNone/>
            </a:pPr>
            <a:r>
              <a:rPr b="1" i="0" lang="en-US" sz="1700" u="none" cap="none" strike="noStrike">
                <a:solidFill>
                  <a:srgbClr val="FFFFFF"/>
                </a:solidFill>
                <a:latin typeface="Georgia"/>
                <a:ea typeface="Georgia"/>
                <a:cs typeface="Georgia"/>
                <a:sym typeface="Georgia"/>
              </a:rPr>
              <a:t>Safety &amp; validation tooling</a:t>
            </a:r>
            <a:endParaRPr b="0" i="0" sz="1700" u="none" cap="none" strike="noStrike">
              <a:solidFill>
                <a:schemeClr val="dk1"/>
              </a:solidFill>
              <a:latin typeface="Calibri"/>
              <a:ea typeface="Calibri"/>
              <a:cs typeface="Calibri"/>
              <a:sym typeface="Calibri"/>
            </a:endParaRPr>
          </a:p>
        </p:txBody>
      </p:sp>
      <p:sp>
        <p:nvSpPr>
          <p:cNvPr id="206" name="Google Shape;206;p8"/>
          <p:cNvSpPr/>
          <p:nvPr/>
        </p:nvSpPr>
        <p:spPr>
          <a:xfrm>
            <a:off x="8394201" y="4023350"/>
            <a:ext cx="31272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400"/>
              <a:buFont typeface="Calibri"/>
              <a:buNone/>
            </a:pPr>
            <a:r>
              <a:rPr b="0" i="0" lang="en-US" sz="1600" u="none" cap="none" strike="noStrike">
                <a:solidFill>
                  <a:srgbClr val="CADCFC"/>
                </a:solidFill>
                <a:latin typeface="Calibri"/>
                <a:ea typeface="Calibri"/>
                <a:cs typeface="Calibri"/>
                <a:sym typeface="Calibri"/>
              </a:rPr>
              <a:t>Built-in guardrails, PII handling, and testing capability.</a:t>
            </a:r>
            <a:endParaRPr b="0" i="0" sz="1600" u="none" cap="none" strike="noStrike">
              <a:solidFill>
                <a:schemeClr val="dk1"/>
              </a:solidFill>
              <a:latin typeface="Calibri"/>
              <a:ea typeface="Calibri"/>
              <a:cs typeface="Calibri"/>
              <a:sym typeface="Calibri"/>
            </a:endParaRPr>
          </a:p>
        </p:txBody>
      </p:sp>
      <p:sp>
        <p:nvSpPr>
          <p:cNvPr id="207" name="Google Shape;207;p8"/>
          <p:cNvSpPr/>
          <p:nvPr/>
        </p:nvSpPr>
        <p:spPr>
          <a:xfrm>
            <a:off x="8394200" y="4732638"/>
            <a:ext cx="2907900" cy="86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600" u="none" cap="none" strike="noStrike">
                <a:solidFill>
                  <a:srgbClr val="2A9DA6"/>
                </a:solidFill>
                <a:latin typeface="Calibri"/>
                <a:ea typeface="Calibri"/>
                <a:cs typeface="Calibri"/>
                <a:sym typeface="Calibri"/>
              </a:rPr>
              <a:t>IMPACT: baseline standards for trustworthy deployment, human in the loop</a:t>
            </a:r>
            <a:endParaRPr b="0" i="0" sz="1600" u="none" cap="none" strike="noStrike">
              <a:solidFill>
                <a:schemeClr val="dk1"/>
              </a:solidFill>
              <a:latin typeface="Calibri"/>
              <a:ea typeface="Calibri"/>
              <a:cs typeface="Calibri"/>
              <a:sym typeface="Calibri"/>
            </a:endParaRPr>
          </a:p>
        </p:txBody>
      </p:sp>
      <p:sp>
        <p:nvSpPr>
          <p:cNvPr id="208" name="Google Shape;208;p8"/>
          <p:cNvSpPr/>
          <p:nvPr/>
        </p:nvSpPr>
        <p:spPr>
          <a:xfrm>
            <a:off x="640080" y="6216673"/>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100"/>
              <a:buFont typeface="Calibri"/>
              <a:buNone/>
            </a:pPr>
            <a:r>
              <a:rPr b="1" i="0" lang="en-US" sz="1800" u="none" cap="none" strike="noStrike">
                <a:solidFill>
                  <a:srgbClr val="8FA8CC"/>
                </a:solidFill>
                <a:latin typeface="Calibri"/>
                <a:ea typeface="Calibri"/>
                <a:cs typeface="Calibri"/>
                <a:sym typeface="Calibri"/>
              </a:rPr>
              <a:t>LEGAL AI INFRASTRUCTURE</a:t>
            </a:r>
            <a:endParaRPr b="0" i="0" sz="1800" u="none" cap="none" strike="noStrike">
              <a:solidFill>
                <a:schemeClr val="dk1"/>
              </a:solidFill>
              <a:latin typeface="Calibri"/>
              <a:ea typeface="Calibri"/>
              <a:cs typeface="Calibri"/>
              <a:sym typeface="Calibri"/>
            </a:endParaRPr>
          </a:p>
        </p:txBody>
      </p:sp>
      <p:sp>
        <p:nvSpPr>
          <p:cNvPr id="209" name="Google Shape;209;p8"/>
          <p:cNvSpPr/>
          <p:nvPr/>
        </p:nvSpPr>
        <p:spPr>
          <a:xfrm>
            <a:off x="11521440" y="6446520"/>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210" name="Google Shape;210;p8"/>
          <p:cNvSpPr/>
          <p:nvPr/>
        </p:nvSpPr>
        <p:spPr>
          <a:xfrm>
            <a:off x="640080" y="6533804"/>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pic>
        <p:nvPicPr>
          <p:cNvPr descr="preencoded.png" id="211" name="Google Shape;211;p8"/>
          <p:cNvPicPr preferRelativeResize="0"/>
          <p:nvPr/>
        </p:nvPicPr>
        <p:blipFill rotWithShape="1">
          <a:blip r:embed="rId5">
            <a:alphaModFix/>
          </a:blip>
          <a:srcRect b="0" l="0" r="0" t="0"/>
          <a:stretch/>
        </p:blipFill>
        <p:spPr>
          <a:xfrm>
            <a:off x="1140316" y="2707460"/>
            <a:ext cx="411475" cy="411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16" name="Shape 216"/>
        <p:cNvGrpSpPr/>
        <p:nvPr/>
      </p:nvGrpSpPr>
      <p:grpSpPr>
        <a:xfrm>
          <a:off x="0" y="0"/>
          <a:ext cx="0" cy="0"/>
          <a:chOff x="0" y="0"/>
          <a:chExt cx="0" cy="0"/>
        </a:xfrm>
      </p:grpSpPr>
      <p:sp>
        <p:nvSpPr>
          <p:cNvPr id="217" name="Google Shape;217;p9"/>
          <p:cNvSpPr/>
          <p:nvPr/>
        </p:nvSpPr>
        <p:spPr>
          <a:xfrm>
            <a:off x="640075" y="142575"/>
            <a:ext cx="11155800" cy="76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2200" u="none" cap="none" strike="noStrike">
                <a:solidFill>
                  <a:srgbClr val="2A9DA6"/>
                </a:solidFill>
                <a:latin typeface="Calibri"/>
                <a:ea typeface="Calibri"/>
                <a:cs typeface="Calibri"/>
                <a:sym typeface="Calibri"/>
              </a:rPr>
              <a:t>A 5-MINUTE DEMO — TO SHOW THE POWER OF THE INFRASTRUCTURE, AND WHAT'S NOW POSSIBLE</a:t>
            </a:r>
            <a:endParaRPr b="0" i="0" sz="2200" u="none" cap="none" strike="noStrike">
              <a:solidFill>
                <a:schemeClr val="dk1"/>
              </a:solidFill>
              <a:latin typeface="Calibri"/>
              <a:ea typeface="Calibri"/>
              <a:cs typeface="Calibri"/>
              <a:sym typeface="Calibri"/>
            </a:endParaRPr>
          </a:p>
        </p:txBody>
      </p:sp>
      <p:sp>
        <p:nvSpPr>
          <p:cNvPr id="218" name="Google Shape;218;p9"/>
          <p:cNvSpPr/>
          <p:nvPr/>
        </p:nvSpPr>
        <p:spPr>
          <a:xfrm>
            <a:off x="640075" y="911126"/>
            <a:ext cx="11155800" cy="76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2400"/>
              <a:buFont typeface="Georgia"/>
              <a:buNone/>
            </a:pPr>
            <a:r>
              <a:rPr b="1" i="0" lang="en-US" sz="2400" u="none" cap="none" strike="noStrike">
                <a:solidFill>
                  <a:srgbClr val="1A2E4A"/>
                </a:solidFill>
                <a:latin typeface="Georgia"/>
                <a:ea typeface="Georgia"/>
                <a:cs typeface="Georgia"/>
                <a:sym typeface="Georgia"/>
              </a:rPr>
              <a:t xml:space="preserve">A working AI eviction-defense tool — built by a non-engineer attorney, in 3 days, for $0 </a:t>
            </a:r>
            <a:endParaRPr b="0" i="0" sz="2400" u="none" cap="none" strike="noStrike">
              <a:solidFill>
                <a:schemeClr val="dk1"/>
              </a:solidFill>
              <a:latin typeface="Calibri"/>
              <a:ea typeface="Calibri"/>
              <a:cs typeface="Calibri"/>
              <a:sym typeface="Calibri"/>
            </a:endParaRPr>
          </a:p>
        </p:txBody>
      </p:sp>
      <p:sp>
        <p:nvSpPr>
          <p:cNvPr id="219" name="Google Shape;219;p9"/>
          <p:cNvSpPr/>
          <p:nvPr/>
        </p:nvSpPr>
        <p:spPr>
          <a:xfrm>
            <a:off x="640080" y="1828800"/>
            <a:ext cx="3246000" cy="13716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9"/>
          <p:cNvSpPr/>
          <p:nvPr/>
        </p:nvSpPr>
        <p:spPr>
          <a:xfrm>
            <a:off x="640080" y="1828800"/>
            <a:ext cx="73200" cy="13716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9"/>
          <p:cNvSpPr/>
          <p:nvPr/>
        </p:nvSpPr>
        <p:spPr>
          <a:xfrm>
            <a:off x="868680" y="1938528"/>
            <a:ext cx="28803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3400"/>
              <a:buFont typeface="Georgia"/>
              <a:buNone/>
            </a:pPr>
            <a:r>
              <a:rPr b="1" i="0" lang="en-US" sz="3400" u="none" cap="none" strike="noStrike">
                <a:solidFill>
                  <a:srgbClr val="1A2E4A"/>
                </a:solidFill>
                <a:latin typeface="Georgia"/>
                <a:ea typeface="Georgia"/>
                <a:cs typeface="Georgia"/>
                <a:sym typeface="Georgia"/>
              </a:rPr>
              <a:t>1</a:t>
            </a:r>
            <a:endParaRPr b="0" i="0" sz="3400" u="none" cap="none" strike="noStrike">
              <a:solidFill>
                <a:schemeClr val="dk1"/>
              </a:solidFill>
              <a:latin typeface="Calibri"/>
              <a:ea typeface="Calibri"/>
              <a:cs typeface="Calibri"/>
              <a:sym typeface="Calibri"/>
            </a:endParaRPr>
          </a:p>
        </p:txBody>
      </p:sp>
      <p:sp>
        <p:nvSpPr>
          <p:cNvPr id="222" name="Google Shape;222;p9"/>
          <p:cNvSpPr/>
          <p:nvPr/>
        </p:nvSpPr>
        <p:spPr>
          <a:xfrm>
            <a:off x="886968" y="2578608"/>
            <a:ext cx="28347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300"/>
              <a:buFont typeface="Calibri"/>
              <a:buNone/>
            </a:pPr>
            <a:r>
              <a:rPr b="0" i="0" lang="en-US" sz="1800" u="none" cap="none" strike="noStrike">
                <a:solidFill>
                  <a:srgbClr val="4A5568"/>
                </a:solidFill>
                <a:latin typeface="Calibri"/>
                <a:ea typeface="Calibri"/>
                <a:cs typeface="Calibri"/>
                <a:sym typeface="Calibri"/>
              </a:rPr>
              <a:t>attorney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300"/>
              <a:buFont typeface="Calibri"/>
              <a:buNone/>
            </a:pPr>
            <a:r>
              <a:rPr b="0" i="0" lang="en-US" sz="1800" u="none" cap="none" strike="noStrike">
                <a:solidFill>
                  <a:srgbClr val="4A5568"/>
                </a:solidFill>
                <a:latin typeface="Calibri"/>
                <a:ea typeface="Calibri"/>
                <a:cs typeface="Calibri"/>
                <a:sym typeface="Calibri"/>
              </a:rPr>
              <a:t>no software coding</a:t>
            </a:r>
            <a:endParaRPr b="0" i="0" sz="1800" u="none" cap="none" strike="noStrike">
              <a:solidFill>
                <a:schemeClr val="dk1"/>
              </a:solidFill>
              <a:latin typeface="Calibri"/>
              <a:ea typeface="Calibri"/>
              <a:cs typeface="Calibri"/>
              <a:sym typeface="Calibri"/>
            </a:endParaRPr>
          </a:p>
        </p:txBody>
      </p:sp>
      <p:sp>
        <p:nvSpPr>
          <p:cNvPr id="223" name="Google Shape;223;p9"/>
          <p:cNvSpPr/>
          <p:nvPr/>
        </p:nvSpPr>
        <p:spPr>
          <a:xfrm>
            <a:off x="4160520" y="1828800"/>
            <a:ext cx="3246000" cy="13716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9"/>
          <p:cNvSpPr/>
          <p:nvPr/>
        </p:nvSpPr>
        <p:spPr>
          <a:xfrm>
            <a:off x="4160520" y="1828800"/>
            <a:ext cx="73200" cy="13716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9"/>
          <p:cNvSpPr/>
          <p:nvPr/>
        </p:nvSpPr>
        <p:spPr>
          <a:xfrm>
            <a:off x="4389120" y="1938528"/>
            <a:ext cx="28803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3400"/>
              <a:buFont typeface="Georgia"/>
              <a:buNone/>
            </a:pPr>
            <a:r>
              <a:rPr b="1" i="0" lang="en-US" sz="3400" u="none" cap="none" strike="noStrike">
                <a:solidFill>
                  <a:srgbClr val="1A2E4A"/>
                </a:solidFill>
                <a:latin typeface="Georgia"/>
                <a:ea typeface="Georgia"/>
                <a:cs typeface="Georgia"/>
                <a:sym typeface="Georgia"/>
              </a:rPr>
              <a:t>3 days</a:t>
            </a:r>
            <a:endParaRPr b="0" i="0" sz="3400" u="none" cap="none" strike="noStrike">
              <a:solidFill>
                <a:schemeClr val="dk1"/>
              </a:solidFill>
              <a:latin typeface="Calibri"/>
              <a:ea typeface="Calibri"/>
              <a:cs typeface="Calibri"/>
              <a:sym typeface="Calibri"/>
            </a:endParaRPr>
          </a:p>
        </p:txBody>
      </p:sp>
      <p:sp>
        <p:nvSpPr>
          <p:cNvPr id="226" name="Google Shape;226;p9"/>
          <p:cNvSpPr/>
          <p:nvPr/>
        </p:nvSpPr>
        <p:spPr>
          <a:xfrm>
            <a:off x="4407408" y="2578608"/>
            <a:ext cx="28347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300"/>
              <a:buFont typeface="Calibri"/>
              <a:buNone/>
            </a:pPr>
            <a:r>
              <a:rPr b="0" i="0" lang="en-US" sz="1800" u="none" cap="none" strike="noStrike">
                <a:solidFill>
                  <a:srgbClr val="4A5568"/>
                </a:solidFill>
                <a:latin typeface="Calibri"/>
                <a:ea typeface="Calibri"/>
                <a:cs typeface="Calibri"/>
                <a:sym typeface="Calibri"/>
              </a:rPr>
              <a:t>from idea to</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300"/>
              <a:buFont typeface="Calibri"/>
              <a:buNone/>
            </a:pPr>
            <a:r>
              <a:rPr b="0" i="0" lang="en-US" sz="1800" u="none" cap="none" strike="noStrike">
                <a:solidFill>
                  <a:srgbClr val="4A5568"/>
                </a:solidFill>
                <a:latin typeface="Calibri"/>
                <a:ea typeface="Calibri"/>
                <a:cs typeface="Calibri"/>
                <a:sym typeface="Calibri"/>
              </a:rPr>
              <a:t>working prototype</a:t>
            </a:r>
            <a:endParaRPr b="0" i="0" sz="1800" u="none" cap="none" strike="noStrike">
              <a:solidFill>
                <a:schemeClr val="dk1"/>
              </a:solidFill>
              <a:latin typeface="Calibri"/>
              <a:ea typeface="Calibri"/>
              <a:cs typeface="Calibri"/>
              <a:sym typeface="Calibri"/>
            </a:endParaRPr>
          </a:p>
        </p:txBody>
      </p:sp>
      <p:sp>
        <p:nvSpPr>
          <p:cNvPr id="227" name="Google Shape;227;p9"/>
          <p:cNvSpPr/>
          <p:nvPr/>
        </p:nvSpPr>
        <p:spPr>
          <a:xfrm>
            <a:off x="7680960" y="1828800"/>
            <a:ext cx="3246000" cy="13716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9"/>
          <p:cNvSpPr/>
          <p:nvPr/>
        </p:nvSpPr>
        <p:spPr>
          <a:xfrm>
            <a:off x="7680960" y="1828800"/>
            <a:ext cx="73200" cy="13716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9"/>
          <p:cNvSpPr/>
          <p:nvPr/>
        </p:nvSpPr>
        <p:spPr>
          <a:xfrm>
            <a:off x="7909560" y="1938528"/>
            <a:ext cx="28803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3400"/>
              <a:buFont typeface="Georgia"/>
              <a:buNone/>
            </a:pPr>
            <a:r>
              <a:rPr b="1" i="0" lang="en-US" sz="3400" u="none" cap="none" strike="noStrike">
                <a:solidFill>
                  <a:srgbClr val="1A2E4A"/>
                </a:solidFill>
                <a:latin typeface="Georgia"/>
                <a:ea typeface="Georgia"/>
                <a:cs typeface="Georgia"/>
                <a:sym typeface="Georgia"/>
              </a:rPr>
              <a:t>$0</a:t>
            </a:r>
            <a:endParaRPr b="0" i="0" sz="3400" u="none" cap="none" strike="noStrike">
              <a:solidFill>
                <a:schemeClr val="dk1"/>
              </a:solidFill>
              <a:latin typeface="Calibri"/>
              <a:ea typeface="Calibri"/>
              <a:cs typeface="Calibri"/>
              <a:sym typeface="Calibri"/>
            </a:endParaRPr>
          </a:p>
        </p:txBody>
      </p:sp>
      <p:sp>
        <p:nvSpPr>
          <p:cNvPr id="230" name="Google Shape;230;p9"/>
          <p:cNvSpPr/>
          <p:nvPr/>
        </p:nvSpPr>
        <p:spPr>
          <a:xfrm>
            <a:off x="7927848" y="2578608"/>
            <a:ext cx="28347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300"/>
              <a:buFont typeface="Calibri"/>
              <a:buNone/>
            </a:pPr>
            <a:r>
              <a:rPr b="0" i="0" lang="en-US" sz="1800" u="none" cap="none" strike="noStrike">
                <a:solidFill>
                  <a:srgbClr val="4A5568"/>
                </a:solidFill>
                <a:latin typeface="Calibri"/>
                <a:ea typeface="Calibri"/>
                <a:cs typeface="Calibri"/>
                <a:sym typeface="Calibri"/>
              </a:rPr>
              <a:t>versus six figures and</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300"/>
              <a:buFont typeface="Calibri"/>
              <a:buNone/>
            </a:pPr>
            <a:r>
              <a:rPr b="0" i="0" lang="en-US" sz="1800" u="none" cap="none" strike="noStrike">
                <a:solidFill>
                  <a:srgbClr val="4A5568"/>
                </a:solidFill>
                <a:latin typeface="Calibri"/>
                <a:ea typeface="Calibri"/>
                <a:cs typeface="Calibri"/>
                <a:sym typeface="Calibri"/>
              </a:rPr>
              <a:t>multi-month projects, before</a:t>
            </a:r>
            <a:endParaRPr b="0" i="0" sz="1800" u="none" cap="none" strike="noStrike">
              <a:solidFill>
                <a:schemeClr val="dk1"/>
              </a:solidFill>
              <a:latin typeface="Calibri"/>
              <a:ea typeface="Calibri"/>
              <a:cs typeface="Calibri"/>
              <a:sym typeface="Calibri"/>
            </a:endParaRPr>
          </a:p>
        </p:txBody>
      </p:sp>
      <p:sp>
        <p:nvSpPr>
          <p:cNvPr id="231" name="Google Shape;231;p9"/>
          <p:cNvSpPr/>
          <p:nvPr/>
        </p:nvSpPr>
        <p:spPr>
          <a:xfrm>
            <a:off x="640080" y="3456432"/>
            <a:ext cx="6766500" cy="25602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9"/>
          <p:cNvSpPr/>
          <p:nvPr/>
        </p:nvSpPr>
        <p:spPr>
          <a:xfrm>
            <a:off x="914400" y="3639312"/>
            <a:ext cx="6217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6B72"/>
              </a:buClr>
              <a:buSzPts val="1400"/>
              <a:buFont typeface="Calibri"/>
              <a:buNone/>
            </a:pPr>
            <a:r>
              <a:rPr b="1" i="0" lang="en-US" sz="1800" u="none" cap="none" strike="noStrike">
                <a:solidFill>
                  <a:srgbClr val="1A6B72"/>
                </a:solidFill>
                <a:latin typeface="Calibri"/>
                <a:ea typeface="Calibri"/>
                <a:cs typeface="Calibri"/>
                <a:sym typeface="Calibri"/>
              </a:rPr>
              <a:t>THE EVICTION NOTICE VALIDATOR</a:t>
            </a:r>
            <a:endParaRPr b="0" i="0" sz="1800" u="none" cap="none" strike="noStrike">
              <a:solidFill>
                <a:schemeClr val="dk1"/>
              </a:solidFill>
              <a:latin typeface="Calibri"/>
              <a:ea typeface="Calibri"/>
              <a:cs typeface="Calibri"/>
              <a:sym typeface="Calibri"/>
            </a:endParaRPr>
          </a:p>
        </p:txBody>
      </p:sp>
      <p:sp>
        <p:nvSpPr>
          <p:cNvPr id="233" name="Google Shape;233;p9"/>
          <p:cNvSpPr/>
          <p:nvPr/>
        </p:nvSpPr>
        <p:spPr>
          <a:xfrm>
            <a:off x="960120" y="4023360"/>
            <a:ext cx="6126600" cy="15546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A5568"/>
              </a:buClr>
              <a:buSzPts val="1800"/>
              <a:buFont typeface="Calibri"/>
              <a:buChar char="•"/>
            </a:pPr>
            <a:r>
              <a:rPr b="0" i="0" lang="en-US" sz="1800" u="none" cap="none" strike="noStrike">
                <a:solidFill>
                  <a:srgbClr val="4A5568"/>
                </a:solidFill>
                <a:latin typeface="Calibri"/>
                <a:ea typeface="Calibri"/>
                <a:cs typeface="Calibri"/>
                <a:sym typeface="Calibri"/>
              </a:rPr>
              <a:t>Retrieves current California statutes — live</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4A5568"/>
              </a:buClr>
              <a:buSzPts val="1800"/>
              <a:buFont typeface="Calibri"/>
              <a:buChar char="•"/>
            </a:pPr>
            <a:r>
              <a:rPr b="0" i="0" lang="en-US" sz="1800" u="none" cap="none" strike="noStrike">
                <a:solidFill>
                  <a:srgbClr val="4A5568"/>
                </a:solidFill>
                <a:latin typeface="Calibri"/>
                <a:ea typeface="Calibri"/>
                <a:cs typeface="Calibri"/>
                <a:sym typeface="Calibri"/>
              </a:rPr>
              <a:t>Applies structured legal decision logic across multiple states</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4A5568"/>
              </a:buClr>
              <a:buSzPts val="1800"/>
              <a:buFont typeface="Calibri"/>
              <a:buChar char="•"/>
            </a:pPr>
            <a:r>
              <a:rPr b="0" i="0" lang="en-US" sz="1800" u="none" cap="none" strike="noStrike">
                <a:solidFill>
                  <a:srgbClr val="4A5568"/>
                </a:solidFill>
                <a:latin typeface="Calibri"/>
                <a:ea typeface="Calibri"/>
                <a:cs typeface="Calibri"/>
                <a:sym typeface="Calibri"/>
              </a:rPr>
              <a:t>Flags procedural defects in an eviction notice, with citations</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4A5568"/>
              </a:buClr>
              <a:buSzPts val="1800"/>
              <a:buFont typeface="Calibri"/>
              <a:buChar char="•"/>
            </a:pPr>
            <a:r>
              <a:rPr b="0" i="0" lang="en-US" sz="1800" u="none" cap="none" strike="noStrike">
                <a:solidFill>
                  <a:srgbClr val="4A5568"/>
                </a:solidFill>
                <a:latin typeface="Calibri"/>
                <a:ea typeface="Calibri"/>
                <a:cs typeface="Calibri"/>
                <a:sym typeface="Calibri"/>
              </a:rPr>
              <a:t>Returns plain-language guidance a tenant can act on</a:t>
            </a:r>
            <a:endParaRPr b="0" i="0" sz="1800" u="none" cap="none" strike="noStrike">
              <a:solidFill>
                <a:schemeClr val="dk1"/>
              </a:solidFill>
              <a:latin typeface="Calibri"/>
              <a:ea typeface="Calibri"/>
              <a:cs typeface="Calibri"/>
              <a:sym typeface="Calibri"/>
            </a:endParaRPr>
          </a:p>
        </p:txBody>
      </p:sp>
      <p:sp>
        <p:nvSpPr>
          <p:cNvPr id="234" name="Google Shape;234;p9"/>
          <p:cNvSpPr/>
          <p:nvPr/>
        </p:nvSpPr>
        <p:spPr>
          <a:xfrm>
            <a:off x="960125" y="5586799"/>
            <a:ext cx="28347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300"/>
              <a:buFont typeface="Calibri"/>
              <a:buNone/>
            </a:pPr>
            <a:r>
              <a:rPr b="1" i="1" lang="en-US" sz="3000" u="none" cap="none" strike="noStrike">
                <a:solidFill>
                  <a:srgbClr val="2A9DA6"/>
                </a:solidFill>
                <a:latin typeface="Calibri"/>
                <a:ea typeface="Calibri"/>
                <a:cs typeface="Calibri"/>
                <a:sym typeface="Calibri"/>
              </a:rPr>
              <a:t>[ link to demo ]</a:t>
            </a:r>
            <a:endParaRPr b="1" i="0" sz="3000" u="none" cap="none" strike="noStrike">
              <a:solidFill>
                <a:schemeClr val="dk1"/>
              </a:solidFill>
              <a:latin typeface="Calibri"/>
              <a:ea typeface="Calibri"/>
              <a:cs typeface="Calibri"/>
              <a:sym typeface="Calibri"/>
            </a:endParaRPr>
          </a:p>
        </p:txBody>
      </p:sp>
      <p:sp>
        <p:nvSpPr>
          <p:cNvPr id="235" name="Google Shape;235;p9"/>
          <p:cNvSpPr/>
          <p:nvPr/>
        </p:nvSpPr>
        <p:spPr>
          <a:xfrm>
            <a:off x="7635250" y="3456425"/>
            <a:ext cx="3291600" cy="2560200"/>
          </a:xfrm>
          <a:prstGeom prst="rect">
            <a:avLst/>
          </a:prstGeom>
          <a:solidFill>
            <a:srgbClr val="1A2E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9"/>
          <p:cNvSpPr/>
          <p:nvPr/>
        </p:nvSpPr>
        <p:spPr>
          <a:xfrm>
            <a:off x="7788350" y="3661225"/>
            <a:ext cx="3001500" cy="205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600"/>
              <a:buFont typeface="Calibri"/>
              <a:buNone/>
            </a:pPr>
            <a:r>
              <a:rPr b="0" i="0" lang="en-US" sz="1800" u="none" cap="none" strike="noStrike">
                <a:solidFill>
                  <a:srgbClr val="CADCFC"/>
                </a:solidFill>
                <a:latin typeface="Calibri"/>
                <a:ea typeface="Calibri"/>
                <a:cs typeface="Calibri"/>
                <a:sym typeface="Calibri"/>
              </a:rPr>
              <a:t xml:space="preserve">What changed isn't a legal AI app — </a:t>
            </a:r>
            <a:r>
              <a:rPr b="1" i="0" lang="en-US" sz="1800" u="none" cap="none" strike="noStrike">
                <a:solidFill>
                  <a:srgbClr val="FFFFFF"/>
                </a:solidFill>
                <a:latin typeface="Calibri"/>
                <a:ea typeface="Calibri"/>
                <a:cs typeface="Calibri"/>
                <a:sym typeface="Calibri"/>
              </a:rPr>
              <a:t>it's a legal infrastructure</a:t>
            </a:r>
            <a:endParaRPr b="1" i="0" sz="18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CADCFC"/>
              </a:buClr>
              <a:buSzPts val="1600"/>
              <a:buFont typeface="Calibri"/>
              <a:buNone/>
            </a:pPr>
            <a:r>
              <a:t/>
            </a:r>
            <a:endParaRPr b="1" i="0" sz="18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CADCFC"/>
              </a:buClr>
              <a:buSzPts val="1600"/>
              <a:buFont typeface="Calibri"/>
              <a:buNone/>
            </a:pPr>
            <a:r>
              <a:rPr b="1" i="0" lang="en-US" sz="1800" u="none" cap="none" strike="noStrike">
                <a:solidFill>
                  <a:srgbClr val="FFFFFF"/>
                </a:solidFill>
                <a:latin typeface="Calibri"/>
                <a:ea typeface="Calibri"/>
                <a:cs typeface="Calibri"/>
                <a:sym typeface="Calibri"/>
              </a:rPr>
              <a:t>New way is more accessible, accurate, scalable &amp; impactful</a:t>
            </a:r>
            <a:endParaRPr b="1" i="0" sz="1800" u="none" cap="none" strike="noStrike">
              <a:solidFill>
                <a:srgbClr val="FFFFFF"/>
              </a:solidFill>
              <a:latin typeface="Calibri"/>
              <a:ea typeface="Calibri"/>
              <a:cs typeface="Calibri"/>
              <a:sym typeface="Calibri"/>
            </a:endParaRPr>
          </a:p>
        </p:txBody>
      </p:sp>
      <p:sp>
        <p:nvSpPr>
          <p:cNvPr id="237" name="Google Shape;237;p9"/>
          <p:cNvSpPr/>
          <p:nvPr/>
        </p:nvSpPr>
        <p:spPr>
          <a:xfrm>
            <a:off x="640080" y="6174231"/>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8AB"/>
              </a:buClr>
              <a:buSzPts val="1100"/>
              <a:buFont typeface="Calibri"/>
              <a:buNone/>
            </a:pPr>
            <a:r>
              <a:rPr b="1" i="0" lang="en-US" sz="1800" u="none" cap="none" strike="noStrike">
                <a:solidFill>
                  <a:srgbClr val="8A98AB"/>
                </a:solidFill>
                <a:latin typeface="Calibri"/>
                <a:ea typeface="Calibri"/>
                <a:cs typeface="Calibri"/>
                <a:sym typeface="Calibri"/>
              </a:rPr>
              <a:t>DEMO</a:t>
            </a:r>
            <a:endParaRPr b="0" i="0" sz="1800" u="none" cap="none" strike="noStrike">
              <a:solidFill>
                <a:schemeClr val="dk1"/>
              </a:solidFill>
              <a:latin typeface="Calibri"/>
              <a:ea typeface="Calibri"/>
              <a:cs typeface="Calibri"/>
              <a:sym typeface="Calibri"/>
            </a:endParaRPr>
          </a:p>
        </p:txBody>
      </p:sp>
      <p:sp>
        <p:nvSpPr>
          <p:cNvPr id="238" name="Google Shape;238;p9"/>
          <p:cNvSpPr/>
          <p:nvPr/>
        </p:nvSpPr>
        <p:spPr>
          <a:xfrm>
            <a:off x="11521440" y="6446520"/>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sp>
        <p:nvSpPr>
          <p:cNvPr id="239" name="Google Shape;239;p9"/>
          <p:cNvSpPr/>
          <p:nvPr/>
        </p:nvSpPr>
        <p:spPr>
          <a:xfrm>
            <a:off x="640080" y="6533804"/>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244" name="Shape 244"/>
        <p:cNvGrpSpPr/>
        <p:nvPr/>
      </p:nvGrpSpPr>
      <p:grpSpPr>
        <a:xfrm>
          <a:off x="0" y="0"/>
          <a:ext cx="0" cy="0"/>
          <a:chOff x="0" y="0"/>
          <a:chExt cx="0" cy="0"/>
        </a:xfrm>
      </p:grpSpPr>
      <p:pic>
        <p:nvPicPr>
          <p:cNvPr descr="preencoded.png" id="245" name="Google Shape;245;p10"/>
          <p:cNvPicPr preferRelativeResize="0"/>
          <p:nvPr/>
        </p:nvPicPr>
        <p:blipFill rotWithShape="1">
          <a:blip r:embed="rId3">
            <a:alphaModFix/>
          </a:blip>
          <a:srcRect b="0" l="0" r="0" t="0"/>
          <a:stretch/>
        </p:blipFill>
        <p:spPr>
          <a:xfrm>
            <a:off x="640080" y="502920"/>
            <a:ext cx="4297681" cy="5559551"/>
          </a:xfrm>
          <a:prstGeom prst="rect">
            <a:avLst/>
          </a:prstGeom>
          <a:noFill/>
          <a:ln>
            <a:noFill/>
          </a:ln>
        </p:spPr>
      </p:pic>
      <p:sp>
        <p:nvSpPr>
          <p:cNvPr id="246" name="Google Shape;246;p10"/>
          <p:cNvSpPr/>
          <p:nvPr/>
        </p:nvSpPr>
        <p:spPr>
          <a:xfrm>
            <a:off x="3611880" y="2542032"/>
            <a:ext cx="1143000" cy="457200"/>
          </a:xfrm>
          <a:prstGeom prst="ellipse">
            <a:avLst/>
          </a:prstGeom>
          <a:noFill/>
          <a:ln cap="flat" cmpd="sng" w="38100">
            <a:solidFill>
              <a:srgbClr val="C75B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0"/>
          <p:cNvSpPr/>
          <p:nvPr/>
        </p:nvSpPr>
        <p:spPr>
          <a:xfrm>
            <a:off x="5394949" y="877000"/>
            <a:ext cx="65838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400"/>
              <a:buFont typeface="Calibri"/>
              <a:buNone/>
            </a:pPr>
            <a:r>
              <a:rPr b="1" i="0" lang="en-US" sz="1800" u="none" cap="none" strike="noStrike">
                <a:solidFill>
                  <a:srgbClr val="2A9DA6"/>
                </a:solidFill>
                <a:latin typeface="Calibri"/>
                <a:ea typeface="Calibri"/>
                <a:cs typeface="Calibri"/>
                <a:sym typeface="Calibri"/>
              </a:rPr>
              <a:t>IT'S 10 PM. MARIA JUST GOT THIS - A 3 DAY NOTICE TO PAY OR LEAVE</a:t>
            </a:r>
            <a:endParaRPr b="0" i="0" sz="1800" u="none" cap="none" strike="noStrike">
              <a:solidFill>
                <a:schemeClr val="dk1"/>
              </a:solidFill>
              <a:latin typeface="Calibri"/>
              <a:ea typeface="Calibri"/>
              <a:cs typeface="Calibri"/>
              <a:sym typeface="Calibri"/>
            </a:endParaRPr>
          </a:p>
        </p:txBody>
      </p:sp>
      <p:sp>
        <p:nvSpPr>
          <p:cNvPr id="248" name="Google Shape;248;p10"/>
          <p:cNvSpPr/>
          <p:nvPr/>
        </p:nvSpPr>
        <p:spPr>
          <a:xfrm>
            <a:off x="5349250" y="1374025"/>
            <a:ext cx="6354300" cy="114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Georgia"/>
              <a:buNone/>
            </a:pPr>
            <a:r>
              <a:rPr b="1" i="0" lang="en-US" sz="4000" u="none" cap="none" strike="noStrike">
                <a:solidFill>
                  <a:srgbClr val="FFFFFF"/>
                </a:solidFill>
                <a:latin typeface="Georgia"/>
                <a:ea typeface="Georgia"/>
                <a:cs typeface="Georgia"/>
                <a:sym typeface="Georgia"/>
              </a:rPr>
              <a:t>Demo</a:t>
            </a:r>
            <a:endParaRPr b="0" i="0" sz="4000" u="none" cap="none" strike="noStrike">
              <a:solidFill>
                <a:schemeClr val="dk1"/>
              </a:solidFill>
              <a:latin typeface="Calibri"/>
              <a:ea typeface="Calibri"/>
              <a:cs typeface="Calibri"/>
              <a:sym typeface="Calibri"/>
            </a:endParaRPr>
          </a:p>
        </p:txBody>
      </p:sp>
      <p:sp>
        <p:nvSpPr>
          <p:cNvPr id="249" name="Google Shape;249;p10"/>
          <p:cNvSpPr/>
          <p:nvPr/>
        </p:nvSpPr>
        <p:spPr>
          <a:xfrm>
            <a:off x="5349240" y="2651760"/>
            <a:ext cx="6217800" cy="182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ADCFC"/>
              </a:buClr>
              <a:buSzPts val="1800"/>
              <a:buFont typeface="Calibri"/>
              <a:buNone/>
            </a:pPr>
            <a:r>
              <a:rPr b="0" i="0" lang="en-US" sz="1800" u="none" cap="none" strike="noStrike">
                <a:solidFill>
                  <a:srgbClr val="CADCFC"/>
                </a:solidFill>
                <a:latin typeface="Calibri"/>
                <a:ea typeface="Calibri"/>
                <a:cs typeface="Calibri"/>
                <a:sym typeface="Calibri"/>
              </a:rPr>
              <a:t>Maria has 3 days, and a demand for $2,050 that she doesn't have.</a:t>
            </a:r>
            <a:endParaRPr b="0" i="0" sz="1800" u="none" cap="none" strike="noStrike">
              <a:solidFill>
                <a:schemeClr val="dk1"/>
              </a:solidFill>
              <a:latin typeface="Calibri"/>
              <a:ea typeface="Calibri"/>
              <a:cs typeface="Calibri"/>
              <a:sym typeface="Calibri"/>
            </a:endParaRPr>
          </a:p>
          <a:p>
            <a:pPr indent="0" lvl="0" marL="0" marR="0" rtl="0" algn="l">
              <a:lnSpc>
                <a:spcPct val="110000"/>
              </a:lnSpc>
              <a:spcBef>
                <a:spcPts val="1800"/>
              </a:spcBef>
              <a:spcAft>
                <a:spcPts val="0"/>
              </a:spcAft>
              <a:buClr>
                <a:srgbClr val="CADCFC"/>
              </a:buClr>
              <a:buSzPts val="1800"/>
              <a:buFont typeface="Calibri"/>
              <a:buNone/>
            </a:pPr>
            <a:r>
              <a:rPr b="0" i="0" lang="en-US" sz="1800" u="none" cap="none" strike="noStrike">
                <a:solidFill>
                  <a:srgbClr val="CADCFC"/>
                </a:solidFill>
                <a:latin typeface="Calibri"/>
                <a:ea typeface="Calibri"/>
                <a:cs typeface="Calibri"/>
                <a:sym typeface="Calibri"/>
              </a:rPr>
              <a:t xml:space="preserve">In fact, the notice is </a:t>
            </a:r>
            <a:r>
              <a:rPr b="1" i="0" lang="en-US" sz="1800" u="none" cap="none" strike="noStrike">
                <a:solidFill>
                  <a:srgbClr val="C75B7A"/>
                </a:solidFill>
                <a:latin typeface="Calibri"/>
                <a:ea typeface="Calibri"/>
                <a:cs typeface="Calibri"/>
                <a:sym typeface="Calibri"/>
              </a:rPr>
              <a:t>defective</a:t>
            </a:r>
            <a:r>
              <a:rPr b="0" i="0" lang="en-US" sz="1800" u="none" cap="none" strike="noStrike">
                <a:solidFill>
                  <a:srgbClr val="CADCFC"/>
                </a:solidFill>
                <a:latin typeface="Calibri"/>
                <a:ea typeface="Calibri"/>
                <a:cs typeface="Calibri"/>
                <a:sym typeface="Calibri"/>
              </a:rPr>
              <a:t xml:space="preserve"> — CA law forbids demanding late fees in a pay-or-quit notice. An eviction lawyer would catch this, </a:t>
            </a:r>
            <a:r>
              <a:rPr b="1" i="0" lang="en-US" sz="1800" u="none" cap="none" strike="noStrike">
                <a:solidFill>
                  <a:srgbClr val="CADCFC"/>
                </a:solidFill>
                <a:latin typeface="Calibri"/>
                <a:ea typeface="Calibri"/>
                <a:cs typeface="Calibri"/>
                <a:sym typeface="Calibri"/>
              </a:rPr>
              <a:t xml:space="preserve"> but Maria can’t afford a lawyer.  </a:t>
            </a:r>
            <a:endParaRPr b="0" i="0" sz="1800" u="none" cap="none" strike="noStrike">
              <a:solidFill>
                <a:schemeClr val="dk1"/>
              </a:solidFill>
              <a:latin typeface="Calibri"/>
              <a:ea typeface="Calibri"/>
              <a:cs typeface="Calibri"/>
              <a:sym typeface="Calibri"/>
            </a:endParaRPr>
          </a:p>
        </p:txBody>
      </p:sp>
      <p:sp>
        <p:nvSpPr>
          <p:cNvPr id="250" name="Google Shape;250;p10"/>
          <p:cNvSpPr/>
          <p:nvPr/>
        </p:nvSpPr>
        <p:spPr>
          <a:xfrm>
            <a:off x="5349240" y="4754880"/>
            <a:ext cx="6217800" cy="118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FA8CC"/>
              </a:buClr>
              <a:buSzPts val="1600"/>
              <a:buFont typeface="Calibri"/>
              <a:buNone/>
            </a:pPr>
            <a:r>
              <a:rPr b="0" i="1" lang="en-US" sz="1800" u="none" cap="none" strike="noStrike">
                <a:solidFill>
                  <a:schemeClr val="lt1"/>
                </a:solidFill>
                <a:latin typeface="Calibri"/>
                <a:ea typeface="Calibri"/>
                <a:cs typeface="Calibri"/>
                <a:sym typeface="Calibri"/>
              </a:rPr>
              <a:t>This is the story of 10s of millions of Americans — and, now, of what we can finally do about it</a:t>
            </a:r>
            <a:endParaRPr b="0" i="0" sz="1800" u="none" cap="none" strike="noStrike">
              <a:solidFill>
                <a:schemeClr val="lt1"/>
              </a:solidFill>
              <a:latin typeface="Calibri"/>
              <a:ea typeface="Calibri"/>
              <a:cs typeface="Calibri"/>
              <a:sym typeface="Calibri"/>
            </a:endParaRPr>
          </a:p>
        </p:txBody>
      </p:sp>
      <p:sp>
        <p:nvSpPr>
          <p:cNvPr id="251" name="Google Shape;251;p10"/>
          <p:cNvSpPr/>
          <p:nvPr/>
        </p:nvSpPr>
        <p:spPr>
          <a:xfrm>
            <a:off x="640080" y="6234152"/>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100"/>
              <a:buFont typeface="Calibri"/>
              <a:buNone/>
            </a:pPr>
            <a:r>
              <a:rPr b="1" i="0" lang="en-US" sz="1800" u="none" cap="none" strike="noStrike">
                <a:solidFill>
                  <a:srgbClr val="8FA8CC"/>
                </a:solidFill>
                <a:latin typeface="Calibri"/>
                <a:ea typeface="Calibri"/>
                <a:cs typeface="Calibri"/>
                <a:sym typeface="Calibri"/>
              </a:rPr>
              <a:t>DEMO</a:t>
            </a:r>
            <a:endParaRPr b="0" i="0" sz="1800" u="none" cap="none" strike="noStrike">
              <a:solidFill>
                <a:schemeClr val="dk1"/>
              </a:solidFill>
              <a:latin typeface="Calibri"/>
              <a:ea typeface="Calibri"/>
              <a:cs typeface="Calibri"/>
              <a:sym typeface="Calibri"/>
            </a:endParaRPr>
          </a:p>
        </p:txBody>
      </p:sp>
      <p:sp>
        <p:nvSpPr>
          <p:cNvPr id="252" name="Google Shape;252;p10"/>
          <p:cNvSpPr/>
          <p:nvPr/>
        </p:nvSpPr>
        <p:spPr>
          <a:xfrm>
            <a:off x="11521440" y="6446520"/>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8</a:t>
            </a:r>
            <a:endParaRPr b="0" i="0" sz="1100" u="none" cap="none" strike="noStrike">
              <a:solidFill>
                <a:schemeClr val="dk1"/>
              </a:solidFill>
              <a:latin typeface="Calibri"/>
              <a:ea typeface="Calibri"/>
              <a:cs typeface="Calibri"/>
              <a:sym typeface="Calibri"/>
            </a:endParaRPr>
          </a:p>
        </p:txBody>
      </p:sp>
      <p:sp>
        <p:nvSpPr>
          <p:cNvPr id="253" name="Google Shape;253;p10"/>
          <p:cNvSpPr/>
          <p:nvPr/>
        </p:nvSpPr>
        <p:spPr>
          <a:xfrm>
            <a:off x="640080" y="6533804"/>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58" name="Shape 258"/>
        <p:cNvGrpSpPr/>
        <p:nvPr/>
      </p:nvGrpSpPr>
      <p:grpSpPr>
        <a:xfrm>
          <a:off x="0" y="0"/>
          <a:ext cx="0" cy="0"/>
          <a:chOff x="0" y="0"/>
          <a:chExt cx="0" cy="0"/>
        </a:xfrm>
      </p:grpSpPr>
      <p:sp>
        <p:nvSpPr>
          <p:cNvPr id="259" name="Google Shape;259;p11"/>
          <p:cNvSpPr/>
          <p:nvPr/>
        </p:nvSpPr>
        <p:spPr>
          <a:xfrm>
            <a:off x="640080" y="411480"/>
            <a:ext cx="108813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 xml:space="preserve">WHAT I LEARNED BUILDING IT </a:t>
            </a:r>
            <a:endParaRPr b="0" i="0" sz="1800" u="none" cap="none" strike="noStrike">
              <a:solidFill>
                <a:schemeClr val="dk1"/>
              </a:solidFill>
              <a:latin typeface="Calibri"/>
              <a:ea typeface="Calibri"/>
              <a:cs typeface="Calibri"/>
              <a:sym typeface="Calibri"/>
            </a:endParaRPr>
          </a:p>
        </p:txBody>
      </p:sp>
      <p:sp>
        <p:nvSpPr>
          <p:cNvPr id="260" name="Google Shape;260;p11"/>
          <p:cNvSpPr/>
          <p:nvPr/>
        </p:nvSpPr>
        <p:spPr>
          <a:xfrm>
            <a:off x="640075" y="857948"/>
            <a:ext cx="11155800" cy="678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2600"/>
              <a:buFont typeface="Georgia"/>
              <a:buNone/>
            </a:pPr>
            <a:r>
              <a:rPr b="1" i="0" lang="en-US" sz="2600" u="none" cap="none" strike="noStrike">
                <a:solidFill>
                  <a:srgbClr val="1A2E4A"/>
                </a:solidFill>
                <a:latin typeface="Georgia"/>
                <a:ea typeface="Georgia"/>
                <a:cs typeface="Georgia"/>
                <a:sym typeface="Georgia"/>
              </a:rPr>
              <a:t>Powerful infrastructure, but it’s missing decision logic</a:t>
            </a:r>
            <a:endParaRPr b="0" i="0" sz="2600" u="none" cap="none" strike="noStrike">
              <a:solidFill>
                <a:schemeClr val="dk1"/>
              </a:solidFill>
              <a:latin typeface="Calibri"/>
              <a:ea typeface="Calibri"/>
              <a:cs typeface="Calibri"/>
              <a:sym typeface="Calibri"/>
            </a:endParaRPr>
          </a:p>
        </p:txBody>
      </p:sp>
      <p:sp>
        <p:nvSpPr>
          <p:cNvPr id="261" name="Google Shape;261;p11"/>
          <p:cNvSpPr/>
          <p:nvPr/>
        </p:nvSpPr>
        <p:spPr>
          <a:xfrm>
            <a:off x="640075" y="1638300"/>
            <a:ext cx="3456300" cy="31341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1"/>
          <p:cNvSpPr/>
          <p:nvPr/>
        </p:nvSpPr>
        <p:spPr>
          <a:xfrm>
            <a:off x="932688" y="1899458"/>
            <a:ext cx="731400" cy="7314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3" name="Google Shape;263;p11"/>
          <p:cNvPicPr preferRelativeResize="0"/>
          <p:nvPr/>
        </p:nvPicPr>
        <p:blipFill rotWithShape="1">
          <a:blip r:embed="rId3">
            <a:alphaModFix/>
          </a:blip>
          <a:srcRect b="0" l="0" r="0" t="0"/>
          <a:stretch/>
        </p:blipFill>
        <p:spPr>
          <a:xfrm>
            <a:off x="1097280" y="2126396"/>
            <a:ext cx="402336" cy="402336"/>
          </a:xfrm>
          <a:prstGeom prst="rect">
            <a:avLst/>
          </a:prstGeom>
          <a:noFill/>
          <a:ln>
            <a:noFill/>
          </a:ln>
        </p:spPr>
      </p:pic>
      <p:sp>
        <p:nvSpPr>
          <p:cNvPr id="264" name="Google Shape;264;p11"/>
          <p:cNvSpPr/>
          <p:nvPr/>
        </p:nvSpPr>
        <p:spPr>
          <a:xfrm>
            <a:off x="932688" y="2736965"/>
            <a:ext cx="29079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1600"/>
              <a:buFont typeface="Georgia"/>
              <a:buNone/>
            </a:pPr>
            <a:r>
              <a:rPr b="1" i="0" lang="en-US" sz="1700" u="none" cap="none" strike="noStrike">
                <a:solidFill>
                  <a:srgbClr val="1A2E4A"/>
                </a:solidFill>
                <a:latin typeface="Georgia"/>
                <a:ea typeface="Georgia"/>
                <a:cs typeface="Georgia"/>
                <a:sym typeface="Georgia"/>
              </a:rPr>
              <a:t>Connected to live in minutes</a:t>
            </a:r>
            <a:endParaRPr b="0" i="0" sz="1700" u="none" cap="none" strike="noStrike">
              <a:solidFill>
                <a:schemeClr val="dk1"/>
              </a:solidFill>
              <a:latin typeface="Calibri"/>
              <a:ea typeface="Calibri"/>
              <a:cs typeface="Calibri"/>
              <a:sym typeface="Calibri"/>
            </a:endParaRPr>
          </a:p>
        </p:txBody>
      </p:sp>
      <p:sp>
        <p:nvSpPr>
          <p:cNvPr id="265" name="Google Shape;265;p11"/>
          <p:cNvSpPr/>
          <p:nvPr/>
        </p:nvSpPr>
        <p:spPr>
          <a:xfrm>
            <a:off x="932700" y="3566150"/>
            <a:ext cx="3039300" cy="106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300"/>
              <a:buFont typeface="Calibri"/>
              <a:buNone/>
            </a:pPr>
            <a:r>
              <a:rPr b="0" i="0" lang="en-US" sz="1600" u="none" cap="none" strike="noStrike">
                <a:solidFill>
                  <a:srgbClr val="4A5568"/>
                </a:solidFill>
                <a:latin typeface="Calibri"/>
                <a:ea typeface="Calibri"/>
                <a:cs typeface="Calibri"/>
                <a:sym typeface="Calibri"/>
              </a:rPr>
              <a:t>From my desktop using the platform's built-in legal connectors linked to live statutory databases</a:t>
            </a:r>
            <a:endParaRPr b="0" i="0" sz="1600" u="none" cap="none" strike="noStrike">
              <a:solidFill>
                <a:schemeClr val="dk1"/>
              </a:solidFill>
              <a:latin typeface="Calibri"/>
              <a:ea typeface="Calibri"/>
              <a:cs typeface="Calibri"/>
              <a:sym typeface="Calibri"/>
            </a:endParaRPr>
          </a:p>
        </p:txBody>
      </p:sp>
      <p:sp>
        <p:nvSpPr>
          <p:cNvPr id="266" name="Google Shape;266;p11"/>
          <p:cNvSpPr/>
          <p:nvPr/>
        </p:nvSpPr>
        <p:spPr>
          <a:xfrm>
            <a:off x="4370825" y="1650125"/>
            <a:ext cx="3456300" cy="31224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1"/>
          <p:cNvSpPr/>
          <p:nvPr/>
        </p:nvSpPr>
        <p:spPr>
          <a:xfrm>
            <a:off x="4632267" y="1826722"/>
            <a:ext cx="731400" cy="7314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8" name="Google Shape;268;p11"/>
          <p:cNvPicPr preferRelativeResize="0"/>
          <p:nvPr/>
        </p:nvPicPr>
        <p:blipFill rotWithShape="1">
          <a:blip r:embed="rId4">
            <a:alphaModFix/>
          </a:blip>
          <a:srcRect b="0" l="0" r="0" t="0"/>
          <a:stretch/>
        </p:blipFill>
        <p:spPr>
          <a:xfrm>
            <a:off x="4828032" y="1960141"/>
            <a:ext cx="402336" cy="402336"/>
          </a:xfrm>
          <a:prstGeom prst="rect">
            <a:avLst/>
          </a:prstGeom>
          <a:noFill/>
          <a:ln>
            <a:noFill/>
          </a:ln>
        </p:spPr>
      </p:pic>
      <p:sp>
        <p:nvSpPr>
          <p:cNvPr id="269" name="Google Shape;269;p11"/>
          <p:cNvSpPr/>
          <p:nvPr/>
        </p:nvSpPr>
        <p:spPr>
          <a:xfrm>
            <a:off x="4663450" y="2637398"/>
            <a:ext cx="3039300" cy="73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1600"/>
              <a:buFont typeface="Georgia"/>
              <a:buNone/>
            </a:pPr>
            <a:r>
              <a:rPr b="1" i="0" lang="en-US" sz="1700" u="none" cap="none" strike="noStrike">
                <a:solidFill>
                  <a:srgbClr val="1A2E4A"/>
                </a:solidFill>
                <a:latin typeface="Georgia"/>
                <a:ea typeface="Georgia"/>
                <a:cs typeface="Georgia"/>
                <a:sym typeface="Georgia"/>
              </a:rPr>
              <a:t>Legal workflows built-in, &amp; logic works x-jurisdictions</a:t>
            </a:r>
            <a:endParaRPr b="0" i="0" sz="1700" u="none" cap="none" strike="noStrike">
              <a:solidFill>
                <a:schemeClr val="dk1"/>
              </a:solidFill>
              <a:latin typeface="Calibri"/>
              <a:ea typeface="Calibri"/>
              <a:cs typeface="Calibri"/>
              <a:sym typeface="Calibri"/>
            </a:endParaRPr>
          </a:p>
        </p:txBody>
      </p:sp>
      <p:sp>
        <p:nvSpPr>
          <p:cNvPr id="270" name="Google Shape;270;p11"/>
          <p:cNvSpPr/>
          <p:nvPr/>
        </p:nvSpPr>
        <p:spPr>
          <a:xfrm>
            <a:off x="4663450" y="3566148"/>
            <a:ext cx="2907900" cy="106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300"/>
              <a:buFont typeface="Calibri"/>
              <a:buNone/>
            </a:pPr>
            <a:r>
              <a:rPr b="0" i="0" lang="en-US" sz="1600" u="none" cap="none" strike="noStrike">
                <a:solidFill>
                  <a:srgbClr val="4A5568"/>
                </a:solidFill>
                <a:latin typeface="Calibri"/>
                <a:ea typeface="Calibri"/>
                <a:cs typeface="Calibri"/>
                <a:sym typeface="Calibri"/>
              </a:rPr>
              <a:t>I reused pre-built prompts instead of writing them from scratch; logic for CA worked for TX and NY</a:t>
            </a:r>
            <a:endParaRPr b="0" i="0" sz="1600" u="none" cap="none" strike="noStrike">
              <a:solidFill>
                <a:schemeClr val="dk1"/>
              </a:solidFill>
              <a:latin typeface="Calibri"/>
              <a:ea typeface="Calibri"/>
              <a:cs typeface="Calibri"/>
              <a:sym typeface="Calibri"/>
            </a:endParaRPr>
          </a:p>
        </p:txBody>
      </p:sp>
      <p:sp>
        <p:nvSpPr>
          <p:cNvPr id="271" name="Google Shape;271;p11"/>
          <p:cNvSpPr/>
          <p:nvPr/>
        </p:nvSpPr>
        <p:spPr>
          <a:xfrm>
            <a:off x="8101575" y="1638300"/>
            <a:ext cx="3456300" cy="31224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1"/>
          <p:cNvSpPr/>
          <p:nvPr/>
        </p:nvSpPr>
        <p:spPr>
          <a:xfrm>
            <a:off x="8394192" y="1826722"/>
            <a:ext cx="731400" cy="7314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73" name="Google Shape;273;p11"/>
          <p:cNvPicPr preferRelativeResize="0"/>
          <p:nvPr/>
        </p:nvPicPr>
        <p:blipFill rotWithShape="1">
          <a:blip r:embed="rId5">
            <a:alphaModFix/>
          </a:blip>
          <a:srcRect b="0" l="0" r="0" t="0"/>
          <a:stretch/>
        </p:blipFill>
        <p:spPr>
          <a:xfrm>
            <a:off x="8569175" y="2001705"/>
            <a:ext cx="402336" cy="402336"/>
          </a:xfrm>
          <a:prstGeom prst="rect">
            <a:avLst/>
          </a:prstGeom>
          <a:noFill/>
          <a:ln>
            <a:noFill/>
          </a:ln>
        </p:spPr>
      </p:pic>
      <p:sp>
        <p:nvSpPr>
          <p:cNvPr id="274" name="Google Shape;274;p11"/>
          <p:cNvSpPr/>
          <p:nvPr/>
        </p:nvSpPr>
        <p:spPr>
          <a:xfrm>
            <a:off x="8394192" y="2695402"/>
            <a:ext cx="29079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1600"/>
              <a:buFont typeface="Georgia"/>
              <a:buNone/>
            </a:pPr>
            <a:r>
              <a:rPr b="1" i="0" lang="en-US" sz="1700" u="none" cap="none" strike="noStrike">
                <a:solidFill>
                  <a:srgbClr val="1A2E4A"/>
                </a:solidFill>
                <a:latin typeface="Georgia"/>
                <a:ea typeface="Georgia"/>
                <a:cs typeface="Georgia"/>
                <a:sym typeface="Georgia"/>
              </a:rPr>
              <a:t xml:space="preserve">Lack of decision logic  </a:t>
            </a:r>
            <a:endParaRPr b="0" i="0" sz="1700" u="none" cap="none" strike="noStrike">
              <a:solidFill>
                <a:schemeClr val="dk1"/>
              </a:solidFill>
              <a:latin typeface="Calibri"/>
              <a:ea typeface="Calibri"/>
              <a:cs typeface="Calibri"/>
              <a:sym typeface="Calibri"/>
            </a:endParaRPr>
          </a:p>
        </p:txBody>
      </p:sp>
      <p:sp>
        <p:nvSpPr>
          <p:cNvPr id="275" name="Google Shape;275;p11"/>
          <p:cNvSpPr/>
          <p:nvPr/>
        </p:nvSpPr>
        <p:spPr>
          <a:xfrm>
            <a:off x="8394200" y="3566150"/>
            <a:ext cx="3039300" cy="106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300"/>
              <a:buFont typeface="Calibri"/>
              <a:buNone/>
            </a:pPr>
            <a:r>
              <a:rPr b="0" i="0" lang="en-US" sz="1600" u="none" cap="none" strike="noStrike">
                <a:solidFill>
                  <a:srgbClr val="4A5568"/>
                </a:solidFill>
                <a:latin typeface="Calibri"/>
                <a:ea typeface="Calibri"/>
                <a:cs typeface="Calibri"/>
                <a:sym typeface="Calibri"/>
              </a:rPr>
              <a:t>Statute + AI alone can be incomplete. I built a rules file encoding AI-synthesized legal doctrine — how courts apply the statute to specific facts.</a:t>
            </a:r>
            <a:endParaRPr b="0" i="0" sz="1600" u="none" cap="none" strike="noStrike">
              <a:solidFill>
                <a:schemeClr val="dk1"/>
              </a:solidFill>
              <a:latin typeface="Calibri"/>
              <a:ea typeface="Calibri"/>
              <a:cs typeface="Calibri"/>
              <a:sym typeface="Calibri"/>
            </a:endParaRPr>
          </a:p>
        </p:txBody>
      </p:sp>
      <p:sp>
        <p:nvSpPr>
          <p:cNvPr id="276" name="Google Shape;276;p11"/>
          <p:cNvSpPr/>
          <p:nvPr/>
        </p:nvSpPr>
        <p:spPr>
          <a:xfrm>
            <a:off x="640080" y="4846320"/>
            <a:ext cx="10908792" cy="1143000"/>
          </a:xfrm>
          <a:prstGeom prst="rect">
            <a:avLst/>
          </a:prstGeom>
          <a:solidFill>
            <a:srgbClr val="1A2E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1"/>
          <p:cNvSpPr/>
          <p:nvPr/>
        </p:nvSpPr>
        <p:spPr>
          <a:xfrm>
            <a:off x="914400" y="4846325"/>
            <a:ext cx="10607100" cy="1143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A9DA6"/>
              </a:buClr>
              <a:buSzPts val="1700"/>
              <a:buFont typeface="Calibri"/>
              <a:buNone/>
            </a:pPr>
            <a:r>
              <a:rPr b="1" i="0" lang="en-US" sz="1800" u="none" cap="none" strike="noStrike">
                <a:solidFill>
                  <a:srgbClr val="2A9DA6"/>
                </a:solidFill>
                <a:latin typeface="Calibri"/>
                <a:ea typeface="Calibri"/>
                <a:cs typeface="Calibri"/>
                <a:sym typeface="Calibri"/>
              </a:rPr>
              <a:t xml:space="preserve">The realization:  </a:t>
            </a:r>
            <a:r>
              <a:rPr b="0" i="0" lang="en-US" sz="1800" u="none" cap="none" strike="noStrike">
                <a:solidFill>
                  <a:srgbClr val="CADCFC"/>
                </a:solidFill>
                <a:latin typeface="Calibri"/>
                <a:ea typeface="Calibri"/>
                <a:cs typeface="Calibri"/>
                <a:sym typeface="Calibri"/>
              </a:rPr>
              <a:t xml:space="preserve">the statute states what the law says about many kinds of notices. The </a:t>
            </a:r>
            <a:r>
              <a:rPr b="1" i="0" lang="en-US" sz="1800" u="none" cap="none" strike="noStrike">
                <a:solidFill>
                  <a:srgbClr val="FFFFFF"/>
                </a:solidFill>
                <a:latin typeface="Calibri"/>
                <a:ea typeface="Calibri"/>
                <a:cs typeface="Calibri"/>
                <a:sym typeface="Calibri"/>
              </a:rPr>
              <a:t>decision logic</a:t>
            </a:r>
            <a:r>
              <a:rPr b="0" i="0" lang="en-US" sz="1800" u="none" cap="none" strike="noStrike">
                <a:solidFill>
                  <a:srgbClr val="CADCFC"/>
                </a:solidFill>
                <a:latin typeface="Calibri"/>
                <a:ea typeface="Calibri"/>
                <a:cs typeface="Calibri"/>
                <a:sym typeface="Calibri"/>
              </a:rPr>
              <a:t xml:space="preserve"> is what tells Maria that </a:t>
            </a:r>
            <a:r>
              <a:rPr b="0" i="1" lang="en-US" sz="1800" u="none" cap="none" strike="noStrike">
                <a:solidFill>
                  <a:srgbClr val="FFFFFF"/>
                </a:solidFill>
                <a:latin typeface="Calibri"/>
                <a:ea typeface="Calibri"/>
                <a:cs typeface="Calibri"/>
                <a:sym typeface="Calibri"/>
              </a:rPr>
              <a:t>her</a:t>
            </a:r>
            <a:r>
              <a:rPr b="0" i="0" lang="en-US" sz="1800" u="none" cap="none" strike="noStrike">
                <a:solidFill>
                  <a:srgbClr val="CADCFC"/>
                </a:solidFill>
                <a:latin typeface="Calibri"/>
                <a:ea typeface="Calibri"/>
                <a:cs typeface="Calibri"/>
                <a:sym typeface="Calibri"/>
              </a:rPr>
              <a:t xml:space="preserve"> notice is defective — and what she can do about it. </a:t>
            </a:r>
            <a:r>
              <a:rPr b="1" i="0" lang="en-US" sz="1800" u="none" cap="none" strike="noStrike">
                <a:solidFill>
                  <a:srgbClr val="E07856"/>
                </a:solidFill>
                <a:latin typeface="Calibri"/>
                <a:ea typeface="Calibri"/>
                <a:cs typeface="Calibri"/>
                <a:sym typeface="Calibri"/>
              </a:rPr>
              <a:t>Civil Justice as Code.</a:t>
            </a:r>
            <a:endParaRPr b="0" i="0" sz="1800" u="none" cap="none" strike="noStrike">
              <a:solidFill>
                <a:schemeClr val="dk1"/>
              </a:solidFill>
              <a:latin typeface="Calibri"/>
              <a:ea typeface="Calibri"/>
              <a:cs typeface="Calibri"/>
              <a:sym typeface="Calibri"/>
            </a:endParaRPr>
          </a:p>
        </p:txBody>
      </p:sp>
      <p:sp>
        <p:nvSpPr>
          <p:cNvPr id="278" name="Google Shape;278;p11"/>
          <p:cNvSpPr/>
          <p:nvPr/>
        </p:nvSpPr>
        <p:spPr>
          <a:xfrm>
            <a:off x="640080" y="6347649"/>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8AB"/>
              </a:buClr>
              <a:buSzPts val="1100"/>
              <a:buFont typeface="Calibri"/>
              <a:buNone/>
            </a:pPr>
            <a:r>
              <a:rPr b="1" i="0" lang="en-US" sz="1800" u="none" cap="none" strike="noStrike">
                <a:solidFill>
                  <a:srgbClr val="8A98AB"/>
                </a:solidFill>
                <a:latin typeface="Calibri"/>
                <a:ea typeface="Calibri"/>
                <a:cs typeface="Calibri"/>
                <a:sym typeface="Calibri"/>
              </a:rPr>
              <a:t>DEMO - LEARNINGS</a:t>
            </a:r>
            <a:endParaRPr b="0" i="0" sz="1800" u="none" cap="none" strike="noStrike">
              <a:solidFill>
                <a:schemeClr val="dk1"/>
              </a:solidFill>
              <a:latin typeface="Calibri"/>
              <a:ea typeface="Calibri"/>
              <a:cs typeface="Calibri"/>
              <a:sym typeface="Calibri"/>
            </a:endParaRPr>
          </a:p>
        </p:txBody>
      </p:sp>
      <p:sp>
        <p:nvSpPr>
          <p:cNvPr id="279" name="Google Shape;279;p11"/>
          <p:cNvSpPr/>
          <p:nvPr/>
        </p:nvSpPr>
        <p:spPr>
          <a:xfrm>
            <a:off x="11521440"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84" name="Shape 284"/>
        <p:cNvGrpSpPr/>
        <p:nvPr/>
      </p:nvGrpSpPr>
      <p:grpSpPr>
        <a:xfrm>
          <a:off x="0" y="0"/>
          <a:ext cx="0" cy="0"/>
          <a:chOff x="0" y="0"/>
          <a:chExt cx="0" cy="0"/>
        </a:xfrm>
      </p:grpSpPr>
      <p:sp>
        <p:nvSpPr>
          <p:cNvPr id="285" name="Google Shape;285;p12"/>
          <p:cNvSpPr/>
          <p:nvPr/>
        </p:nvSpPr>
        <p:spPr>
          <a:xfrm>
            <a:off x="640078" y="185250"/>
            <a:ext cx="36195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JSON DECISION LOGIC</a:t>
            </a:r>
            <a:endParaRPr b="1" i="0" sz="1800" u="none" cap="none" strike="noStrike">
              <a:solidFill>
                <a:schemeClr val="dk1"/>
              </a:solidFill>
              <a:latin typeface="Calibri"/>
              <a:ea typeface="Calibri"/>
              <a:cs typeface="Calibri"/>
              <a:sym typeface="Calibri"/>
            </a:endParaRPr>
          </a:p>
        </p:txBody>
      </p:sp>
      <p:sp>
        <p:nvSpPr>
          <p:cNvPr id="286" name="Google Shape;286;p12"/>
          <p:cNvSpPr/>
          <p:nvPr/>
        </p:nvSpPr>
        <p:spPr>
          <a:xfrm>
            <a:off x="640075" y="594163"/>
            <a:ext cx="9793800" cy="5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2500"/>
              <a:buFont typeface="Georgia"/>
              <a:buNone/>
            </a:pPr>
            <a:r>
              <a:rPr b="1" i="0" lang="en-US" sz="2500" u="none" cap="none" strike="noStrike">
                <a:solidFill>
                  <a:srgbClr val="1A2E4A"/>
                </a:solidFill>
                <a:latin typeface="Georgia"/>
                <a:ea typeface="Georgia"/>
                <a:cs typeface="Georgia"/>
                <a:sym typeface="Georgia"/>
              </a:rPr>
              <a:t>Encoding what the law REQUIRES — not just what it SAYS</a:t>
            </a:r>
            <a:endParaRPr b="0" i="0" sz="2500" u="none" cap="none" strike="noStrike">
              <a:solidFill>
                <a:schemeClr val="dk1"/>
              </a:solidFill>
              <a:latin typeface="Calibri"/>
              <a:ea typeface="Calibri"/>
              <a:cs typeface="Calibri"/>
              <a:sym typeface="Calibri"/>
            </a:endParaRPr>
          </a:p>
        </p:txBody>
      </p:sp>
      <p:sp>
        <p:nvSpPr>
          <p:cNvPr id="287" name="Google Shape;287;p12"/>
          <p:cNvSpPr/>
          <p:nvPr/>
        </p:nvSpPr>
        <p:spPr>
          <a:xfrm>
            <a:off x="10744200" y="384048"/>
            <a:ext cx="914400" cy="256032"/>
          </a:xfrm>
          <a:prstGeom prst="rect">
            <a:avLst/>
          </a:prstGeom>
          <a:solidFill>
            <a:srgbClr val="2A9DA6"/>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2"/>
          <p:cNvSpPr/>
          <p:nvPr/>
        </p:nvSpPr>
        <p:spPr>
          <a:xfrm>
            <a:off x="10744200" y="384048"/>
            <a:ext cx="91440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Plugin · Skills</a:t>
            </a:r>
            <a:endParaRPr b="0" i="0" sz="850" u="none" cap="none" strike="noStrike">
              <a:solidFill>
                <a:schemeClr val="dk1"/>
              </a:solidFill>
              <a:latin typeface="Calibri"/>
              <a:ea typeface="Calibri"/>
              <a:cs typeface="Calibri"/>
              <a:sym typeface="Calibri"/>
            </a:endParaRPr>
          </a:p>
        </p:txBody>
      </p:sp>
      <p:sp>
        <p:nvSpPr>
          <p:cNvPr id="289" name="Google Shape;289;p12"/>
          <p:cNvSpPr/>
          <p:nvPr/>
        </p:nvSpPr>
        <p:spPr>
          <a:xfrm>
            <a:off x="10744200" y="704088"/>
            <a:ext cx="914400" cy="256032"/>
          </a:xfrm>
          <a:prstGeom prst="rect">
            <a:avLst/>
          </a:prstGeom>
          <a:solidFill>
            <a:srgbClr val="22395C"/>
          </a:solidFill>
          <a:ln cap="flat" cmpd="sng" w="9525">
            <a:solidFill>
              <a:srgbClr val="2239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2"/>
          <p:cNvSpPr/>
          <p:nvPr/>
        </p:nvSpPr>
        <p:spPr>
          <a:xfrm>
            <a:off x="10744200" y="704088"/>
            <a:ext cx="91440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FA8CC"/>
              </a:buClr>
              <a:buSzPts val="850"/>
              <a:buFont typeface="Calibri"/>
              <a:buNone/>
            </a:pPr>
            <a:r>
              <a:rPr b="0" i="0" lang="en-US" sz="850" u="none" cap="none" strike="noStrike">
                <a:solidFill>
                  <a:srgbClr val="8FA8CC"/>
                </a:solidFill>
                <a:latin typeface="Calibri"/>
                <a:ea typeface="Calibri"/>
                <a:cs typeface="Calibri"/>
                <a:sym typeface="Calibri"/>
              </a:rPr>
              <a:t>T2 · Legal</a:t>
            </a:r>
            <a:endParaRPr b="0" i="0" sz="850" u="none" cap="none" strike="noStrike">
              <a:solidFill>
                <a:schemeClr val="dk1"/>
              </a:solidFill>
              <a:latin typeface="Calibri"/>
              <a:ea typeface="Calibri"/>
              <a:cs typeface="Calibri"/>
              <a:sym typeface="Calibri"/>
            </a:endParaRPr>
          </a:p>
        </p:txBody>
      </p:sp>
      <p:sp>
        <p:nvSpPr>
          <p:cNvPr id="291" name="Google Shape;291;p12"/>
          <p:cNvSpPr/>
          <p:nvPr/>
        </p:nvSpPr>
        <p:spPr>
          <a:xfrm>
            <a:off x="10744200" y="1024128"/>
            <a:ext cx="914400" cy="256032"/>
          </a:xfrm>
          <a:prstGeom prst="rect">
            <a:avLst/>
          </a:prstGeom>
          <a:solidFill>
            <a:srgbClr val="22395C"/>
          </a:solidFill>
          <a:ln cap="flat" cmpd="sng" w="9525">
            <a:solidFill>
              <a:srgbClr val="2239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2"/>
          <p:cNvSpPr/>
          <p:nvPr/>
        </p:nvSpPr>
        <p:spPr>
          <a:xfrm>
            <a:off x="10744200" y="1024128"/>
            <a:ext cx="91440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FA8CC"/>
              </a:buClr>
              <a:buSzPts val="850"/>
              <a:buFont typeface="Calibri"/>
              <a:buNone/>
            </a:pPr>
            <a:r>
              <a:rPr b="0" i="0" lang="en-US" sz="850" u="none" cap="none" strike="noStrike">
                <a:solidFill>
                  <a:srgbClr val="8FA8CC"/>
                </a:solidFill>
                <a:latin typeface="Calibri"/>
                <a:ea typeface="Calibri"/>
                <a:cs typeface="Calibri"/>
                <a:sym typeface="Calibri"/>
              </a:rPr>
              <a:t>T1 · AI</a:t>
            </a:r>
            <a:endParaRPr b="0" i="0" sz="850" u="none" cap="none" strike="noStrike">
              <a:solidFill>
                <a:schemeClr val="dk1"/>
              </a:solidFill>
              <a:latin typeface="Calibri"/>
              <a:ea typeface="Calibri"/>
              <a:cs typeface="Calibri"/>
              <a:sym typeface="Calibri"/>
            </a:endParaRPr>
          </a:p>
        </p:txBody>
      </p:sp>
      <p:sp>
        <p:nvSpPr>
          <p:cNvPr id="293" name="Google Shape;293;p12"/>
          <p:cNvSpPr/>
          <p:nvPr/>
        </p:nvSpPr>
        <p:spPr>
          <a:xfrm>
            <a:off x="640076" y="1616388"/>
            <a:ext cx="5486400" cy="1006200"/>
          </a:xfrm>
          <a:prstGeom prst="rect">
            <a:avLst/>
          </a:prstGeom>
          <a:solidFill>
            <a:schemeClr val="lt2"/>
          </a:solidFill>
          <a:ln cap="flat" cmpd="sng" w="12700">
            <a:solidFill>
              <a:schemeClr val="lt2"/>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294" name="Google Shape;294;p12"/>
          <p:cNvSpPr/>
          <p:nvPr/>
        </p:nvSpPr>
        <p:spPr>
          <a:xfrm>
            <a:off x="844788" y="1616388"/>
            <a:ext cx="5076900" cy="100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450"/>
              <a:buFont typeface="Calibri"/>
              <a:buNone/>
            </a:pPr>
            <a:r>
              <a:rPr b="0" i="0" lang="en-US" sz="1700" u="none" cap="none" strike="noStrike">
                <a:solidFill>
                  <a:srgbClr val="4A5568"/>
                </a:solidFill>
                <a:latin typeface="Calibri"/>
                <a:ea typeface="Calibri"/>
                <a:cs typeface="Calibri"/>
                <a:sym typeface="Calibri"/>
              </a:rPr>
              <a:t xml:space="preserve">A connector tells you what the law SAYS.  </a:t>
            </a:r>
            <a:r>
              <a:rPr b="0" i="1" lang="en-US" sz="1700" u="none" cap="none" strike="noStrike">
                <a:solidFill>
                  <a:srgbClr val="8A98AB"/>
                </a:solidFill>
                <a:latin typeface="Calibri"/>
                <a:ea typeface="Calibri"/>
                <a:cs typeface="Calibri"/>
                <a:sym typeface="Calibri"/>
              </a:rPr>
              <a:t>It can return the full text of CCP §1161.</a:t>
            </a:r>
            <a:endParaRPr b="0" i="0" sz="1700" u="none" cap="none" strike="noStrike">
              <a:solidFill>
                <a:schemeClr val="dk1"/>
              </a:solidFill>
              <a:latin typeface="Calibri"/>
              <a:ea typeface="Calibri"/>
              <a:cs typeface="Calibri"/>
              <a:sym typeface="Calibri"/>
            </a:endParaRPr>
          </a:p>
        </p:txBody>
      </p:sp>
      <p:sp>
        <p:nvSpPr>
          <p:cNvPr id="295" name="Google Shape;295;p12"/>
          <p:cNvSpPr/>
          <p:nvPr/>
        </p:nvSpPr>
        <p:spPr>
          <a:xfrm>
            <a:off x="640200" y="2728325"/>
            <a:ext cx="5486400" cy="1434000"/>
          </a:xfrm>
          <a:prstGeom prst="rect">
            <a:avLst/>
          </a:prstGeom>
          <a:solidFill>
            <a:srgbClr val="EAF6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296" name="Google Shape;296;p12"/>
          <p:cNvSpPr/>
          <p:nvPr/>
        </p:nvSpPr>
        <p:spPr>
          <a:xfrm>
            <a:off x="844788" y="2728311"/>
            <a:ext cx="5076900" cy="1323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6B72"/>
              </a:buClr>
              <a:buSzPts val="1450"/>
              <a:buFont typeface="Calibri"/>
              <a:buNone/>
            </a:pPr>
            <a:r>
              <a:rPr b="1" i="0" lang="en-US" sz="1700" u="none" cap="none" strike="noStrike">
                <a:solidFill>
                  <a:srgbClr val="1A6B72"/>
                </a:solidFill>
                <a:latin typeface="Calibri"/>
                <a:ea typeface="Calibri"/>
                <a:cs typeface="Calibri"/>
                <a:sym typeface="Calibri"/>
              </a:rPr>
              <a:t xml:space="preserve">The rules layer tells you what the law REQUIRES — </a:t>
            </a:r>
            <a:r>
              <a:rPr b="0" i="0" lang="en-US" sz="1700" u="none" cap="none" strike="noStrike">
                <a:solidFill>
                  <a:srgbClr val="1A6B72"/>
                </a:solidFill>
                <a:latin typeface="Calibri"/>
                <a:ea typeface="Calibri"/>
                <a:cs typeface="Calibri"/>
                <a:sym typeface="Calibri"/>
              </a:rPr>
              <a:t xml:space="preserve">that </a:t>
            </a:r>
            <a:r>
              <a:rPr b="1" i="1" lang="en-US" sz="1700" u="none" cap="none" strike="noStrike">
                <a:solidFill>
                  <a:srgbClr val="1A6B72"/>
                </a:solidFill>
                <a:latin typeface="Calibri"/>
                <a:ea typeface="Calibri"/>
                <a:cs typeface="Calibri"/>
                <a:sym typeface="Calibri"/>
              </a:rPr>
              <a:t>this</a:t>
            </a:r>
            <a:r>
              <a:rPr b="0" i="0" lang="en-US" sz="1700" u="none" cap="none" strike="noStrike">
                <a:solidFill>
                  <a:srgbClr val="1A6B72"/>
                </a:solidFill>
                <a:latin typeface="Calibri"/>
                <a:ea typeface="Calibri"/>
                <a:cs typeface="Calibri"/>
                <a:sym typeface="Calibri"/>
              </a:rPr>
              <a:t xml:space="preserve"> notice is void because it demands late fees, and that Maria has a defense. The if-then consequence is the decision logic.</a:t>
            </a:r>
            <a:endParaRPr b="0" i="0" sz="1700" u="none" cap="none" strike="noStrike">
              <a:solidFill>
                <a:schemeClr val="dk1"/>
              </a:solidFill>
              <a:latin typeface="Calibri"/>
              <a:ea typeface="Calibri"/>
              <a:cs typeface="Calibri"/>
              <a:sym typeface="Calibri"/>
            </a:endParaRPr>
          </a:p>
        </p:txBody>
      </p:sp>
      <p:sp>
        <p:nvSpPr>
          <p:cNvPr id="297" name="Google Shape;297;p12"/>
          <p:cNvSpPr/>
          <p:nvPr/>
        </p:nvSpPr>
        <p:spPr>
          <a:xfrm>
            <a:off x="640076" y="4263825"/>
            <a:ext cx="5486400" cy="1059000"/>
          </a:xfrm>
          <a:prstGeom prst="rect">
            <a:avLst/>
          </a:prstGeom>
          <a:solidFill>
            <a:srgbClr val="1A2E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298" name="Google Shape;298;p12"/>
          <p:cNvSpPr/>
          <p:nvPr/>
        </p:nvSpPr>
        <p:spPr>
          <a:xfrm>
            <a:off x="844788" y="4263825"/>
            <a:ext cx="5076900" cy="105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400"/>
              <a:buFont typeface="Calibri"/>
              <a:buNone/>
            </a:pPr>
            <a:r>
              <a:rPr b="1" i="0" lang="en-US" sz="1700" u="none" cap="none" strike="noStrike">
                <a:solidFill>
                  <a:srgbClr val="2A9DA6"/>
                </a:solidFill>
                <a:latin typeface="Calibri"/>
                <a:ea typeface="Calibri"/>
                <a:cs typeface="Calibri"/>
                <a:sym typeface="Calibri"/>
              </a:rPr>
              <a:t xml:space="preserve">The Civil Justice as Code Project:  </a:t>
            </a:r>
            <a:r>
              <a:rPr b="0" i="0" lang="en-US" sz="1700" u="none" cap="none" strike="noStrike">
                <a:solidFill>
                  <a:srgbClr val="CADCFC"/>
                </a:solidFill>
                <a:latin typeface="Calibri"/>
                <a:ea typeface="Calibri"/>
                <a:cs typeface="Calibri"/>
                <a:sym typeface="Calibri"/>
              </a:rPr>
              <a:t>draft decision-logic rules (JSON) for eviction in all 50 states, published on GitHub. Next step: rigorous validation.</a:t>
            </a:r>
            <a:endParaRPr b="0" i="0" sz="1700" u="none" cap="none" strike="noStrike">
              <a:solidFill>
                <a:schemeClr val="dk1"/>
              </a:solidFill>
              <a:latin typeface="Calibri"/>
              <a:ea typeface="Calibri"/>
              <a:cs typeface="Calibri"/>
              <a:sym typeface="Calibri"/>
            </a:endParaRPr>
          </a:p>
        </p:txBody>
      </p:sp>
      <p:sp>
        <p:nvSpPr>
          <p:cNvPr id="299" name="Google Shape;299;p12"/>
          <p:cNvSpPr/>
          <p:nvPr/>
        </p:nvSpPr>
        <p:spPr>
          <a:xfrm>
            <a:off x="6350000" y="1108575"/>
            <a:ext cx="3919800" cy="41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300"/>
              <a:buFont typeface="Calibri"/>
              <a:buNone/>
            </a:pPr>
            <a:r>
              <a:rPr b="1" i="1" lang="en-US" sz="1700" u="none" cap="none" strike="noStrike">
                <a:solidFill>
                  <a:srgbClr val="2A9DA6"/>
                </a:solidFill>
                <a:latin typeface="Calibri"/>
                <a:ea typeface="Calibri"/>
                <a:cs typeface="Calibri"/>
                <a:sym typeface="Calibri"/>
              </a:rPr>
              <a:t>The JSON decision logic used for the demo:</a:t>
            </a:r>
            <a:endParaRPr b="1" i="0" sz="1700" u="none" cap="none" strike="noStrike">
              <a:solidFill>
                <a:schemeClr val="dk1"/>
              </a:solidFill>
              <a:latin typeface="Calibri"/>
              <a:ea typeface="Calibri"/>
              <a:cs typeface="Calibri"/>
              <a:sym typeface="Calibri"/>
            </a:endParaRPr>
          </a:p>
        </p:txBody>
      </p:sp>
      <p:sp>
        <p:nvSpPr>
          <p:cNvPr id="300" name="Google Shape;300;p12"/>
          <p:cNvSpPr/>
          <p:nvPr/>
        </p:nvSpPr>
        <p:spPr>
          <a:xfrm>
            <a:off x="6294700" y="1563625"/>
            <a:ext cx="2821200" cy="324300"/>
          </a:xfrm>
          <a:prstGeom prst="rect">
            <a:avLst/>
          </a:prstGeom>
          <a:solidFill>
            <a:srgbClr val="22395C"/>
          </a:solidFill>
          <a:ln>
            <a:noFill/>
          </a:ln>
        </p:spPr>
        <p:txBody>
          <a:bodyPr anchorCtr="0" anchor="ctr" bIns="95450" lIns="95450" spcFirstLastPara="1" rIns="95450" wrap="square" tIns="95450">
            <a:noAutofit/>
          </a:bodyPr>
          <a:lstStyle/>
          <a:p>
            <a:pPr indent="0" lvl="0" marL="0" marR="0" rtl="0" algn="l">
              <a:lnSpc>
                <a:spcPct val="100000"/>
              </a:lnSpc>
              <a:spcBef>
                <a:spcPts val="0"/>
              </a:spcBef>
              <a:spcAft>
                <a:spcPts val="0"/>
              </a:spcAft>
              <a:buClr>
                <a:srgbClr val="000000"/>
              </a:buClr>
              <a:buSzPts val="1461"/>
              <a:buFont typeface="Arial"/>
              <a:buNone/>
            </a:pPr>
            <a:r>
              <a:t/>
            </a:r>
            <a:endParaRPr b="0" i="0" sz="1461" u="none" cap="none" strike="noStrike">
              <a:solidFill>
                <a:srgbClr val="000000"/>
              </a:solidFill>
              <a:latin typeface="Arial"/>
              <a:ea typeface="Arial"/>
              <a:cs typeface="Arial"/>
              <a:sym typeface="Arial"/>
            </a:endParaRPr>
          </a:p>
        </p:txBody>
      </p:sp>
      <p:sp>
        <p:nvSpPr>
          <p:cNvPr id="301" name="Google Shape;301;p12"/>
          <p:cNvSpPr/>
          <p:nvPr/>
        </p:nvSpPr>
        <p:spPr>
          <a:xfrm>
            <a:off x="6469785" y="1563625"/>
            <a:ext cx="2604000" cy="32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48"/>
              <a:buFont typeface="Consolas"/>
              <a:buNone/>
            </a:pPr>
            <a:r>
              <a:rPr b="0" i="0" lang="en-US" sz="1148" u="none" cap="none" strike="noStrike">
                <a:solidFill>
                  <a:srgbClr val="CADCFC"/>
                </a:solidFill>
                <a:latin typeface="Consolas"/>
                <a:ea typeface="Consolas"/>
                <a:cs typeface="Consolas"/>
                <a:sym typeface="Consolas"/>
              </a:rPr>
              <a:t>ca_eviction_v1.2.json</a:t>
            </a:r>
            <a:endParaRPr b="0" i="0" sz="1148" u="none" cap="none" strike="noStrike">
              <a:solidFill>
                <a:schemeClr val="dk1"/>
              </a:solidFill>
              <a:latin typeface="Calibri"/>
              <a:ea typeface="Calibri"/>
              <a:cs typeface="Calibri"/>
              <a:sym typeface="Calibri"/>
            </a:endParaRPr>
          </a:p>
        </p:txBody>
      </p:sp>
      <p:sp>
        <p:nvSpPr>
          <p:cNvPr id="302" name="Google Shape;302;p12"/>
          <p:cNvSpPr/>
          <p:nvPr/>
        </p:nvSpPr>
        <p:spPr>
          <a:xfrm>
            <a:off x="6299650" y="1902425"/>
            <a:ext cx="5294700" cy="4026600"/>
          </a:xfrm>
          <a:prstGeom prst="rect">
            <a:avLst/>
          </a:prstGeom>
          <a:solidFill>
            <a:srgbClr val="0D1137"/>
          </a:solidFill>
          <a:ln>
            <a:noFill/>
          </a:ln>
          <a:effectLst>
            <a:outerShdw blurRad="92804" rotWithShape="0" algn="bl" dir="8100000" dist="39773">
              <a:srgbClr val="000000">
                <a:alpha val="16078"/>
              </a:srgbClr>
            </a:outerShdw>
          </a:effectLst>
        </p:spPr>
        <p:txBody>
          <a:bodyPr anchorCtr="0" anchor="ctr" bIns="95450" lIns="95450" spcFirstLastPara="1" rIns="95450" wrap="square" tIns="95450">
            <a:noAutofit/>
          </a:bodyPr>
          <a:lstStyle/>
          <a:p>
            <a:pPr indent="0" lvl="0" marL="0" marR="0" rtl="0" algn="l">
              <a:lnSpc>
                <a:spcPct val="100000"/>
              </a:lnSpc>
              <a:spcBef>
                <a:spcPts val="0"/>
              </a:spcBef>
              <a:spcAft>
                <a:spcPts val="0"/>
              </a:spcAft>
              <a:buClr>
                <a:srgbClr val="000000"/>
              </a:buClr>
              <a:buSzPts val="1461"/>
              <a:buFont typeface="Arial"/>
              <a:buNone/>
            </a:pPr>
            <a:r>
              <a:t/>
            </a:r>
            <a:endParaRPr b="0" i="0" sz="1461" u="none" cap="none" strike="noStrike">
              <a:solidFill>
                <a:srgbClr val="000000"/>
              </a:solidFill>
              <a:latin typeface="Arial"/>
              <a:ea typeface="Arial"/>
              <a:cs typeface="Arial"/>
              <a:sym typeface="Arial"/>
            </a:endParaRPr>
          </a:p>
        </p:txBody>
      </p:sp>
      <p:sp>
        <p:nvSpPr>
          <p:cNvPr id="303" name="Google Shape;303;p12"/>
          <p:cNvSpPr/>
          <p:nvPr/>
        </p:nvSpPr>
        <p:spPr>
          <a:xfrm>
            <a:off x="6570890" y="2126811"/>
            <a:ext cx="4752300" cy="3961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"notice_types":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 xml:space="preserve">  "pay_or_quit":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 xml:space="preserve">    "tenancy_over_1yr":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 xml:space="preserve">      "days": 15,</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 xml:space="preserve">      "statute": "CCP §1161(2),</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 xml:space="preserve">                  AB 1482"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"notice_defects":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 xml:space="preserve">  { "defect": "includes_late_fees",</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 xml:space="preserve">    "result": "INVALID"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"local_overlays":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 xml:space="preserve">  "los_angeles":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CADCFC"/>
              </a:buClr>
              <a:buSzPts val="1305"/>
              <a:buFont typeface="Consolas"/>
              <a:buNone/>
            </a:pPr>
            <a:r>
              <a:rPr b="0" i="0" lang="en-US" sz="1800" u="none" cap="none" strike="noStrike">
                <a:solidFill>
                  <a:srgbClr val="CADCFC"/>
                </a:solidFill>
                <a:latin typeface="Consolas"/>
                <a:ea typeface="Consolas"/>
                <a:cs typeface="Consolas"/>
                <a:sym typeface="Consolas"/>
              </a:rPr>
              <a:t xml:space="preserve">    "just_cause_required": true }}</a:t>
            </a:r>
            <a:endParaRPr b="0" i="0" sz="1800" u="none" cap="none" strike="noStrike">
              <a:solidFill>
                <a:schemeClr val="dk1"/>
              </a:solidFill>
              <a:latin typeface="Calibri"/>
              <a:ea typeface="Calibri"/>
              <a:cs typeface="Calibri"/>
              <a:sym typeface="Calibri"/>
            </a:endParaRPr>
          </a:p>
        </p:txBody>
      </p:sp>
      <p:sp>
        <p:nvSpPr>
          <p:cNvPr id="304" name="Google Shape;304;p12"/>
          <p:cNvSpPr/>
          <p:nvPr/>
        </p:nvSpPr>
        <p:spPr>
          <a:xfrm>
            <a:off x="640075" y="5929137"/>
            <a:ext cx="7315200" cy="41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8AB"/>
              </a:buClr>
              <a:buSzPts val="1100"/>
              <a:buFont typeface="Calibri"/>
              <a:buNone/>
            </a:pPr>
            <a:r>
              <a:rPr b="1" i="0" lang="en-US" sz="1800" u="none" cap="none" strike="noStrike">
                <a:solidFill>
                  <a:srgbClr val="8A98AB"/>
                </a:solidFill>
                <a:latin typeface="Calibri"/>
                <a:ea typeface="Calibri"/>
                <a:cs typeface="Calibri"/>
                <a:sym typeface="Calibri"/>
              </a:rPr>
              <a:t>DEMO - LEARNINGS</a:t>
            </a:r>
            <a:endParaRPr b="1" i="0" sz="1800" u="none" cap="none" strike="noStrike">
              <a:solidFill>
                <a:srgbClr val="8A98AB"/>
              </a:solidFill>
              <a:latin typeface="Calibri"/>
              <a:ea typeface="Calibri"/>
              <a:cs typeface="Calibri"/>
              <a:sym typeface="Calibri"/>
            </a:endParaRPr>
          </a:p>
        </p:txBody>
      </p:sp>
      <p:sp>
        <p:nvSpPr>
          <p:cNvPr id="305" name="Google Shape;305;p12"/>
          <p:cNvSpPr/>
          <p:nvPr/>
        </p:nvSpPr>
        <p:spPr>
          <a:xfrm>
            <a:off x="11521440"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p:txBody>
      </p:sp>
      <p:sp>
        <p:nvSpPr>
          <p:cNvPr id="306" name="Google Shape;306;p12"/>
          <p:cNvSpPr/>
          <p:nvPr/>
        </p:nvSpPr>
        <p:spPr>
          <a:xfrm>
            <a:off x="640080" y="6438554"/>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311" name="Shape 311"/>
        <p:cNvGrpSpPr/>
        <p:nvPr/>
      </p:nvGrpSpPr>
      <p:grpSpPr>
        <a:xfrm>
          <a:off x="0" y="0"/>
          <a:ext cx="0" cy="0"/>
          <a:chOff x="0" y="0"/>
          <a:chExt cx="0" cy="0"/>
        </a:xfrm>
      </p:grpSpPr>
      <p:sp>
        <p:nvSpPr>
          <p:cNvPr id="312" name="Google Shape;312;p13"/>
          <p:cNvSpPr/>
          <p:nvPr/>
        </p:nvSpPr>
        <p:spPr>
          <a:xfrm>
            <a:off x="640080" y="275409"/>
            <a:ext cx="10881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 xml:space="preserve">SAME INFRASTRUCTURE. THE PLUGIN WE’RE BUILDING: </a:t>
            </a:r>
            <a:endParaRPr b="0" i="0" sz="1800" u="none" cap="none" strike="noStrike">
              <a:solidFill>
                <a:schemeClr val="dk1"/>
              </a:solidFill>
              <a:latin typeface="Calibri"/>
              <a:ea typeface="Calibri"/>
              <a:cs typeface="Calibri"/>
              <a:sym typeface="Calibri"/>
            </a:endParaRPr>
          </a:p>
        </p:txBody>
      </p:sp>
      <p:sp>
        <p:nvSpPr>
          <p:cNvPr id="313" name="Google Shape;313;p13"/>
          <p:cNvSpPr/>
          <p:nvPr/>
        </p:nvSpPr>
        <p:spPr>
          <a:xfrm>
            <a:off x="640075" y="766200"/>
            <a:ext cx="111558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Georgia"/>
              <a:buNone/>
            </a:pPr>
            <a:r>
              <a:rPr b="1" i="0" lang="en-US" sz="2600" u="none" cap="none" strike="noStrike">
                <a:solidFill>
                  <a:srgbClr val="FFFFFF"/>
                </a:solidFill>
                <a:latin typeface="Georgia"/>
                <a:ea typeface="Georgia"/>
                <a:cs typeface="Georgia"/>
                <a:sym typeface="Georgia"/>
              </a:rPr>
              <a:t>Civil Justice as Code</a:t>
            </a:r>
            <a:endParaRPr b="0" i="0" sz="2600" u="none" cap="none" strike="noStrike">
              <a:solidFill>
                <a:schemeClr val="dk1"/>
              </a:solidFill>
              <a:latin typeface="Calibri"/>
              <a:ea typeface="Calibri"/>
              <a:cs typeface="Calibri"/>
              <a:sym typeface="Calibri"/>
            </a:endParaRPr>
          </a:p>
        </p:txBody>
      </p:sp>
      <p:sp>
        <p:nvSpPr>
          <p:cNvPr id="314" name="Google Shape;314;p13"/>
          <p:cNvSpPr/>
          <p:nvPr/>
        </p:nvSpPr>
        <p:spPr>
          <a:xfrm>
            <a:off x="489204" y="1691640"/>
            <a:ext cx="203362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000"/>
              <a:buFont typeface="Calibri"/>
              <a:buNone/>
            </a:pPr>
            <a:r>
              <a:rPr b="1" i="0" lang="en-US" sz="1000" u="none" cap="none" strike="noStrike">
                <a:solidFill>
                  <a:srgbClr val="8FA8CC"/>
                </a:solidFill>
                <a:latin typeface="Calibri"/>
                <a:ea typeface="Calibri"/>
                <a:cs typeface="Calibri"/>
                <a:sym typeface="Calibri"/>
              </a:rPr>
              <a:t>AUTHORITATIVE LAW</a:t>
            </a:r>
            <a:endParaRPr b="0" i="0" sz="1000" u="none" cap="none" strike="noStrike">
              <a:solidFill>
                <a:schemeClr val="dk1"/>
              </a:solidFill>
              <a:latin typeface="Calibri"/>
              <a:ea typeface="Calibri"/>
              <a:cs typeface="Calibri"/>
              <a:sym typeface="Calibri"/>
            </a:endParaRPr>
          </a:p>
        </p:txBody>
      </p:sp>
      <p:sp>
        <p:nvSpPr>
          <p:cNvPr id="315" name="Google Shape;315;p13"/>
          <p:cNvSpPr/>
          <p:nvPr/>
        </p:nvSpPr>
        <p:spPr>
          <a:xfrm>
            <a:off x="489204" y="2002536"/>
            <a:ext cx="2033626" cy="630022"/>
          </a:xfrm>
          <a:prstGeom prst="rect">
            <a:avLst/>
          </a:prstGeom>
          <a:solidFill>
            <a:srgbClr val="0D11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6" name="Google Shape;316;p13"/>
          <p:cNvPicPr preferRelativeResize="0"/>
          <p:nvPr/>
        </p:nvPicPr>
        <p:blipFill rotWithShape="1">
          <a:blip r:embed="rId3">
            <a:alphaModFix/>
          </a:blip>
          <a:srcRect b="0" l="0" r="0" t="0"/>
          <a:stretch/>
        </p:blipFill>
        <p:spPr>
          <a:xfrm>
            <a:off x="659282" y="2157984"/>
            <a:ext cx="329184" cy="329184"/>
          </a:xfrm>
          <a:prstGeom prst="rect">
            <a:avLst/>
          </a:prstGeom>
          <a:noFill/>
          <a:ln>
            <a:noFill/>
          </a:ln>
        </p:spPr>
      </p:pic>
      <p:sp>
        <p:nvSpPr>
          <p:cNvPr id="317" name="Google Shape;317;p13"/>
          <p:cNvSpPr/>
          <p:nvPr/>
        </p:nvSpPr>
        <p:spPr>
          <a:xfrm>
            <a:off x="1075334" y="2103120"/>
            <a:ext cx="1371600" cy="4261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Statutes</a:t>
            </a:r>
            <a:endParaRPr b="0" i="0" sz="1600" u="none" cap="none" strike="noStrike">
              <a:solidFill>
                <a:schemeClr val="dk1"/>
              </a:solidFill>
              <a:latin typeface="Calibri"/>
              <a:ea typeface="Calibri"/>
              <a:cs typeface="Calibri"/>
              <a:sym typeface="Calibri"/>
            </a:endParaRPr>
          </a:p>
        </p:txBody>
      </p:sp>
      <p:sp>
        <p:nvSpPr>
          <p:cNvPr id="318" name="Google Shape;318;p13"/>
          <p:cNvSpPr/>
          <p:nvPr/>
        </p:nvSpPr>
        <p:spPr>
          <a:xfrm>
            <a:off x="489204" y="2794406"/>
            <a:ext cx="2033626" cy="630022"/>
          </a:xfrm>
          <a:prstGeom prst="rect">
            <a:avLst/>
          </a:prstGeom>
          <a:solidFill>
            <a:srgbClr val="0D11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9" name="Google Shape;319;p13"/>
          <p:cNvPicPr preferRelativeResize="0"/>
          <p:nvPr/>
        </p:nvPicPr>
        <p:blipFill rotWithShape="1">
          <a:blip r:embed="rId4">
            <a:alphaModFix/>
          </a:blip>
          <a:srcRect b="0" l="0" r="0" t="0"/>
          <a:stretch/>
        </p:blipFill>
        <p:spPr>
          <a:xfrm>
            <a:off x="659282" y="2949854"/>
            <a:ext cx="329184" cy="329184"/>
          </a:xfrm>
          <a:prstGeom prst="rect">
            <a:avLst/>
          </a:prstGeom>
          <a:noFill/>
          <a:ln>
            <a:noFill/>
          </a:ln>
        </p:spPr>
      </p:pic>
      <p:sp>
        <p:nvSpPr>
          <p:cNvPr id="320" name="Google Shape;320;p13"/>
          <p:cNvSpPr/>
          <p:nvPr/>
        </p:nvSpPr>
        <p:spPr>
          <a:xfrm>
            <a:off x="1075334" y="2894990"/>
            <a:ext cx="1371600" cy="4261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Case law</a:t>
            </a:r>
            <a:endParaRPr b="0" i="0" sz="1600" u="none" cap="none" strike="noStrike">
              <a:solidFill>
                <a:schemeClr val="dk1"/>
              </a:solidFill>
              <a:latin typeface="Calibri"/>
              <a:ea typeface="Calibri"/>
              <a:cs typeface="Calibri"/>
              <a:sym typeface="Calibri"/>
            </a:endParaRPr>
          </a:p>
        </p:txBody>
      </p:sp>
      <p:sp>
        <p:nvSpPr>
          <p:cNvPr id="321" name="Google Shape;321;p13"/>
          <p:cNvSpPr/>
          <p:nvPr/>
        </p:nvSpPr>
        <p:spPr>
          <a:xfrm>
            <a:off x="489204" y="3586277"/>
            <a:ext cx="2033626" cy="630022"/>
          </a:xfrm>
          <a:prstGeom prst="rect">
            <a:avLst/>
          </a:prstGeom>
          <a:solidFill>
            <a:srgbClr val="0D11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2" name="Google Shape;322;p13"/>
          <p:cNvPicPr preferRelativeResize="0"/>
          <p:nvPr/>
        </p:nvPicPr>
        <p:blipFill rotWithShape="1">
          <a:blip r:embed="rId5">
            <a:alphaModFix/>
          </a:blip>
          <a:srcRect b="0" l="0" r="0" t="0"/>
          <a:stretch/>
        </p:blipFill>
        <p:spPr>
          <a:xfrm>
            <a:off x="659282" y="3741725"/>
            <a:ext cx="329184" cy="329184"/>
          </a:xfrm>
          <a:prstGeom prst="rect">
            <a:avLst/>
          </a:prstGeom>
          <a:noFill/>
          <a:ln>
            <a:noFill/>
          </a:ln>
        </p:spPr>
      </p:pic>
      <p:sp>
        <p:nvSpPr>
          <p:cNvPr id="323" name="Google Shape;323;p13"/>
          <p:cNvSpPr/>
          <p:nvPr/>
        </p:nvSpPr>
        <p:spPr>
          <a:xfrm>
            <a:off x="1075334" y="3686861"/>
            <a:ext cx="1371600" cy="4261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Court systems</a:t>
            </a:r>
            <a:endParaRPr b="0" i="0" sz="1600" u="none" cap="none" strike="noStrike">
              <a:solidFill>
                <a:schemeClr val="dk1"/>
              </a:solidFill>
              <a:latin typeface="Calibri"/>
              <a:ea typeface="Calibri"/>
              <a:cs typeface="Calibri"/>
              <a:sym typeface="Calibri"/>
            </a:endParaRPr>
          </a:p>
        </p:txBody>
      </p:sp>
      <p:sp>
        <p:nvSpPr>
          <p:cNvPr id="324" name="Google Shape;324;p13"/>
          <p:cNvSpPr/>
          <p:nvPr/>
        </p:nvSpPr>
        <p:spPr>
          <a:xfrm>
            <a:off x="3319272" y="1865376"/>
            <a:ext cx="3985870" cy="786384"/>
          </a:xfrm>
          <a:prstGeom prst="rect">
            <a:avLst/>
          </a:prstGeom>
          <a:solidFill>
            <a:srgbClr val="22395C"/>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3"/>
          <p:cNvSpPr/>
          <p:nvPr/>
        </p:nvSpPr>
        <p:spPr>
          <a:xfrm>
            <a:off x="3319272" y="1865376"/>
            <a:ext cx="3985870" cy="9144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3"/>
          <p:cNvSpPr/>
          <p:nvPr/>
        </p:nvSpPr>
        <p:spPr>
          <a:xfrm>
            <a:off x="3937406" y="1993392"/>
            <a:ext cx="320040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600" u="none" cap="none" strike="noStrike">
                <a:solidFill>
                  <a:srgbClr val="FFFFFF"/>
                </a:solidFill>
                <a:latin typeface="Calibri"/>
                <a:ea typeface="Calibri"/>
                <a:cs typeface="Calibri"/>
                <a:sym typeface="Calibri"/>
              </a:rPr>
              <a:t>Connectors</a:t>
            </a:r>
            <a:endParaRPr b="0" i="0" sz="1600" u="none" cap="none" strike="noStrike">
              <a:solidFill>
                <a:schemeClr val="dk1"/>
              </a:solidFill>
              <a:latin typeface="Calibri"/>
              <a:ea typeface="Calibri"/>
              <a:cs typeface="Calibri"/>
              <a:sym typeface="Calibri"/>
            </a:endParaRPr>
          </a:p>
        </p:txBody>
      </p:sp>
      <p:sp>
        <p:nvSpPr>
          <p:cNvPr id="327" name="Google Shape;327;p13"/>
          <p:cNvSpPr/>
          <p:nvPr/>
        </p:nvSpPr>
        <p:spPr>
          <a:xfrm>
            <a:off x="3937406" y="2286000"/>
            <a:ext cx="310896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50"/>
              <a:buFont typeface="Calibri"/>
              <a:buNone/>
            </a:pPr>
            <a:r>
              <a:rPr b="0" i="0" lang="en-US" sz="1200" u="none" cap="none" strike="noStrike">
                <a:solidFill>
                  <a:srgbClr val="CADCFC"/>
                </a:solidFill>
                <a:latin typeface="Calibri"/>
                <a:ea typeface="Calibri"/>
                <a:cs typeface="Calibri"/>
                <a:sym typeface="Calibri"/>
              </a:rPr>
              <a:t>Live, deterministic lookups — the law as it is today.</a:t>
            </a:r>
            <a:endParaRPr b="0" i="0" sz="1200" u="none" cap="none" strike="noStrike">
              <a:solidFill>
                <a:schemeClr val="dk1"/>
              </a:solidFill>
              <a:latin typeface="Calibri"/>
              <a:ea typeface="Calibri"/>
              <a:cs typeface="Calibri"/>
              <a:sym typeface="Calibri"/>
            </a:endParaRPr>
          </a:p>
        </p:txBody>
      </p:sp>
      <p:sp>
        <p:nvSpPr>
          <p:cNvPr id="328" name="Google Shape;328;p13"/>
          <p:cNvSpPr/>
          <p:nvPr/>
        </p:nvSpPr>
        <p:spPr>
          <a:xfrm>
            <a:off x="3319275" y="2948075"/>
            <a:ext cx="3985800" cy="548700"/>
          </a:xfrm>
          <a:prstGeom prst="rect">
            <a:avLst/>
          </a:prstGeom>
          <a:solidFill>
            <a:srgbClr val="2A9DA6"/>
          </a:solidFill>
          <a:ln cap="flat" cmpd="sng" w="19050">
            <a:solidFill>
              <a:srgbClr val="FFFFFF"/>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9" name="Google Shape;329;p13"/>
          <p:cNvPicPr preferRelativeResize="0"/>
          <p:nvPr/>
        </p:nvPicPr>
        <p:blipFill rotWithShape="1">
          <a:blip r:embed="rId6">
            <a:alphaModFix/>
          </a:blip>
          <a:srcRect b="0" l="0" r="0" t="0"/>
          <a:stretch/>
        </p:blipFill>
        <p:spPr>
          <a:xfrm>
            <a:off x="3499409" y="3026664"/>
            <a:ext cx="310896" cy="310896"/>
          </a:xfrm>
          <a:prstGeom prst="rect">
            <a:avLst/>
          </a:prstGeom>
          <a:noFill/>
          <a:ln>
            <a:noFill/>
          </a:ln>
        </p:spPr>
      </p:pic>
      <p:sp>
        <p:nvSpPr>
          <p:cNvPr id="330" name="Google Shape;330;p13"/>
          <p:cNvSpPr/>
          <p:nvPr/>
        </p:nvSpPr>
        <p:spPr>
          <a:xfrm>
            <a:off x="3937400" y="2907432"/>
            <a:ext cx="2861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Civil Justice as Code — Eviction Defense Plugin</a:t>
            </a:r>
            <a:endParaRPr b="0" i="0" sz="1600" u="none" cap="none" strike="noStrike">
              <a:solidFill>
                <a:schemeClr val="dk1"/>
              </a:solidFill>
              <a:latin typeface="Calibri"/>
              <a:ea typeface="Calibri"/>
              <a:cs typeface="Calibri"/>
              <a:sym typeface="Calibri"/>
            </a:endParaRPr>
          </a:p>
        </p:txBody>
      </p:sp>
      <p:sp>
        <p:nvSpPr>
          <p:cNvPr id="331" name="Google Shape;331;p13"/>
          <p:cNvSpPr/>
          <p:nvPr/>
        </p:nvSpPr>
        <p:spPr>
          <a:xfrm>
            <a:off x="3937400" y="3218329"/>
            <a:ext cx="3200400" cy="23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50"/>
              <a:buFont typeface="Calibri"/>
              <a:buNone/>
            </a:pPr>
            <a:r>
              <a:rPr b="0" i="0" lang="en-US" sz="1200" u="none" cap="none" strike="noStrike">
                <a:solidFill>
                  <a:srgbClr val="FFFFFF"/>
                </a:solidFill>
                <a:latin typeface="Calibri"/>
                <a:ea typeface="Calibri"/>
                <a:cs typeface="Calibri"/>
                <a:sym typeface="Calibri"/>
              </a:rPr>
              <a:t>Decision logic · Workflow · Safety guardrails</a:t>
            </a:r>
            <a:endParaRPr b="0" i="0" sz="1200" u="none" cap="none" strike="noStrike">
              <a:solidFill>
                <a:schemeClr val="dk1"/>
              </a:solidFill>
              <a:latin typeface="Calibri"/>
              <a:ea typeface="Calibri"/>
              <a:cs typeface="Calibri"/>
              <a:sym typeface="Calibri"/>
            </a:endParaRPr>
          </a:p>
        </p:txBody>
      </p:sp>
      <p:sp>
        <p:nvSpPr>
          <p:cNvPr id="332" name="Google Shape;332;p13"/>
          <p:cNvSpPr/>
          <p:nvPr/>
        </p:nvSpPr>
        <p:spPr>
          <a:xfrm>
            <a:off x="6555325" y="2679225"/>
            <a:ext cx="658500" cy="228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3"/>
          <p:cNvSpPr/>
          <p:nvPr/>
        </p:nvSpPr>
        <p:spPr>
          <a:xfrm>
            <a:off x="6555441" y="2709598"/>
            <a:ext cx="658500" cy="19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B72"/>
              </a:buClr>
              <a:buSzPts val="900"/>
              <a:buFont typeface="Calibri"/>
              <a:buNone/>
            </a:pPr>
            <a:r>
              <a:rPr b="1" i="0" lang="en-US" sz="900" u="none" cap="none" strike="noStrike">
                <a:solidFill>
                  <a:srgbClr val="1A6B72"/>
                </a:solidFill>
                <a:latin typeface="Calibri"/>
                <a:ea typeface="Calibri"/>
                <a:cs typeface="Calibri"/>
                <a:sym typeface="Calibri"/>
              </a:rPr>
              <a:t>PLUGIN</a:t>
            </a:r>
            <a:endParaRPr b="0" i="0" sz="900" u="none" cap="none" strike="noStrike">
              <a:solidFill>
                <a:schemeClr val="dk1"/>
              </a:solidFill>
              <a:latin typeface="Calibri"/>
              <a:ea typeface="Calibri"/>
              <a:cs typeface="Calibri"/>
              <a:sym typeface="Calibri"/>
            </a:endParaRPr>
          </a:p>
        </p:txBody>
      </p:sp>
      <p:sp>
        <p:nvSpPr>
          <p:cNvPr id="334" name="Google Shape;334;p13"/>
          <p:cNvSpPr/>
          <p:nvPr/>
        </p:nvSpPr>
        <p:spPr>
          <a:xfrm>
            <a:off x="3319272" y="3712464"/>
            <a:ext cx="3985870" cy="786384"/>
          </a:xfrm>
          <a:prstGeom prst="rect">
            <a:avLst/>
          </a:prstGeom>
          <a:solidFill>
            <a:srgbClr val="22395C"/>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3"/>
          <p:cNvSpPr/>
          <p:nvPr/>
        </p:nvSpPr>
        <p:spPr>
          <a:xfrm>
            <a:off x="3319272" y="3712464"/>
            <a:ext cx="3985870" cy="9144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6" name="Google Shape;336;p13"/>
          <p:cNvPicPr preferRelativeResize="0"/>
          <p:nvPr/>
        </p:nvPicPr>
        <p:blipFill rotWithShape="1">
          <a:blip r:embed="rId7">
            <a:alphaModFix/>
          </a:blip>
          <a:srcRect b="0" l="0" r="0" t="0"/>
          <a:stretch/>
        </p:blipFill>
        <p:spPr>
          <a:xfrm>
            <a:off x="3499409" y="3986784"/>
            <a:ext cx="310896" cy="310896"/>
          </a:xfrm>
          <a:prstGeom prst="rect">
            <a:avLst/>
          </a:prstGeom>
          <a:noFill/>
          <a:ln>
            <a:noFill/>
          </a:ln>
        </p:spPr>
      </p:pic>
      <p:sp>
        <p:nvSpPr>
          <p:cNvPr id="337" name="Google Shape;337;p13"/>
          <p:cNvSpPr/>
          <p:nvPr/>
        </p:nvSpPr>
        <p:spPr>
          <a:xfrm>
            <a:off x="3937406" y="3840480"/>
            <a:ext cx="320040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600" u="none" cap="none" strike="noStrike">
                <a:solidFill>
                  <a:srgbClr val="FFFFFF"/>
                </a:solidFill>
                <a:latin typeface="Calibri"/>
                <a:ea typeface="Calibri"/>
                <a:cs typeface="Calibri"/>
                <a:sym typeface="Calibri"/>
              </a:rPr>
              <a:t>Skills &amp; plugins</a:t>
            </a:r>
            <a:endParaRPr b="0" i="0" sz="1600" u="none" cap="none" strike="noStrike">
              <a:solidFill>
                <a:schemeClr val="dk1"/>
              </a:solidFill>
              <a:latin typeface="Calibri"/>
              <a:ea typeface="Calibri"/>
              <a:cs typeface="Calibri"/>
              <a:sym typeface="Calibri"/>
            </a:endParaRPr>
          </a:p>
        </p:txBody>
      </p:sp>
      <p:sp>
        <p:nvSpPr>
          <p:cNvPr id="338" name="Google Shape;338;p13"/>
          <p:cNvSpPr/>
          <p:nvPr/>
        </p:nvSpPr>
        <p:spPr>
          <a:xfrm>
            <a:off x="3937406" y="4133088"/>
            <a:ext cx="310896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50"/>
              <a:buFont typeface="Calibri"/>
              <a:buNone/>
            </a:pPr>
            <a:r>
              <a:rPr b="0" i="0" lang="en-US" sz="1200" u="none" cap="none" strike="noStrike">
                <a:solidFill>
                  <a:srgbClr val="CADCFC"/>
                </a:solidFill>
                <a:latin typeface="Calibri"/>
                <a:ea typeface="Calibri"/>
                <a:cs typeface="Calibri"/>
                <a:sym typeface="Calibri"/>
              </a:rPr>
              <a:t>Workflows: intake, eligibility, drafting, deadlines.</a:t>
            </a:r>
            <a:endParaRPr b="0" i="0" sz="1200" u="none" cap="none" strike="noStrike">
              <a:solidFill>
                <a:schemeClr val="dk1"/>
              </a:solidFill>
              <a:latin typeface="Calibri"/>
              <a:ea typeface="Calibri"/>
              <a:cs typeface="Calibri"/>
              <a:sym typeface="Calibri"/>
            </a:endParaRPr>
          </a:p>
        </p:txBody>
      </p:sp>
      <p:sp>
        <p:nvSpPr>
          <p:cNvPr id="339" name="Google Shape;339;p13"/>
          <p:cNvSpPr/>
          <p:nvPr/>
        </p:nvSpPr>
        <p:spPr>
          <a:xfrm>
            <a:off x="2668700" y="4645150"/>
            <a:ext cx="5197800" cy="713100"/>
          </a:xfrm>
          <a:prstGeom prst="rect">
            <a:avLst/>
          </a:prstGeom>
          <a:solidFill>
            <a:srgbClr val="0D1137"/>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40" name="Google Shape;340;p13"/>
          <p:cNvPicPr preferRelativeResize="0"/>
          <p:nvPr/>
        </p:nvPicPr>
        <p:blipFill rotWithShape="1">
          <a:blip r:embed="rId8">
            <a:alphaModFix/>
          </a:blip>
          <a:srcRect b="0" l="0" r="0" t="0"/>
          <a:stretch/>
        </p:blipFill>
        <p:spPr>
          <a:xfrm>
            <a:off x="2763317" y="4837176"/>
            <a:ext cx="384048" cy="384048"/>
          </a:xfrm>
          <a:prstGeom prst="rect">
            <a:avLst/>
          </a:prstGeom>
          <a:noFill/>
          <a:ln>
            <a:noFill/>
          </a:ln>
        </p:spPr>
      </p:pic>
      <p:sp>
        <p:nvSpPr>
          <p:cNvPr id="341" name="Google Shape;341;p13"/>
          <p:cNvSpPr/>
          <p:nvPr/>
        </p:nvSpPr>
        <p:spPr>
          <a:xfrm>
            <a:off x="3351276" y="4645152"/>
            <a:ext cx="4342486" cy="7132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600" u="none" cap="none" strike="noStrike">
                <a:solidFill>
                  <a:srgbClr val="FFFFFF"/>
                </a:solidFill>
                <a:latin typeface="Calibri"/>
                <a:ea typeface="Calibri"/>
                <a:cs typeface="Calibri"/>
                <a:sym typeface="Calibri"/>
              </a:rPr>
              <a:t>AI foundation: translation · reasoning · drafting (“predictive”)</a:t>
            </a:r>
            <a:endParaRPr b="0" i="0" sz="1600" u="none" cap="none" strike="noStrike">
              <a:solidFill>
                <a:schemeClr val="dk1"/>
              </a:solidFill>
              <a:latin typeface="Calibri"/>
              <a:ea typeface="Calibri"/>
              <a:cs typeface="Calibri"/>
              <a:sym typeface="Calibri"/>
            </a:endParaRPr>
          </a:p>
        </p:txBody>
      </p:sp>
      <p:cxnSp>
        <p:nvCxnSpPr>
          <p:cNvPr id="342" name="Google Shape;342;p13"/>
          <p:cNvCxnSpPr/>
          <p:nvPr/>
        </p:nvCxnSpPr>
        <p:spPr>
          <a:xfrm rot="10800000">
            <a:off x="3959352" y="4498848"/>
            <a:ext cx="0" cy="146304"/>
          </a:xfrm>
          <a:prstGeom prst="straightConnector1">
            <a:avLst/>
          </a:prstGeom>
          <a:noFill/>
          <a:ln cap="flat" cmpd="sng" w="25400">
            <a:solidFill>
              <a:srgbClr val="8FA8CC"/>
            </a:solidFill>
            <a:prstDash val="solid"/>
            <a:round/>
            <a:headEnd len="sm" w="sm" type="none"/>
            <a:tailEnd len="med" w="med" type="triangle"/>
          </a:ln>
        </p:spPr>
      </p:cxnSp>
      <p:cxnSp>
        <p:nvCxnSpPr>
          <p:cNvPr id="343" name="Google Shape;343;p13"/>
          <p:cNvCxnSpPr/>
          <p:nvPr/>
        </p:nvCxnSpPr>
        <p:spPr>
          <a:xfrm rot="10800000">
            <a:off x="6665062" y="4498848"/>
            <a:ext cx="0" cy="146304"/>
          </a:xfrm>
          <a:prstGeom prst="straightConnector1">
            <a:avLst/>
          </a:prstGeom>
          <a:noFill/>
          <a:ln cap="flat" cmpd="sng" w="25400">
            <a:solidFill>
              <a:srgbClr val="8FA8CC"/>
            </a:solidFill>
            <a:prstDash val="solid"/>
            <a:round/>
            <a:headEnd len="sm" w="sm" type="none"/>
            <a:tailEnd len="med" w="med" type="triangle"/>
          </a:ln>
        </p:spPr>
      </p:cxnSp>
      <p:cxnSp>
        <p:nvCxnSpPr>
          <p:cNvPr id="344" name="Google Shape;344;p13"/>
          <p:cNvCxnSpPr/>
          <p:nvPr/>
        </p:nvCxnSpPr>
        <p:spPr>
          <a:xfrm>
            <a:off x="2522830" y="2258568"/>
            <a:ext cx="796442" cy="0"/>
          </a:xfrm>
          <a:prstGeom prst="straightConnector1">
            <a:avLst/>
          </a:prstGeom>
          <a:noFill/>
          <a:ln cap="flat" cmpd="sng" w="19050">
            <a:solidFill>
              <a:srgbClr val="2A9DA6"/>
            </a:solidFill>
            <a:prstDash val="dash"/>
            <a:round/>
            <a:headEnd len="sm" w="sm" type="none"/>
            <a:tailEnd len="sm" w="sm" type="none"/>
          </a:ln>
        </p:spPr>
      </p:cxnSp>
      <p:cxnSp>
        <p:nvCxnSpPr>
          <p:cNvPr id="345" name="Google Shape;345;p13"/>
          <p:cNvCxnSpPr/>
          <p:nvPr/>
        </p:nvCxnSpPr>
        <p:spPr>
          <a:xfrm flipH="1" rot="10800000">
            <a:off x="2522830" y="2286000"/>
            <a:ext cx="796442" cy="822960"/>
          </a:xfrm>
          <a:prstGeom prst="straightConnector1">
            <a:avLst/>
          </a:prstGeom>
          <a:noFill/>
          <a:ln cap="flat" cmpd="sng" w="19050">
            <a:solidFill>
              <a:srgbClr val="2A9DA6"/>
            </a:solidFill>
            <a:prstDash val="dash"/>
            <a:round/>
            <a:headEnd len="sm" w="sm" type="none"/>
            <a:tailEnd len="sm" w="sm" type="none"/>
          </a:ln>
        </p:spPr>
      </p:cxnSp>
      <p:cxnSp>
        <p:nvCxnSpPr>
          <p:cNvPr id="346" name="Google Shape;346;p13"/>
          <p:cNvCxnSpPr/>
          <p:nvPr/>
        </p:nvCxnSpPr>
        <p:spPr>
          <a:xfrm flipH="1" rot="10800000">
            <a:off x="2522830" y="2295144"/>
            <a:ext cx="796442" cy="1600200"/>
          </a:xfrm>
          <a:prstGeom prst="straightConnector1">
            <a:avLst/>
          </a:prstGeom>
          <a:noFill/>
          <a:ln cap="flat" cmpd="sng" w="19050">
            <a:solidFill>
              <a:srgbClr val="2A9DA6"/>
            </a:solidFill>
            <a:prstDash val="dash"/>
            <a:round/>
            <a:headEnd len="sm" w="sm" type="none"/>
            <a:tailEnd len="sm" w="sm" type="none"/>
          </a:ln>
        </p:spPr>
      </p:cxnSp>
      <p:sp>
        <p:nvSpPr>
          <p:cNvPr id="347" name="Google Shape;347;p13"/>
          <p:cNvSpPr/>
          <p:nvPr/>
        </p:nvSpPr>
        <p:spPr>
          <a:xfrm>
            <a:off x="8393278" y="2002536"/>
            <a:ext cx="2733142" cy="1016813"/>
          </a:xfrm>
          <a:prstGeom prst="rect">
            <a:avLst/>
          </a:prstGeom>
          <a:solidFill>
            <a:srgbClr val="22395C"/>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3"/>
          <p:cNvSpPr/>
          <p:nvPr/>
        </p:nvSpPr>
        <p:spPr>
          <a:xfrm>
            <a:off x="8595360" y="2258568"/>
            <a:ext cx="512064" cy="512064"/>
          </a:xfrm>
          <a:prstGeom prst="ellipse">
            <a:avLst/>
          </a:prstGeom>
          <a:solidFill>
            <a:srgbClr val="E078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49" name="Google Shape;349;p13"/>
          <p:cNvPicPr preferRelativeResize="0"/>
          <p:nvPr/>
        </p:nvPicPr>
        <p:blipFill rotWithShape="1">
          <a:blip r:embed="rId9">
            <a:alphaModFix/>
          </a:blip>
          <a:srcRect b="0" l="0" r="0" t="0"/>
          <a:stretch/>
        </p:blipFill>
        <p:spPr>
          <a:xfrm>
            <a:off x="8732520" y="2386584"/>
            <a:ext cx="237744" cy="237744"/>
          </a:xfrm>
          <a:prstGeom prst="rect">
            <a:avLst/>
          </a:prstGeom>
          <a:noFill/>
          <a:ln>
            <a:noFill/>
          </a:ln>
        </p:spPr>
      </p:pic>
      <p:sp>
        <p:nvSpPr>
          <p:cNvPr id="350" name="Google Shape;350;p13"/>
          <p:cNvSpPr/>
          <p:nvPr/>
        </p:nvSpPr>
        <p:spPr>
          <a:xfrm>
            <a:off x="9198864" y="2185416"/>
            <a:ext cx="1783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600" u="none" cap="none" strike="noStrike">
                <a:solidFill>
                  <a:srgbClr val="FFFFFF"/>
                </a:solidFill>
                <a:latin typeface="Calibri"/>
                <a:ea typeface="Calibri"/>
                <a:cs typeface="Calibri"/>
                <a:sym typeface="Calibri"/>
              </a:rPr>
              <a:t>Legal-aid worker</a:t>
            </a:r>
            <a:endParaRPr b="0" i="0" sz="1600" u="none" cap="none" strike="noStrike">
              <a:solidFill>
                <a:schemeClr val="dk1"/>
              </a:solidFill>
              <a:latin typeface="Calibri"/>
              <a:ea typeface="Calibri"/>
              <a:cs typeface="Calibri"/>
              <a:sym typeface="Calibri"/>
            </a:endParaRPr>
          </a:p>
        </p:txBody>
      </p:sp>
      <p:sp>
        <p:nvSpPr>
          <p:cNvPr id="351" name="Google Shape;351;p13"/>
          <p:cNvSpPr/>
          <p:nvPr/>
        </p:nvSpPr>
        <p:spPr>
          <a:xfrm>
            <a:off x="9198864" y="2551176"/>
            <a:ext cx="17830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400" u="none" cap="none" strike="noStrike">
                <a:solidFill>
                  <a:srgbClr val="CADCFC"/>
                </a:solidFill>
                <a:latin typeface="Calibri"/>
                <a:ea typeface="Calibri"/>
                <a:cs typeface="Calibri"/>
                <a:sym typeface="Calibri"/>
              </a:rPr>
              <a:t>Review &amp; oversee</a:t>
            </a:r>
            <a:endParaRPr b="0" i="0" sz="1400" u="none" cap="none" strike="noStrike">
              <a:solidFill>
                <a:schemeClr val="dk1"/>
              </a:solidFill>
              <a:latin typeface="Calibri"/>
              <a:ea typeface="Calibri"/>
              <a:cs typeface="Calibri"/>
              <a:sym typeface="Calibri"/>
            </a:endParaRPr>
          </a:p>
        </p:txBody>
      </p:sp>
      <p:sp>
        <p:nvSpPr>
          <p:cNvPr id="352" name="Google Shape;352;p13"/>
          <p:cNvSpPr/>
          <p:nvPr/>
        </p:nvSpPr>
        <p:spPr>
          <a:xfrm>
            <a:off x="8393278" y="3240634"/>
            <a:ext cx="2733142" cy="1016813"/>
          </a:xfrm>
          <a:prstGeom prst="rect">
            <a:avLst/>
          </a:prstGeom>
          <a:solidFill>
            <a:srgbClr val="22395C"/>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3"/>
          <p:cNvSpPr/>
          <p:nvPr/>
        </p:nvSpPr>
        <p:spPr>
          <a:xfrm>
            <a:off x="8595360" y="3496666"/>
            <a:ext cx="512064" cy="512064"/>
          </a:xfrm>
          <a:prstGeom prst="ellipse">
            <a:avLst/>
          </a:prstGeom>
          <a:solidFill>
            <a:srgbClr val="E078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4" name="Google Shape;354;p13"/>
          <p:cNvPicPr preferRelativeResize="0"/>
          <p:nvPr/>
        </p:nvPicPr>
        <p:blipFill rotWithShape="1">
          <a:blip r:embed="rId10">
            <a:alphaModFix/>
          </a:blip>
          <a:srcRect b="0" l="0" r="0" t="0"/>
          <a:stretch/>
        </p:blipFill>
        <p:spPr>
          <a:xfrm>
            <a:off x="8732520" y="3624682"/>
            <a:ext cx="237744" cy="237744"/>
          </a:xfrm>
          <a:prstGeom prst="rect">
            <a:avLst/>
          </a:prstGeom>
          <a:noFill/>
          <a:ln>
            <a:noFill/>
          </a:ln>
        </p:spPr>
      </p:pic>
      <p:sp>
        <p:nvSpPr>
          <p:cNvPr id="355" name="Google Shape;355;p13"/>
          <p:cNvSpPr/>
          <p:nvPr/>
        </p:nvSpPr>
        <p:spPr>
          <a:xfrm>
            <a:off x="9198864" y="3423514"/>
            <a:ext cx="1783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600" u="none" cap="none" strike="noStrike">
                <a:solidFill>
                  <a:srgbClr val="FFFFFF"/>
                </a:solidFill>
                <a:latin typeface="Calibri"/>
                <a:ea typeface="Calibri"/>
                <a:cs typeface="Calibri"/>
                <a:sym typeface="Calibri"/>
              </a:rPr>
              <a:t>The person</a:t>
            </a:r>
            <a:endParaRPr b="0" i="0" sz="1600" u="none" cap="none" strike="noStrike">
              <a:solidFill>
                <a:schemeClr val="dk1"/>
              </a:solidFill>
              <a:latin typeface="Calibri"/>
              <a:ea typeface="Calibri"/>
              <a:cs typeface="Calibri"/>
              <a:sym typeface="Calibri"/>
            </a:endParaRPr>
          </a:p>
        </p:txBody>
      </p:sp>
      <p:sp>
        <p:nvSpPr>
          <p:cNvPr id="356" name="Google Shape;356;p13"/>
          <p:cNvSpPr/>
          <p:nvPr/>
        </p:nvSpPr>
        <p:spPr>
          <a:xfrm>
            <a:off x="9198864" y="3789274"/>
            <a:ext cx="17830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400" u="none" cap="none" strike="noStrike">
                <a:solidFill>
                  <a:srgbClr val="CADCFC"/>
                </a:solidFill>
                <a:latin typeface="Calibri"/>
                <a:ea typeface="Calibri"/>
                <a:cs typeface="Calibri"/>
                <a:sym typeface="Calibri"/>
              </a:rPr>
              <a:t>Gets safe, usable help</a:t>
            </a:r>
            <a:endParaRPr b="0" i="0" sz="1400" u="none" cap="none" strike="noStrike">
              <a:solidFill>
                <a:schemeClr val="dk1"/>
              </a:solidFill>
              <a:latin typeface="Calibri"/>
              <a:ea typeface="Calibri"/>
              <a:cs typeface="Calibri"/>
              <a:sym typeface="Calibri"/>
            </a:endParaRPr>
          </a:p>
        </p:txBody>
      </p:sp>
      <p:sp>
        <p:nvSpPr>
          <p:cNvPr id="357" name="Google Shape;357;p13"/>
          <p:cNvSpPr/>
          <p:nvPr/>
        </p:nvSpPr>
        <p:spPr>
          <a:xfrm>
            <a:off x="640080" y="5463221"/>
            <a:ext cx="10908900" cy="548700"/>
          </a:xfrm>
          <a:prstGeom prst="rect">
            <a:avLst/>
          </a:prstGeom>
          <a:solidFill>
            <a:srgbClr val="C790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8" name="Google Shape;358;p13"/>
          <p:cNvPicPr preferRelativeResize="0"/>
          <p:nvPr/>
        </p:nvPicPr>
        <p:blipFill rotWithShape="1">
          <a:blip r:embed="rId11">
            <a:alphaModFix/>
          </a:blip>
          <a:srcRect b="0" l="0" r="0" t="0"/>
          <a:stretch/>
        </p:blipFill>
        <p:spPr>
          <a:xfrm>
            <a:off x="868680" y="5582093"/>
            <a:ext cx="310896" cy="310896"/>
          </a:xfrm>
          <a:prstGeom prst="rect">
            <a:avLst/>
          </a:prstGeom>
          <a:noFill/>
          <a:ln>
            <a:noFill/>
          </a:ln>
        </p:spPr>
      </p:pic>
      <p:sp>
        <p:nvSpPr>
          <p:cNvPr id="359" name="Google Shape;359;p13"/>
          <p:cNvSpPr/>
          <p:nvPr/>
        </p:nvSpPr>
        <p:spPr>
          <a:xfrm>
            <a:off x="1325880" y="5463221"/>
            <a:ext cx="10058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137"/>
              </a:buClr>
              <a:buSzPts val="1150"/>
              <a:buFont typeface="Calibri"/>
              <a:buNone/>
            </a:pPr>
            <a:r>
              <a:rPr b="1" i="0" lang="en-US" sz="1600" u="none" cap="none" strike="noStrike">
                <a:solidFill>
                  <a:srgbClr val="0D1137"/>
                </a:solidFill>
                <a:latin typeface="Calibri"/>
                <a:ea typeface="Calibri"/>
                <a:cs typeface="Calibri"/>
                <a:sym typeface="Calibri"/>
              </a:rPr>
              <a:t xml:space="preserve">PROCESS GUARDRAILS WRAP THE WHOLE SYSTEM:  </a:t>
            </a:r>
            <a:r>
              <a:rPr b="0" i="0" lang="en-US" sz="1600" u="none" cap="none" strike="noStrike">
                <a:solidFill>
                  <a:srgbClr val="0D1137"/>
                </a:solidFill>
                <a:latin typeface="Calibri"/>
                <a:ea typeface="Calibri"/>
                <a:cs typeface="Calibri"/>
                <a:sym typeface="Calibri"/>
              </a:rPr>
              <a:t>multi-layer testing · PII &amp; privacy · mandatory human-attorney review · published accuracy standards.</a:t>
            </a:r>
            <a:endParaRPr b="0" i="0" sz="1600" u="none" cap="none" strike="noStrike">
              <a:solidFill>
                <a:schemeClr val="dk1"/>
              </a:solidFill>
              <a:latin typeface="Calibri"/>
              <a:ea typeface="Calibri"/>
              <a:cs typeface="Calibri"/>
              <a:sym typeface="Calibri"/>
            </a:endParaRPr>
          </a:p>
        </p:txBody>
      </p:sp>
      <p:sp>
        <p:nvSpPr>
          <p:cNvPr id="360" name="Google Shape;360;p13"/>
          <p:cNvSpPr/>
          <p:nvPr/>
        </p:nvSpPr>
        <p:spPr>
          <a:xfrm>
            <a:off x="640080" y="6221494"/>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100"/>
              <a:buFont typeface="Calibri"/>
              <a:buNone/>
            </a:pPr>
            <a:r>
              <a:rPr b="1" i="0" lang="en-US" sz="1800" u="none" cap="none" strike="noStrike">
                <a:solidFill>
                  <a:srgbClr val="8FA8CC"/>
                </a:solidFill>
                <a:latin typeface="Calibri"/>
                <a:ea typeface="Calibri"/>
                <a:cs typeface="Calibri"/>
                <a:sym typeface="Calibri"/>
              </a:rPr>
              <a:t>INFRASTRUCTURE</a:t>
            </a:r>
            <a:endParaRPr b="0" i="0" sz="1800" u="none" cap="none" strike="noStrike">
              <a:solidFill>
                <a:schemeClr val="dk1"/>
              </a:solidFill>
              <a:latin typeface="Calibri"/>
              <a:ea typeface="Calibri"/>
              <a:cs typeface="Calibri"/>
              <a:sym typeface="Calibri"/>
            </a:endParaRPr>
          </a:p>
        </p:txBody>
      </p:sp>
      <p:sp>
        <p:nvSpPr>
          <p:cNvPr id="361" name="Google Shape;361;p13"/>
          <p:cNvSpPr/>
          <p:nvPr/>
        </p:nvSpPr>
        <p:spPr>
          <a:xfrm>
            <a:off x="11521440"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11</a:t>
            </a:r>
            <a:endParaRPr b="0" i="0" sz="1100" u="none" cap="none" strike="noStrike">
              <a:solidFill>
                <a:schemeClr val="dk1"/>
              </a:solidFill>
              <a:latin typeface="Calibri"/>
              <a:ea typeface="Calibri"/>
              <a:cs typeface="Calibri"/>
              <a:sym typeface="Calibri"/>
            </a:endParaRPr>
          </a:p>
        </p:txBody>
      </p:sp>
      <p:sp>
        <p:nvSpPr>
          <p:cNvPr id="362" name="Google Shape;362;p13"/>
          <p:cNvSpPr/>
          <p:nvPr/>
        </p:nvSpPr>
        <p:spPr>
          <a:xfrm>
            <a:off x="640080" y="6533804"/>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pic>
        <p:nvPicPr>
          <p:cNvPr descr="preencoded.png" id="363" name="Google Shape;363;p13"/>
          <p:cNvPicPr preferRelativeResize="0"/>
          <p:nvPr/>
        </p:nvPicPr>
        <p:blipFill rotWithShape="1">
          <a:blip r:embed="rId12">
            <a:alphaModFix/>
          </a:blip>
          <a:srcRect b="0" l="0" r="0" t="0"/>
          <a:stretch/>
        </p:blipFill>
        <p:spPr>
          <a:xfrm>
            <a:off x="3435235" y="2126396"/>
            <a:ext cx="402336" cy="402336"/>
          </a:xfrm>
          <a:prstGeom prst="rect">
            <a:avLst/>
          </a:prstGeom>
          <a:noFill/>
          <a:ln>
            <a:noFill/>
          </a:ln>
        </p:spPr>
      </p:pic>
      <p:cxnSp>
        <p:nvCxnSpPr>
          <p:cNvPr id="364" name="Google Shape;364;p13"/>
          <p:cNvCxnSpPr/>
          <p:nvPr/>
        </p:nvCxnSpPr>
        <p:spPr>
          <a:xfrm flipH="1" rot="10800000">
            <a:off x="7331120" y="2510943"/>
            <a:ext cx="1001100" cy="525600"/>
          </a:xfrm>
          <a:prstGeom prst="straightConnector1">
            <a:avLst/>
          </a:prstGeom>
          <a:noFill/>
          <a:ln cap="flat" cmpd="sng" w="19050">
            <a:solidFill>
              <a:srgbClr val="E07B39"/>
            </a:solidFill>
            <a:prstDash val="dash"/>
            <a:round/>
            <a:headEnd len="sm" w="sm" type="none"/>
            <a:tailEnd len="sm" w="sm" type="none"/>
          </a:ln>
        </p:spPr>
      </p:cxnSp>
      <p:cxnSp>
        <p:nvCxnSpPr>
          <p:cNvPr id="365" name="Google Shape;365;p13"/>
          <p:cNvCxnSpPr>
            <a:stCxn id="328" idx="3"/>
          </p:cNvCxnSpPr>
          <p:nvPr/>
        </p:nvCxnSpPr>
        <p:spPr>
          <a:xfrm>
            <a:off x="7305075" y="3222425"/>
            <a:ext cx="1070100" cy="685800"/>
          </a:xfrm>
          <a:prstGeom prst="straightConnector1">
            <a:avLst/>
          </a:prstGeom>
          <a:noFill/>
          <a:ln cap="flat" cmpd="sng" w="19050">
            <a:solidFill>
              <a:srgbClr val="E07B39"/>
            </a:solidFill>
            <a:prstDash val="dash"/>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70" name="Shape 370"/>
        <p:cNvGrpSpPr/>
        <p:nvPr/>
      </p:nvGrpSpPr>
      <p:grpSpPr>
        <a:xfrm>
          <a:off x="0" y="0"/>
          <a:ext cx="0" cy="0"/>
          <a:chOff x="0" y="0"/>
          <a:chExt cx="0" cy="0"/>
        </a:xfrm>
      </p:grpSpPr>
      <p:sp>
        <p:nvSpPr>
          <p:cNvPr id="371" name="Google Shape;371;p14"/>
          <p:cNvSpPr/>
          <p:nvPr/>
        </p:nvSpPr>
        <p:spPr>
          <a:xfrm>
            <a:off x="572044" y="411480"/>
            <a:ext cx="10881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 xml:space="preserve">CIVIL JUSTICE AS CODE PROJECT </a:t>
            </a:r>
            <a:endParaRPr b="0" i="0" sz="1800" u="none" cap="none" strike="noStrike">
              <a:solidFill>
                <a:schemeClr val="dk1"/>
              </a:solidFill>
              <a:latin typeface="Calibri"/>
              <a:ea typeface="Calibri"/>
              <a:cs typeface="Calibri"/>
              <a:sym typeface="Calibri"/>
            </a:endParaRPr>
          </a:p>
        </p:txBody>
      </p:sp>
      <p:sp>
        <p:nvSpPr>
          <p:cNvPr id="372" name="Google Shape;372;p14"/>
          <p:cNvSpPr/>
          <p:nvPr/>
        </p:nvSpPr>
        <p:spPr>
          <a:xfrm>
            <a:off x="585651" y="743600"/>
            <a:ext cx="11405700" cy="85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2600"/>
              <a:buFont typeface="Georgia"/>
              <a:buNone/>
            </a:pPr>
            <a:r>
              <a:rPr b="1" i="0" lang="en-US" sz="3500" u="none" cap="none" strike="noStrike">
                <a:solidFill>
                  <a:srgbClr val="1A2E4A"/>
                </a:solidFill>
                <a:latin typeface="Georgia"/>
                <a:ea typeface="Georgia"/>
                <a:cs typeface="Georgia"/>
                <a:sym typeface="Georgia"/>
              </a:rPr>
              <a:t>Outline of the project process / steps</a:t>
            </a:r>
            <a:endParaRPr b="0" i="0" sz="3500" u="none" cap="none" strike="noStrike">
              <a:solidFill>
                <a:schemeClr val="dk1"/>
              </a:solidFill>
              <a:latin typeface="Calibri"/>
              <a:ea typeface="Calibri"/>
              <a:cs typeface="Calibri"/>
              <a:sym typeface="Calibri"/>
            </a:endParaRPr>
          </a:p>
        </p:txBody>
      </p:sp>
      <p:sp>
        <p:nvSpPr>
          <p:cNvPr id="373" name="Google Shape;373;p14"/>
          <p:cNvSpPr/>
          <p:nvPr/>
        </p:nvSpPr>
        <p:spPr>
          <a:xfrm>
            <a:off x="640080" y="6258749"/>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8AB"/>
              </a:buClr>
              <a:buSzPts val="1100"/>
              <a:buFont typeface="Calibri"/>
              <a:buNone/>
            </a:pPr>
            <a:r>
              <a:rPr b="1" i="0" lang="en-US" sz="1800" u="none" cap="none" strike="noStrike">
                <a:solidFill>
                  <a:srgbClr val="8A98AB"/>
                </a:solidFill>
                <a:latin typeface="Calibri"/>
                <a:ea typeface="Calibri"/>
                <a:cs typeface="Calibri"/>
                <a:sym typeface="Calibri"/>
              </a:rPr>
              <a:t>PROJECT</a:t>
            </a:r>
            <a:endParaRPr b="0" i="0" sz="1800" u="none" cap="none" strike="noStrike">
              <a:solidFill>
                <a:schemeClr val="dk1"/>
              </a:solidFill>
              <a:latin typeface="Calibri"/>
              <a:ea typeface="Calibri"/>
              <a:cs typeface="Calibri"/>
              <a:sym typeface="Calibri"/>
            </a:endParaRPr>
          </a:p>
        </p:txBody>
      </p:sp>
      <p:sp>
        <p:nvSpPr>
          <p:cNvPr id="374" name="Google Shape;374;p14"/>
          <p:cNvSpPr/>
          <p:nvPr/>
        </p:nvSpPr>
        <p:spPr>
          <a:xfrm>
            <a:off x="11521440" y="6446520"/>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12</a:t>
            </a:r>
            <a:endParaRPr b="0" i="0" sz="1100" u="none" cap="none" strike="noStrike">
              <a:solidFill>
                <a:schemeClr val="dk1"/>
              </a:solidFill>
              <a:latin typeface="Calibri"/>
              <a:ea typeface="Calibri"/>
              <a:cs typeface="Calibri"/>
              <a:sym typeface="Calibri"/>
            </a:endParaRPr>
          </a:p>
        </p:txBody>
      </p:sp>
      <p:sp>
        <p:nvSpPr>
          <p:cNvPr id="375" name="Google Shape;375;p14"/>
          <p:cNvSpPr/>
          <p:nvPr/>
        </p:nvSpPr>
        <p:spPr>
          <a:xfrm>
            <a:off x="640075" y="1854650"/>
            <a:ext cx="10662600" cy="1069800"/>
          </a:xfrm>
          <a:prstGeom prst="rect">
            <a:avLst/>
          </a:prstGeom>
          <a:solidFill>
            <a:srgbClr val="22395C"/>
          </a:solidFill>
          <a:ln>
            <a:noFill/>
          </a:ln>
        </p:spPr>
        <p:txBody>
          <a:bodyPr anchorCtr="0" anchor="ctr" bIns="90600" lIns="90600" spcFirstLastPara="1" rIns="90600" wrap="square" tIns="90600">
            <a:noAutofit/>
          </a:bodyPr>
          <a:lstStyle/>
          <a:p>
            <a:pPr indent="0" lvl="0" marL="0" marR="0" rtl="0" algn="l">
              <a:lnSpc>
                <a:spcPct val="100000"/>
              </a:lnSpc>
              <a:spcBef>
                <a:spcPts val="0"/>
              </a:spcBef>
              <a:spcAft>
                <a:spcPts val="0"/>
              </a:spcAft>
              <a:buClr>
                <a:srgbClr val="000000"/>
              </a:buClr>
              <a:buSzPts val="1586"/>
              <a:buFont typeface="Arial"/>
              <a:buNone/>
            </a:pPr>
            <a:r>
              <a:t/>
            </a:r>
            <a:endParaRPr b="0" i="0" sz="2379" u="none" cap="none" strike="noStrike">
              <a:solidFill>
                <a:srgbClr val="000000"/>
              </a:solidFill>
              <a:latin typeface="Arial"/>
              <a:ea typeface="Arial"/>
              <a:cs typeface="Arial"/>
              <a:sym typeface="Arial"/>
            </a:endParaRPr>
          </a:p>
        </p:txBody>
      </p:sp>
      <p:sp>
        <p:nvSpPr>
          <p:cNvPr id="376" name="Google Shape;376;p14"/>
          <p:cNvSpPr/>
          <p:nvPr/>
        </p:nvSpPr>
        <p:spPr>
          <a:xfrm>
            <a:off x="1044500" y="2135100"/>
            <a:ext cx="904800" cy="554700"/>
          </a:xfrm>
          <a:prstGeom prst="ellipse">
            <a:avLst/>
          </a:prstGeom>
          <a:solidFill>
            <a:srgbClr val="2A9DA6"/>
          </a:solidFill>
          <a:ln>
            <a:noFill/>
          </a:ln>
        </p:spPr>
        <p:txBody>
          <a:bodyPr anchorCtr="0" anchor="ctr" bIns="90600" lIns="90600" spcFirstLastPara="1" rIns="90600" wrap="square" tIns="90600">
            <a:noAutofit/>
          </a:bodyPr>
          <a:lstStyle/>
          <a:p>
            <a:pPr indent="0" lvl="0" marL="0" marR="0" rtl="0" algn="l">
              <a:lnSpc>
                <a:spcPct val="100000"/>
              </a:lnSpc>
              <a:spcBef>
                <a:spcPts val="0"/>
              </a:spcBef>
              <a:spcAft>
                <a:spcPts val="0"/>
              </a:spcAft>
              <a:buClr>
                <a:srgbClr val="000000"/>
              </a:buClr>
              <a:buSzPts val="1586"/>
              <a:buFont typeface="Arial"/>
              <a:buNone/>
            </a:pPr>
            <a:r>
              <a:t/>
            </a:r>
            <a:endParaRPr b="0" i="0" sz="2577" u="none" cap="none" strike="noStrike">
              <a:solidFill>
                <a:srgbClr val="000000"/>
              </a:solidFill>
              <a:latin typeface="Arial"/>
              <a:ea typeface="Arial"/>
              <a:cs typeface="Arial"/>
              <a:sym typeface="Arial"/>
            </a:endParaRPr>
          </a:p>
        </p:txBody>
      </p:sp>
      <p:sp>
        <p:nvSpPr>
          <p:cNvPr id="377" name="Google Shape;377;p14"/>
          <p:cNvSpPr/>
          <p:nvPr/>
        </p:nvSpPr>
        <p:spPr>
          <a:xfrm>
            <a:off x="2294510" y="1917985"/>
            <a:ext cx="8833200" cy="87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87"/>
              <a:buFont typeface="Calibri"/>
              <a:buNone/>
            </a:pPr>
            <a:r>
              <a:rPr b="1" i="0" lang="en-US" sz="1800" u="none" cap="none" strike="noStrike">
                <a:solidFill>
                  <a:srgbClr val="FFFFFF"/>
                </a:solidFill>
                <a:latin typeface="Calibri"/>
                <a:ea typeface="Calibri"/>
                <a:cs typeface="Calibri"/>
                <a:sym typeface="Calibri"/>
              </a:rPr>
              <a:t xml:space="preserve">AI Assisted Generation </a:t>
            </a:r>
            <a:r>
              <a:rPr b="0" i="0" lang="en-US" sz="1800" u="none" cap="none" strike="noStrike">
                <a:solidFill>
                  <a:srgbClr val="FFFFFF"/>
                </a:solidFill>
                <a:latin typeface="Calibri"/>
                <a:ea typeface="Calibri"/>
                <a:cs typeface="Calibri"/>
                <a:sym typeface="Calibri"/>
              </a:rPr>
              <a:t>– machine readable code (JSON) – v.1 draft rules for eviction statutes in all 50 states [link to github]</a:t>
            </a:r>
            <a:endParaRPr b="0" i="0" sz="1800" u="none" cap="none" strike="noStrike">
              <a:solidFill>
                <a:schemeClr val="dk1"/>
              </a:solidFill>
              <a:latin typeface="Calibri"/>
              <a:ea typeface="Calibri"/>
              <a:cs typeface="Calibri"/>
              <a:sym typeface="Calibri"/>
            </a:endParaRPr>
          </a:p>
        </p:txBody>
      </p:sp>
      <p:sp>
        <p:nvSpPr>
          <p:cNvPr id="378" name="Google Shape;378;p14"/>
          <p:cNvSpPr/>
          <p:nvPr/>
        </p:nvSpPr>
        <p:spPr>
          <a:xfrm>
            <a:off x="640075" y="3026100"/>
            <a:ext cx="10662600" cy="1021200"/>
          </a:xfrm>
          <a:prstGeom prst="rect">
            <a:avLst/>
          </a:prstGeom>
          <a:solidFill>
            <a:srgbClr val="22395C"/>
          </a:solidFill>
          <a:ln>
            <a:noFill/>
          </a:ln>
        </p:spPr>
        <p:txBody>
          <a:bodyPr anchorCtr="0" anchor="ctr" bIns="90600" lIns="90600" spcFirstLastPara="1" rIns="90600" wrap="square" tIns="90600">
            <a:noAutofit/>
          </a:bodyPr>
          <a:lstStyle/>
          <a:p>
            <a:pPr indent="0" lvl="0" marL="0" marR="0" rtl="0" algn="l">
              <a:lnSpc>
                <a:spcPct val="100000"/>
              </a:lnSpc>
              <a:spcBef>
                <a:spcPts val="0"/>
              </a:spcBef>
              <a:spcAft>
                <a:spcPts val="0"/>
              </a:spcAft>
              <a:buClr>
                <a:srgbClr val="000000"/>
              </a:buClr>
              <a:buSzPts val="1586"/>
              <a:buFont typeface="Arial"/>
              <a:buNone/>
            </a:pPr>
            <a:r>
              <a:t/>
            </a:r>
            <a:endParaRPr b="0" i="0" sz="2379" u="none" cap="none" strike="noStrike">
              <a:solidFill>
                <a:srgbClr val="000000"/>
              </a:solidFill>
              <a:latin typeface="Arial"/>
              <a:ea typeface="Arial"/>
              <a:cs typeface="Arial"/>
              <a:sym typeface="Arial"/>
            </a:endParaRPr>
          </a:p>
        </p:txBody>
      </p:sp>
      <p:sp>
        <p:nvSpPr>
          <p:cNvPr id="379" name="Google Shape;379;p14"/>
          <p:cNvSpPr/>
          <p:nvPr/>
        </p:nvSpPr>
        <p:spPr>
          <a:xfrm>
            <a:off x="1044500" y="3288901"/>
            <a:ext cx="919200" cy="583800"/>
          </a:xfrm>
          <a:prstGeom prst="ellipse">
            <a:avLst/>
          </a:prstGeom>
          <a:solidFill>
            <a:srgbClr val="2A9DA6"/>
          </a:solidFill>
          <a:ln>
            <a:noFill/>
          </a:ln>
        </p:spPr>
        <p:txBody>
          <a:bodyPr anchorCtr="0" anchor="ctr" bIns="90600" lIns="90600" spcFirstLastPara="1" rIns="90600" wrap="square" tIns="90600">
            <a:noAutofit/>
          </a:bodyPr>
          <a:lstStyle/>
          <a:p>
            <a:pPr indent="0" lvl="0" marL="0" marR="0" rtl="0" algn="l">
              <a:lnSpc>
                <a:spcPct val="100000"/>
              </a:lnSpc>
              <a:spcBef>
                <a:spcPts val="0"/>
              </a:spcBef>
              <a:spcAft>
                <a:spcPts val="0"/>
              </a:spcAft>
              <a:buClr>
                <a:srgbClr val="000000"/>
              </a:buClr>
              <a:buSzPts val="1586"/>
              <a:buFont typeface="Arial"/>
              <a:buNone/>
            </a:pPr>
            <a:r>
              <a:t/>
            </a:r>
            <a:endParaRPr b="0" i="0" sz="2577" u="none" cap="none" strike="noStrike">
              <a:solidFill>
                <a:srgbClr val="000000"/>
              </a:solidFill>
              <a:latin typeface="Arial"/>
              <a:ea typeface="Arial"/>
              <a:cs typeface="Arial"/>
              <a:sym typeface="Arial"/>
            </a:endParaRPr>
          </a:p>
        </p:txBody>
      </p:sp>
      <p:sp>
        <p:nvSpPr>
          <p:cNvPr id="380" name="Google Shape;380;p14"/>
          <p:cNvSpPr/>
          <p:nvPr/>
        </p:nvSpPr>
        <p:spPr>
          <a:xfrm>
            <a:off x="1044500" y="3280001"/>
            <a:ext cx="919200" cy="55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84"/>
              <a:buFont typeface="Georgia"/>
              <a:buNone/>
            </a:pPr>
            <a:r>
              <a:t/>
            </a:r>
            <a:endParaRPr b="0" i="0" sz="2400" u="none" cap="none" strike="noStrike">
              <a:solidFill>
                <a:schemeClr val="dk1"/>
              </a:solidFill>
              <a:latin typeface="Calibri"/>
              <a:ea typeface="Calibri"/>
              <a:cs typeface="Calibri"/>
              <a:sym typeface="Calibri"/>
            </a:endParaRPr>
          </a:p>
        </p:txBody>
      </p:sp>
      <p:sp>
        <p:nvSpPr>
          <p:cNvPr id="381" name="Google Shape;381;p14"/>
          <p:cNvSpPr/>
          <p:nvPr/>
        </p:nvSpPr>
        <p:spPr>
          <a:xfrm>
            <a:off x="2294510" y="3062871"/>
            <a:ext cx="8833200" cy="79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87"/>
              <a:buFont typeface="Calibri"/>
              <a:buNone/>
            </a:pPr>
            <a:r>
              <a:rPr b="1" i="0" lang="en-US" sz="1800" u="none" cap="none" strike="noStrike">
                <a:solidFill>
                  <a:srgbClr val="FFFFFF"/>
                </a:solidFill>
                <a:latin typeface="Calibri"/>
                <a:ea typeface="Calibri"/>
                <a:cs typeface="Calibri"/>
                <a:sym typeface="Calibri"/>
              </a:rPr>
              <a:t xml:space="preserve">Incremental  / Transparent </a:t>
            </a:r>
            <a:r>
              <a:rPr b="0" i="0" lang="en-US" sz="1800" u="none" cap="none" strike="noStrike">
                <a:solidFill>
                  <a:srgbClr val="FFFFFF"/>
                </a:solidFill>
                <a:latin typeface="Calibri"/>
                <a:ea typeface="Calibri"/>
                <a:cs typeface="Calibri"/>
                <a:sym typeface="Calibri"/>
              </a:rPr>
              <a:t xml:space="preserve">– generate next a2j rules layer only after proving the accuracy / validity of the eviction rules </a:t>
            </a:r>
            <a:endParaRPr b="0" i="0" sz="1800" u="none" cap="none" strike="noStrike">
              <a:solidFill>
                <a:schemeClr val="dk1"/>
              </a:solidFill>
              <a:latin typeface="Calibri"/>
              <a:ea typeface="Calibri"/>
              <a:cs typeface="Calibri"/>
              <a:sym typeface="Calibri"/>
            </a:endParaRPr>
          </a:p>
        </p:txBody>
      </p:sp>
      <p:sp>
        <p:nvSpPr>
          <p:cNvPr id="382" name="Google Shape;382;p14"/>
          <p:cNvSpPr/>
          <p:nvPr/>
        </p:nvSpPr>
        <p:spPr>
          <a:xfrm>
            <a:off x="640075" y="4072475"/>
            <a:ext cx="10662600" cy="1021200"/>
          </a:xfrm>
          <a:prstGeom prst="rect">
            <a:avLst/>
          </a:prstGeom>
          <a:solidFill>
            <a:srgbClr val="22395C"/>
          </a:solidFill>
          <a:ln>
            <a:noFill/>
          </a:ln>
        </p:spPr>
        <p:txBody>
          <a:bodyPr anchorCtr="0" anchor="ctr" bIns="90600" lIns="90600" spcFirstLastPara="1" rIns="90600" wrap="square" tIns="90600">
            <a:noAutofit/>
          </a:bodyPr>
          <a:lstStyle/>
          <a:p>
            <a:pPr indent="0" lvl="0" marL="0" marR="0" rtl="0" algn="l">
              <a:lnSpc>
                <a:spcPct val="100000"/>
              </a:lnSpc>
              <a:spcBef>
                <a:spcPts val="0"/>
              </a:spcBef>
              <a:spcAft>
                <a:spcPts val="0"/>
              </a:spcAft>
              <a:buClr>
                <a:srgbClr val="000000"/>
              </a:buClr>
              <a:buSzPts val="1586"/>
              <a:buFont typeface="Arial"/>
              <a:buNone/>
            </a:pPr>
            <a:r>
              <a:t/>
            </a:r>
            <a:endParaRPr b="0" i="0" sz="2379" u="none" cap="none" strike="noStrike">
              <a:solidFill>
                <a:srgbClr val="000000"/>
              </a:solidFill>
              <a:latin typeface="Arial"/>
              <a:ea typeface="Arial"/>
              <a:cs typeface="Arial"/>
              <a:sym typeface="Arial"/>
            </a:endParaRPr>
          </a:p>
        </p:txBody>
      </p:sp>
      <p:sp>
        <p:nvSpPr>
          <p:cNvPr id="383" name="Google Shape;383;p14"/>
          <p:cNvSpPr/>
          <p:nvPr/>
        </p:nvSpPr>
        <p:spPr>
          <a:xfrm>
            <a:off x="1044496" y="4305571"/>
            <a:ext cx="919200" cy="554700"/>
          </a:xfrm>
          <a:prstGeom prst="ellipse">
            <a:avLst/>
          </a:prstGeom>
          <a:solidFill>
            <a:srgbClr val="2A9DA6"/>
          </a:solidFill>
          <a:ln>
            <a:noFill/>
          </a:ln>
        </p:spPr>
        <p:txBody>
          <a:bodyPr anchorCtr="0" anchor="ctr" bIns="90600" lIns="90600" spcFirstLastPara="1" rIns="90600" wrap="square" tIns="90600">
            <a:noAutofit/>
          </a:bodyPr>
          <a:lstStyle/>
          <a:p>
            <a:pPr indent="0" lvl="0" marL="0" marR="0" rtl="0" algn="l">
              <a:lnSpc>
                <a:spcPct val="100000"/>
              </a:lnSpc>
              <a:spcBef>
                <a:spcPts val="0"/>
              </a:spcBef>
              <a:spcAft>
                <a:spcPts val="0"/>
              </a:spcAft>
              <a:buClr>
                <a:srgbClr val="000000"/>
              </a:buClr>
              <a:buSzPts val="1586"/>
              <a:buFont typeface="Arial"/>
              <a:buNone/>
            </a:pPr>
            <a:r>
              <a:t/>
            </a:r>
            <a:endParaRPr b="0" i="0" sz="2577" u="none" cap="none" strike="noStrike">
              <a:solidFill>
                <a:srgbClr val="000000"/>
              </a:solidFill>
              <a:latin typeface="Arial"/>
              <a:ea typeface="Arial"/>
              <a:cs typeface="Arial"/>
              <a:sym typeface="Arial"/>
            </a:endParaRPr>
          </a:p>
        </p:txBody>
      </p:sp>
      <p:sp>
        <p:nvSpPr>
          <p:cNvPr id="384" name="Google Shape;384;p14"/>
          <p:cNvSpPr/>
          <p:nvPr/>
        </p:nvSpPr>
        <p:spPr>
          <a:xfrm>
            <a:off x="1019100" y="4412850"/>
            <a:ext cx="4572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84"/>
              <a:buFont typeface="Georgia"/>
              <a:buNone/>
            </a:pPr>
            <a:r>
              <a:rPr b="1" i="0" lang="en-US" sz="1800" u="none" cap="none" strike="noStrike">
                <a:solidFill>
                  <a:srgbClr val="FFFFFF"/>
                </a:solidFill>
                <a:latin typeface="Georgia"/>
                <a:ea typeface="Georgia"/>
                <a:cs typeface="Georgia"/>
                <a:sym typeface="Georgia"/>
              </a:rPr>
              <a:t>3</a:t>
            </a:r>
            <a:endParaRPr b="0" i="0" sz="1800" u="none" cap="none" strike="noStrike">
              <a:solidFill>
                <a:schemeClr val="dk1"/>
              </a:solidFill>
              <a:latin typeface="Calibri"/>
              <a:ea typeface="Calibri"/>
              <a:cs typeface="Calibri"/>
              <a:sym typeface="Calibri"/>
            </a:endParaRPr>
          </a:p>
        </p:txBody>
      </p:sp>
      <p:sp>
        <p:nvSpPr>
          <p:cNvPr id="385" name="Google Shape;385;p14"/>
          <p:cNvSpPr/>
          <p:nvPr/>
        </p:nvSpPr>
        <p:spPr>
          <a:xfrm>
            <a:off x="2294510" y="4171580"/>
            <a:ext cx="8833200" cy="79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87"/>
              <a:buFont typeface="Calibri"/>
              <a:buNone/>
            </a:pPr>
            <a:r>
              <a:rPr b="1" i="0" lang="en-US" sz="1800" u="none" cap="none" strike="noStrike">
                <a:solidFill>
                  <a:srgbClr val="FFFFFF"/>
                </a:solidFill>
                <a:latin typeface="Calibri"/>
                <a:ea typeface="Calibri"/>
                <a:cs typeface="Calibri"/>
                <a:sym typeface="Calibri"/>
              </a:rPr>
              <a:t xml:space="preserve">7 layer validation </a:t>
            </a:r>
            <a:r>
              <a:rPr b="0" i="0" lang="en-US" sz="1800" u="none" cap="none" strike="noStrike">
                <a:solidFill>
                  <a:srgbClr val="FFFFFF"/>
                </a:solidFill>
                <a:latin typeface="Calibri"/>
                <a:ea typeface="Calibri"/>
                <a:cs typeface="Calibri"/>
                <a:sym typeface="Calibri"/>
              </a:rPr>
              <a:t>– rigorous best practices (used to validate AI-generated software) – automated &amp; attorney expert testing; published error rates</a:t>
            </a:r>
            <a:endParaRPr b="0" i="0" sz="1800" u="none" cap="none" strike="noStrike">
              <a:solidFill>
                <a:schemeClr val="dk1"/>
              </a:solidFill>
              <a:latin typeface="Calibri"/>
              <a:ea typeface="Calibri"/>
              <a:cs typeface="Calibri"/>
              <a:sym typeface="Calibri"/>
            </a:endParaRPr>
          </a:p>
        </p:txBody>
      </p:sp>
      <p:sp>
        <p:nvSpPr>
          <p:cNvPr id="386" name="Google Shape;386;p14"/>
          <p:cNvSpPr/>
          <p:nvPr/>
        </p:nvSpPr>
        <p:spPr>
          <a:xfrm>
            <a:off x="1059050" y="2255601"/>
            <a:ext cx="9048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84"/>
              <a:buFont typeface="Georgia"/>
              <a:buNone/>
            </a:pPr>
            <a:r>
              <a:t/>
            </a:r>
            <a:endParaRPr b="0" i="0" sz="2400" u="none" cap="none" strike="noStrike">
              <a:solidFill>
                <a:schemeClr val="dk1"/>
              </a:solidFill>
              <a:latin typeface="Calibri"/>
              <a:ea typeface="Calibri"/>
              <a:cs typeface="Calibri"/>
              <a:sym typeface="Calibri"/>
            </a:endParaRPr>
          </a:p>
        </p:txBody>
      </p:sp>
      <p:pic>
        <p:nvPicPr>
          <p:cNvPr descr="preencoded.png" id="387" name="Google Shape;387;p14"/>
          <p:cNvPicPr preferRelativeResize="0"/>
          <p:nvPr/>
        </p:nvPicPr>
        <p:blipFill rotWithShape="1">
          <a:blip r:embed="rId3">
            <a:alphaModFix/>
          </a:blip>
          <a:srcRect b="0" l="0" r="0" t="0"/>
          <a:stretch/>
        </p:blipFill>
        <p:spPr>
          <a:xfrm>
            <a:off x="1408487" y="2305371"/>
            <a:ext cx="362138" cy="276275"/>
          </a:xfrm>
          <a:prstGeom prst="rect">
            <a:avLst/>
          </a:prstGeom>
          <a:noFill/>
          <a:ln>
            <a:noFill/>
          </a:ln>
        </p:spPr>
      </p:pic>
      <p:pic>
        <p:nvPicPr>
          <p:cNvPr descr="preencoded.png" id="388" name="Google Shape;388;p14"/>
          <p:cNvPicPr preferRelativeResize="0"/>
          <p:nvPr/>
        </p:nvPicPr>
        <p:blipFill rotWithShape="1">
          <a:blip r:embed="rId4">
            <a:alphaModFix/>
          </a:blip>
          <a:srcRect b="0" l="0" r="0" t="0"/>
          <a:stretch/>
        </p:blipFill>
        <p:spPr>
          <a:xfrm>
            <a:off x="1435654" y="3473771"/>
            <a:ext cx="362138" cy="276275"/>
          </a:xfrm>
          <a:prstGeom prst="rect">
            <a:avLst/>
          </a:prstGeom>
          <a:noFill/>
          <a:ln>
            <a:noFill/>
          </a:ln>
        </p:spPr>
      </p:pic>
      <p:sp>
        <p:nvSpPr>
          <p:cNvPr id="389" name="Google Shape;389;p14"/>
          <p:cNvSpPr/>
          <p:nvPr/>
        </p:nvSpPr>
        <p:spPr>
          <a:xfrm>
            <a:off x="1057200" y="2266550"/>
            <a:ext cx="4572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84"/>
              <a:buFont typeface="Georgia"/>
              <a:buNone/>
            </a:pPr>
            <a:r>
              <a:rPr b="1" i="0" lang="en-US" sz="2100" u="none" cap="none" strike="noStrike">
                <a:solidFill>
                  <a:srgbClr val="FFFFFF"/>
                </a:solidFill>
                <a:latin typeface="Georgia"/>
                <a:ea typeface="Georgia"/>
                <a:cs typeface="Georgia"/>
                <a:sym typeface="Georgia"/>
              </a:rPr>
              <a:t>1</a:t>
            </a:r>
            <a:endParaRPr b="0" i="0" sz="2100" u="none" cap="none" strike="noStrike">
              <a:solidFill>
                <a:schemeClr val="dk1"/>
              </a:solidFill>
              <a:latin typeface="Calibri"/>
              <a:ea typeface="Calibri"/>
              <a:cs typeface="Calibri"/>
              <a:sym typeface="Calibri"/>
            </a:endParaRPr>
          </a:p>
        </p:txBody>
      </p:sp>
      <p:sp>
        <p:nvSpPr>
          <p:cNvPr id="390" name="Google Shape;390;p14"/>
          <p:cNvSpPr/>
          <p:nvPr/>
        </p:nvSpPr>
        <p:spPr>
          <a:xfrm>
            <a:off x="1019100" y="3434950"/>
            <a:ext cx="4572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84"/>
              <a:buFont typeface="Georgia"/>
              <a:buNone/>
            </a:pPr>
            <a:r>
              <a:rPr b="1" i="0" lang="en-US" sz="2100" u="none" cap="none" strike="noStrike">
                <a:solidFill>
                  <a:srgbClr val="FFFFFF"/>
                </a:solidFill>
                <a:latin typeface="Georgia"/>
                <a:ea typeface="Georgia"/>
                <a:cs typeface="Georgia"/>
                <a:sym typeface="Georgia"/>
              </a:rPr>
              <a:t>2</a:t>
            </a:r>
            <a:endParaRPr b="0" i="0" sz="2100" u="none" cap="none" strike="noStrike">
              <a:solidFill>
                <a:schemeClr val="dk1"/>
              </a:solidFill>
              <a:latin typeface="Calibri"/>
              <a:ea typeface="Calibri"/>
              <a:cs typeface="Calibri"/>
              <a:sym typeface="Calibri"/>
            </a:endParaRPr>
          </a:p>
        </p:txBody>
      </p:sp>
      <p:pic>
        <p:nvPicPr>
          <p:cNvPr descr="preencoded.png" id="391" name="Google Shape;391;p14"/>
          <p:cNvPicPr preferRelativeResize="0"/>
          <p:nvPr/>
        </p:nvPicPr>
        <p:blipFill rotWithShape="1">
          <a:blip r:embed="rId5">
            <a:alphaModFix/>
          </a:blip>
          <a:srcRect b="0" l="0" r="0" t="0"/>
          <a:stretch/>
        </p:blipFill>
        <p:spPr>
          <a:xfrm>
            <a:off x="1405150" y="4438075"/>
            <a:ext cx="362150" cy="27626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96" name="Shape 396"/>
        <p:cNvGrpSpPr/>
        <p:nvPr/>
      </p:nvGrpSpPr>
      <p:grpSpPr>
        <a:xfrm>
          <a:off x="0" y="0"/>
          <a:ext cx="0" cy="0"/>
          <a:chOff x="0" y="0"/>
          <a:chExt cx="0" cy="0"/>
        </a:xfrm>
      </p:grpSpPr>
      <p:sp>
        <p:nvSpPr>
          <p:cNvPr id="397" name="Google Shape;397;p15"/>
          <p:cNvSpPr/>
          <p:nvPr/>
        </p:nvSpPr>
        <p:spPr>
          <a:xfrm>
            <a:off x="640080" y="329837"/>
            <a:ext cx="10881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t/>
            </a:r>
            <a:endParaRPr b="1" i="0" sz="1800" u="none" cap="none" strike="noStrike">
              <a:solidFill>
                <a:schemeClr val="dk1"/>
              </a:solidFill>
              <a:latin typeface="Calibri"/>
              <a:ea typeface="Calibri"/>
              <a:cs typeface="Calibri"/>
              <a:sym typeface="Calibri"/>
            </a:endParaRPr>
          </a:p>
        </p:txBody>
      </p:sp>
      <p:sp>
        <p:nvSpPr>
          <p:cNvPr id="398" name="Google Shape;398;p15"/>
          <p:cNvSpPr/>
          <p:nvPr/>
        </p:nvSpPr>
        <p:spPr>
          <a:xfrm>
            <a:off x="640080" y="652800"/>
            <a:ext cx="111558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2400"/>
              <a:buFont typeface="Georgia"/>
              <a:buNone/>
            </a:pPr>
            <a:r>
              <a:rPr b="1" i="0" lang="en-US" sz="2600" u="none" cap="none" strike="noStrike">
                <a:solidFill>
                  <a:srgbClr val="1A2E4A"/>
                </a:solidFill>
                <a:latin typeface="Georgia"/>
                <a:ea typeface="Georgia"/>
                <a:cs typeface="Georgia"/>
                <a:sym typeface="Georgia"/>
              </a:rPr>
              <a:t xml:space="preserve">Project status </a:t>
            </a:r>
            <a:endParaRPr b="0" i="0" sz="2600" u="none" cap="none" strike="noStrike">
              <a:solidFill>
                <a:schemeClr val="dk1"/>
              </a:solidFill>
              <a:latin typeface="Calibri"/>
              <a:ea typeface="Calibri"/>
              <a:cs typeface="Calibri"/>
              <a:sym typeface="Calibri"/>
            </a:endParaRPr>
          </a:p>
        </p:txBody>
      </p:sp>
      <p:sp>
        <p:nvSpPr>
          <p:cNvPr id="399" name="Google Shape;399;p15"/>
          <p:cNvSpPr/>
          <p:nvPr/>
        </p:nvSpPr>
        <p:spPr>
          <a:xfrm>
            <a:off x="640075" y="2027341"/>
            <a:ext cx="3422100" cy="1346700"/>
          </a:xfrm>
          <a:prstGeom prst="rect">
            <a:avLst/>
          </a:prstGeom>
          <a:solidFill>
            <a:srgbClr val="FFFFFF"/>
          </a:solidFill>
          <a:ln cap="flat" cmpd="sng" w="12450">
            <a:solidFill>
              <a:srgbClr val="D6DEEA"/>
            </a:solidFill>
            <a:prstDash val="solid"/>
            <a:round/>
            <a:headEnd len="sm" w="sm" type="none"/>
            <a:tailEnd len="sm" w="sm" type="none"/>
          </a:ln>
          <a:effectLst>
            <a:outerShdw blurRad="62307" rotWithShape="0" algn="bl" dir="8100000" dist="24923">
              <a:srgbClr val="000000">
                <a:alpha val="10196"/>
              </a:srgbClr>
            </a:outerShdw>
          </a:effectLst>
        </p:spPr>
        <p:txBody>
          <a:bodyPr anchorCtr="0" anchor="ctr" bIns="89700" lIns="89700" spcFirstLastPara="1" rIns="89700" wrap="square" tIns="89700">
            <a:noAutofit/>
          </a:bodyPr>
          <a:lstStyle/>
          <a:p>
            <a:pPr indent="0" lvl="0" marL="0" marR="0" rtl="0" algn="l">
              <a:lnSpc>
                <a:spcPct val="100000"/>
              </a:lnSpc>
              <a:spcBef>
                <a:spcPts val="0"/>
              </a:spcBef>
              <a:spcAft>
                <a:spcPts val="0"/>
              </a:spcAft>
              <a:buClr>
                <a:schemeClr val="lt1"/>
              </a:buClr>
              <a:buSzPts val="1374"/>
              <a:buFont typeface="Calibri"/>
              <a:buNone/>
            </a:pPr>
            <a:r>
              <a:t/>
            </a:r>
            <a:endParaRPr b="0" i="0" sz="1962" u="none" cap="none" strike="noStrike">
              <a:solidFill>
                <a:schemeClr val="dk1"/>
              </a:solidFill>
              <a:latin typeface="Calibri"/>
              <a:ea typeface="Calibri"/>
              <a:cs typeface="Calibri"/>
              <a:sym typeface="Calibri"/>
            </a:endParaRPr>
          </a:p>
        </p:txBody>
      </p:sp>
      <p:sp>
        <p:nvSpPr>
          <p:cNvPr id="400" name="Google Shape;400;p15"/>
          <p:cNvSpPr/>
          <p:nvPr/>
        </p:nvSpPr>
        <p:spPr>
          <a:xfrm>
            <a:off x="929777" y="2201766"/>
            <a:ext cx="633900" cy="483900"/>
          </a:xfrm>
          <a:prstGeom prst="ellipse">
            <a:avLst/>
          </a:prstGeom>
          <a:solidFill>
            <a:srgbClr val="2A9DA6"/>
          </a:solidFill>
          <a:ln>
            <a:noFill/>
          </a:ln>
        </p:spPr>
        <p:txBody>
          <a:bodyPr anchorCtr="0" anchor="ctr" bIns="89700" lIns="89700" spcFirstLastPara="1" rIns="89700" wrap="square" tIns="89700">
            <a:noAutofit/>
          </a:bodyPr>
          <a:lstStyle/>
          <a:p>
            <a:pPr indent="0" lvl="0" marL="0" marR="0" rtl="0" algn="l">
              <a:lnSpc>
                <a:spcPct val="100000"/>
              </a:lnSpc>
              <a:spcBef>
                <a:spcPts val="0"/>
              </a:spcBef>
              <a:spcAft>
                <a:spcPts val="0"/>
              </a:spcAft>
              <a:buClr>
                <a:srgbClr val="000000"/>
              </a:buClr>
              <a:buSzPts val="1374"/>
              <a:buFont typeface="Arial"/>
              <a:buNone/>
            </a:pPr>
            <a:r>
              <a:t/>
            </a:r>
            <a:endParaRPr b="0" i="0" sz="1374" u="none" cap="none" strike="noStrike">
              <a:solidFill>
                <a:srgbClr val="000000"/>
              </a:solidFill>
              <a:latin typeface="Arial"/>
              <a:ea typeface="Arial"/>
              <a:cs typeface="Arial"/>
              <a:sym typeface="Arial"/>
            </a:endParaRPr>
          </a:p>
        </p:txBody>
      </p:sp>
      <p:pic>
        <p:nvPicPr>
          <p:cNvPr descr="preencoded.png" id="401" name="Google Shape;401;p15"/>
          <p:cNvPicPr preferRelativeResize="0"/>
          <p:nvPr/>
        </p:nvPicPr>
        <p:blipFill rotWithShape="1">
          <a:blip r:embed="rId3">
            <a:alphaModFix/>
          </a:blip>
          <a:srcRect b="0" l="0" r="0" t="0"/>
          <a:stretch/>
        </p:blipFill>
        <p:spPr>
          <a:xfrm>
            <a:off x="1065587" y="2305371"/>
            <a:ext cx="362138" cy="276275"/>
          </a:xfrm>
          <a:prstGeom prst="rect">
            <a:avLst/>
          </a:prstGeom>
          <a:noFill/>
          <a:ln>
            <a:noFill/>
          </a:ln>
        </p:spPr>
      </p:pic>
      <p:sp>
        <p:nvSpPr>
          <p:cNvPr id="402" name="Google Shape;402;p15"/>
          <p:cNvSpPr/>
          <p:nvPr/>
        </p:nvSpPr>
        <p:spPr>
          <a:xfrm>
            <a:off x="1335642" y="2702195"/>
            <a:ext cx="2516700" cy="56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1521"/>
              <a:buFont typeface="Georgia"/>
              <a:buNone/>
            </a:pPr>
            <a:r>
              <a:rPr b="1" i="0" lang="en-US" sz="1800" u="none" cap="none" strike="noStrike">
                <a:solidFill>
                  <a:srgbClr val="1A2E4A"/>
                </a:solidFill>
                <a:latin typeface="Georgia"/>
                <a:ea typeface="Georgia"/>
                <a:cs typeface="Georgia"/>
                <a:sym typeface="Georgia"/>
              </a:rPr>
              <a:t>AI-assisted rules layer  generation</a:t>
            </a:r>
            <a:endParaRPr b="0" i="0" sz="1800" u="none" cap="none" strike="noStrike">
              <a:solidFill>
                <a:schemeClr val="dk1"/>
              </a:solidFill>
              <a:latin typeface="Calibri"/>
              <a:ea typeface="Calibri"/>
              <a:cs typeface="Calibri"/>
              <a:sym typeface="Calibri"/>
            </a:endParaRPr>
          </a:p>
        </p:txBody>
      </p:sp>
      <p:sp>
        <p:nvSpPr>
          <p:cNvPr id="403" name="Google Shape;403;p15"/>
          <p:cNvSpPr/>
          <p:nvPr/>
        </p:nvSpPr>
        <p:spPr>
          <a:xfrm>
            <a:off x="4350242" y="2008375"/>
            <a:ext cx="3422100" cy="1346700"/>
          </a:xfrm>
          <a:prstGeom prst="rect">
            <a:avLst/>
          </a:prstGeom>
          <a:solidFill>
            <a:srgbClr val="FFFFFF"/>
          </a:solidFill>
          <a:ln cap="flat" cmpd="sng" w="12450">
            <a:solidFill>
              <a:srgbClr val="D6DEEA"/>
            </a:solidFill>
            <a:prstDash val="solid"/>
            <a:round/>
            <a:headEnd len="sm" w="sm" type="none"/>
            <a:tailEnd len="sm" w="sm" type="none"/>
          </a:ln>
          <a:effectLst>
            <a:outerShdw blurRad="62307" rotWithShape="0" algn="bl" dir="8100000" dist="24923">
              <a:srgbClr val="000000">
                <a:alpha val="10196"/>
              </a:srgbClr>
            </a:outerShdw>
          </a:effectLst>
        </p:spPr>
        <p:txBody>
          <a:bodyPr anchorCtr="0" anchor="ctr" bIns="89700" lIns="89700" spcFirstLastPara="1" rIns="89700" wrap="square" tIns="89700">
            <a:noAutofit/>
          </a:bodyPr>
          <a:lstStyle/>
          <a:p>
            <a:pPr indent="0" lvl="0" marL="0" marR="0" rtl="0" algn="l">
              <a:lnSpc>
                <a:spcPct val="100000"/>
              </a:lnSpc>
              <a:spcBef>
                <a:spcPts val="0"/>
              </a:spcBef>
              <a:spcAft>
                <a:spcPts val="0"/>
              </a:spcAft>
              <a:buClr>
                <a:srgbClr val="000000"/>
              </a:buClr>
              <a:buSzPts val="1374"/>
              <a:buFont typeface="Arial"/>
              <a:buNone/>
            </a:pPr>
            <a:r>
              <a:t/>
            </a:r>
            <a:endParaRPr b="1" i="0" sz="1374" u="none" cap="none" strike="noStrike">
              <a:solidFill>
                <a:srgbClr val="000000"/>
              </a:solidFill>
              <a:latin typeface="Arial"/>
              <a:ea typeface="Arial"/>
              <a:cs typeface="Arial"/>
              <a:sym typeface="Arial"/>
            </a:endParaRPr>
          </a:p>
        </p:txBody>
      </p:sp>
      <p:sp>
        <p:nvSpPr>
          <p:cNvPr id="404" name="Google Shape;404;p15"/>
          <p:cNvSpPr/>
          <p:nvPr/>
        </p:nvSpPr>
        <p:spPr>
          <a:xfrm>
            <a:off x="4639952" y="2201767"/>
            <a:ext cx="633900" cy="483900"/>
          </a:xfrm>
          <a:prstGeom prst="ellipse">
            <a:avLst/>
          </a:prstGeom>
          <a:solidFill>
            <a:srgbClr val="2A9DA6"/>
          </a:solidFill>
          <a:ln>
            <a:noFill/>
          </a:ln>
        </p:spPr>
        <p:txBody>
          <a:bodyPr anchorCtr="0" anchor="ctr" bIns="89700" lIns="89700" spcFirstLastPara="1" rIns="89700" wrap="square" tIns="89700">
            <a:noAutofit/>
          </a:bodyPr>
          <a:lstStyle/>
          <a:p>
            <a:pPr indent="0" lvl="0" marL="0" marR="0" rtl="0" algn="l">
              <a:lnSpc>
                <a:spcPct val="100000"/>
              </a:lnSpc>
              <a:spcBef>
                <a:spcPts val="0"/>
              </a:spcBef>
              <a:spcAft>
                <a:spcPts val="0"/>
              </a:spcAft>
              <a:buClr>
                <a:srgbClr val="000000"/>
              </a:buClr>
              <a:buSzPts val="1374"/>
              <a:buFont typeface="Arial"/>
              <a:buNone/>
            </a:pPr>
            <a:r>
              <a:t/>
            </a:r>
            <a:endParaRPr b="0" i="0" sz="1374" u="none" cap="none" strike="noStrike">
              <a:solidFill>
                <a:srgbClr val="000000"/>
              </a:solidFill>
              <a:latin typeface="Arial"/>
              <a:ea typeface="Arial"/>
              <a:cs typeface="Arial"/>
              <a:sym typeface="Arial"/>
            </a:endParaRPr>
          </a:p>
        </p:txBody>
      </p:sp>
      <p:pic>
        <p:nvPicPr>
          <p:cNvPr descr="preencoded.png" id="405" name="Google Shape;405;p15"/>
          <p:cNvPicPr preferRelativeResize="0"/>
          <p:nvPr/>
        </p:nvPicPr>
        <p:blipFill rotWithShape="1">
          <a:blip r:embed="rId4">
            <a:alphaModFix/>
          </a:blip>
          <a:srcRect b="0" l="0" r="0" t="0"/>
          <a:stretch/>
        </p:blipFill>
        <p:spPr>
          <a:xfrm>
            <a:off x="4775754" y="2305371"/>
            <a:ext cx="362138" cy="276275"/>
          </a:xfrm>
          <a:prstGeom prst="rect">
            <a:avLst/>
          </a:prstGeom>
          <a:noFill/>
          <a:ln>
            <a:noFill/>
          </a:ln>
        </p:spPr>
      </p:pic>
      <p:sp>
        <p:nvSpPr>
          <p:cNvPr id="406" name="Google Shape;406;p15"/>
          <p:cNvSpPr/>
          <p:nvPr/>
        </p:nvSpPr>
        <p:spPr>
          <a:xfrm>
            <a:off x="5137887" y="2736891"/>
            <a:ext cx="2378400" cy="48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1521"/>
              <a:buFont typeface="Georgia"/>
              <a:buNone/>
            </a:pPr>
            <a:r>
              <a:rPr b="1" i="0" lang="en-US" sz="1800" u="none" cap="none" strike="noStrike">
                <a:solidFill>
                  <a:srgbClr val="1A2E4A"/>
                </a:solidFill>
                <a:latin typeface="Georgia"/>
                <a:ea typeface="Georgia"/>
                <a:cs typeface="Georgia"/>
                <a:sym typeface="Georgia"/>
              </a:rPr>
              <a:t xml:space="preserve">Incremental &amp; Transparent </a:t>
            </a:r>
            <a:endParaRPr b="0" i="0" sz="1800" u="none" cap="none" strike="noStrike">
              <a:solidFill>
                <a:schemeClr val="dk1"/>
              </a:solidFill>
              <a:latin typeface="Calibri"/>
              <a:ea typeface="Calibri"/>
              <a:cs typeface="Calibri"/>
              <a:sym typeface="Calibri"/>
            </a:endParaRPr>
          </a:p>
        </p:txBody>
      </p:sp>
      <p:sp>
        <p:nvSpPr>
          <p:cNvPr id="407" name="Google Shape;407;p15"/>
          <p:cNvSpPr/>
          <p:nvPr/>
        </p:nvSpPr>
        <p:spPr>
          <a:xfrm>
            <a:off x="652775" y="4552938"/>
            <a:ext cx="2541900" cy="11097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8" name="Google Shape;408;p15"/>
          <p:cNvSpPr/>
          <p:nvPr/>
        </p:nvSpPr>
        <p:spPr>
          <a:xfrm>
            <a:off x="789935" y="4726614"/>
            <a:ext cx="2267700" cy="38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600" u="none" cap="none" strike="noStrike">
                <a:solidFill>
                  <a:srgbClr val="FFFFFF"/>
                </a:solidFill>
                <a:latin typeface="Calibri"/>
                <a:ea typeface="Calibri"/>
                <a:cs typeface="Calibri"/>
                <a:sym typeface="Calibri"/>
              </a:rPr>
              <a:t>EVICTION</a:t>
            </a:r>
            <a:endParaRPr b="0" i="0" sz="1600" u="none" cap="none" strike="noStrike">
              <a:solidFill>
                <a:schemeClr val="dk1"/>
              </a:solidFill>
              <a:latin typeface="Calibri"/>
              <a:ea typeface="Calibri"/>
              <a:cs typeface="Calibri"/>
              <a:sym typeface="Calibri"/>
            </a:endParaRPr>
          </a:p>
        </p:txBody>
      </p:sp>
      <p:sp>
        <p:nvSpPr>
          <p:cNvPr id="409" name="Google Shape;409;p15"/>
          <p:cNvSpPr/>
          <p:nvPr/>
        </p:nvSpPr>
        <p:spPr>
          <a:xfrm>
            <a:off x="789935" y="5131859"/>
            <a:ext cx="2267700" cy="434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Calibri"/>
              <a:buNone/>
            </a:pPr>
            <a:r>
              <a:rPr b="0" i="1" lang="en-US" sz="1600" u="none" cap="none" strike="noStrike">
                <a:solidFill>
                  <a:srgbClr val="FFFFFF"/>
                </a:solidFill>
                <a:latin typeface="Calibri"/>
                <a:ea typeface="Calibri"/>
                <a:cs typeface="Calibri"/>
                <a:sym typeface="Calibri"/>
              </a:rPr>
              <a:t>now — prove the method</a:t>
            </a:r>
            <a:endParaRPr b="0" i="0" sz="1600" u="none" cap="none" strike="noStrike">
              <a:solidFill>
                <a:schemeClr val="dk1"/>
              </a:solidFill>
              <a:latin typeface="Calibri"/>
              <a:ea typeface="Calibri"/>
              <a:cs typeface="Calibri"/>
              <a:sym typeface="Calibri"/>
            </a:endParaRPr>
          </a:p>
        </p:txBody>
      </p:sp>
      <p:sp>
        <p:nvSpPr>
          <p:cNvPr id="410" name="Google Shape;410;p15"/>
          <p:cNvSpPr/>
          <p:nvPr/>
        </p:nvSpPr>
        <p:spPr>
          <a:xfrm>
            <a:off x="3176516" y="4552938"/>
            <a:ext cx="283500" cy="1109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98AB"/>
              </a:buClr>
              <a:buSzPts val="1600"/>
              <a:buFont typeface="Calibri"/>
              <a:buNone/>
            </a:pPr>
            <a:r>
              <a:rPr b="1" i="0" lang="en-US" sz="1600" u="none" cap="none" strike="noStrike">
                <a:solidFill>
                  <a:srgbClr val="8A98AB"/>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11" name="Google Shape;411;p15"/>
          <p:cNvSpPr/>
          <p:nvPr/>
        </p:nvSpPr>
        <p:spPr>
          <a:xfrm>
            <a:off x="3441692" y="4552938"/>
            <a:ext cx="2541900" cy="1109700"/>
          </a:xfrm>
          <a:prstGeom prst="rect">
            <a:avLst/>
          </a:prstGeom>
          <a:solidFill>
            <a:srgbClr val="1A6B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12" name="Google Shape;412;p15"/>
          <p:cNvSpPr/>
          <p:nvPr/>
        </p:nvSpPr>
        <p:spPr>
          <a:xfrm>
            <a:off x="3578852" y="4726614"/>
            <a:ext cx="2267700" cy="38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600" u="none" cap="none" strike="noStrike">
                <a:solidFill>
                  <a:srgbClr val="FFFFFF"/>
                </a:solidFill>
                <a:latin typeface="Calibri"/>
                <a:ea typeface="Calibri"/>
                <a:cs typeface="Calibri"/>
                <a:sym typeface="Calibri"/>
              </a:rPr>
              <a:t>BENEFITS &amp; DEBT</a:t>
            </a:r>
            <a:endParaRPr b="0" i="0" sz="1600" u="none" cap="none" strike="noStrike">
              <a:solidFill>
                <a:schemeClr val="dk1"/>
              </a:solidFill>
              <a:latin typeface="Calibri"/>
              <a:ea typeface="Calibri"/>
              <a:cs typeface="Calibri"/>
              <a:sym typeface="Calibri"/>
            </a:endParaRPr>
          </a:p>
        </p:txBody>
      </p:sp>
      <p:sp>
        <p:nvSpPr>
          <p:cNvPr id="413" name="Google Shape;413;p15"/>
          <p:cNvSpPr/>
          <p:nvPr/>
        </p:nvSpPr>
        <p:spPr>
          <a:xfrm>
            <a:off x="3578852" y="5131859"/>
            <a:ext cx="2267700" cy="434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Calibri"/>
              <a:buNone/>
            </a:pPr>
            <a:r>
              <a:rPr b="0" i="1" lang="en-US" sz="1600" u="none" cap="none" strike="noStrike">
                <a:solidFill>
                  <a:srgbClr val="FFFFFF"/>
                </a:solidFill>
                <a:latin typeface="Calibri"/>
                <a:ea typeface="Calibri"/>
                <a:cs typeface="Calibri"/>
                <a:sym typeface="Calibri"/>
              </a:rPr>
              <a:t>next — high-volume, bright-line</a:t>
            </a:r>
            <a:endParaRPr b="0" i="0" sz="1600" u="none" cap="none" strike="noStrike">
              <a:solidFill>
                <a:schemeClr val="dk1"/>
              </a:solidFill>
              <a:latin typeface="Calibri"/>
              <a:ea typeface="Calibri"/>
              <a:cs typeface="Calibri"/>
              <a:sym typeface="Calibri"/>
            </a:endParaRPr>
          </a:p>
        </p:txBody>
      </p:sp>
      <p:sp>
        <p:nvSpPr>
          <p:cNvPr id="414" name="Google Shape;414;p15"/>
          <p:cNvSpPr/>
          <p:nvPr/>
        </p:nvSpPr>
        <p:spPr>
          <a:xfrm>
            <a:off x="5965433" y="4552938"/>
            <a:ext cx="283500" cy="1109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98AB"/>
              </a:buClr>
              <a:buSzPts val="1600"/>
              <a:buFont typeface="Calibri"/>
              <a:buNone/>
            </a:pPr>
            <a:r>
              <a:rPr b="1" i="0" lang="en-US" sz="1600" u="none" cap="none" strike="noStrike">
                <a:solidFill>
                  <a:srgbClr val="8A98AB"/>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15" name="Google Shape;415;p15"/>
          <p:cNvSpPr/>
          <p:nvPr/>
        </p:nvSpPr>
        <p:spPr>
          <a:xfrm>
            <a:off x="6230608" y="4552938"/>
            <a:ext cx="2541900" cy="1109700"/>
          </a:xfrm>
          <a:prstGeom prst="rect">
            <a:avLst/>
          </a:prstGeom>
          <a:solidFill>
            <a:srgbClr val="223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16" name="Google Shape;416;p15"/>
          <p:cNvSpPr/>
          <p:nvPr/>
        </p:nvSpPr>
        <p:spPr>
          <a:xfrm>
            <a:off x="6367768" y="4726614"/>
            <a:ext cx="2267700" cy="38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600" u="none" cap="none" strike="noStrike">
                <a:solidFill>
                  <a:srgbClr val="FFFFFF"/>
                </a:solidFill>
                <a:latin typeface="Calibri"/>
                <a:ea typeface="Calibri"/>
                <a:cs typeface="Calibri"/>
                <a:sym typeface="Calibri"/>
              </a:rPr>
              <a:t>RECORD SEALING</a:t>
            </a:r>
            <a:endParaRPr b="0" i="0" sz="1600" u="none" cap="none" strike="noStrike">
              <a:solidFill>
                <a:schemeClr val="dk1"/>
              </a:solidFill>
              <a:latin typeface="Calibri"/>
              <a:ea typeface="Calibri"/>
              <a:cs typeface="Calibri"/>
              <a:sym typeface="Calibri"/>
            </a:endParaRPr>
          </a:p>
        </p:txBody>
      </p:sp>
      <p:sp>
        <p:nvSpPr>
          <p:cNvPr id="417" name="Google Shape;417;p15"/>
          <p:cNvSpPr/>
          <p:nvPr/>
        </p:nvSpPr>
        <p:spPr>
          <a:xfrm>
            <a:off x="6367768" y="5131859"/>
            <a:ext cx="2267700" cy="434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Calibri"/>
              <a:buNone/>
            </a:pPr>
            <a:r>
              <a:rPr b="0" i="1" lang="en-US" sz="1600" u="none" cap="none" strike="noStrike">
                <a:solidFill>
                  <a:srgbClr val="FFFFFF"/>
                </a:solidFill>
                <a:latin typeface="Calibri"/>
                <a:ea typeface="Calibri"/>
                <a:cs typeface="Calibri"/>
                <a:sym typeface="Calibri"/>
              </a:rPr>
              <a:t>once we have a track record</a:t>
            </a:r>
            <a:endParaRPr b="0" i="0" sz="1600" u="none" cap="none" strike="noStrike">
              <a:solidFill>
                <a:schemeClr val="dk1"/>
              </a:solidFill>
              <a:latin typeface="Calibri"/>
              <a:ea typeface="Calibri"/>
              <a:cs typeface="Calibri"/>
              <a:sym typeface="Calibri"/>
            </a:endParaRPr>
          </a:p>
        </p:txBody>
      </p:sp>
      <p:sp>
        <p:nvSpPr>
          <p:cNvPr id="418" name="Google Shape;418;p15"/>
          <p:cNvSpPr/>
          <p:nvPr/>
        </p:nvSpPr>
        <p:spPr>
          <a:xfrm>
            <a:off x="8754349" y="4552938"/>
            <a:ext cx="283500" cy="1109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98AB"/>
              </a:buClr>
              <a:buSzPts val="1600"/>
              <a:buFont typeface="Calibri"/>
              <a:buNone/>
            </a:pPr>
            <a:r>
              <a:rPr b="1" i="0" lang="en-US" sz="1600" u="none" cap="none" strike="noStrike">
                <a:solidFill>
                  <a:srgbClr val="8A98AB"/>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19" name="Google Shape;419;p15"/>
          <p:cNvSpPr/>
          <p:nvPr/>
        </p:nvSpPr>
        <p:spPr>
          <a:xfrm>
            <a:off x="9019525" y="4552938"/>
            <a:ext cx="2541900" cy="1109700"/>
          </a:xfrm>
          <a:prstGeom prst="rect">
            <a:avLst/>
          </a:prstGeom>
          <a:solidFill>
            <a:srgbClr val="4A55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20" name="Google Shape;420;p15"/>
          <p:cNvSpPr/>
          <p:nvPr/>
        </p:nvSpPr>
        <p:spPr>
          <a:xfrm>
            <a:off x="9156685" y="4726614"/>
            <a:ext cx="2267700" cy="38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600" u="none" cap="none" strike="noStrike">
                <a:solidFill>
                  <a:srgbClr val="FFFFFF"/>
                </a:solidFill>
                <a:latin typeface="Calibri"/>
                <a:ea typeface="Calibri"/>
                <a:cs typeface="Calibri"/>
                <a:sym typeface="Calibri"/>
              </a:rPr>
              <a:t>DV &amp; IMMIGRATION</a:t>
            </a:r>
            <a:endParaRPr b="0" i="0" sz="1600" u="none" cap="none" strike="noStrike">
              <a:solidFill>
                <a:schemeClr val="dk1"/>
              </a:solidFill>
              <a:latin typeface="Calibri"/>
              <a:ea typeface="Calibri"/>
              <a:cs typeface="Calibri"/>
              <a:sym typeface="Calibri"/>
            </a:endParaRPr>
          </a:p>
        </p:txBody>
      </p:sp>
      <p:sp>
        <p:nvSpPr>
          <p:cNvPr id="421" name="Google Shape;421;p15"/>
          <p:cNvSpPr/>
          <p:nvPr/>
        </p:nvSpPr>
        <p:spPr>
          <a:xfrm>
            <a:off x="9156685" y="5131859"/>
            <a:ext cx="2267700" cy="434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Calibri"/>
              <a:buNone/>
            </a:pPr>
            <a:r>
              <a:rPr b="0" i="1" lang="en-US" sz="1600" u="none" cap="none" strike="noStrike">
                <a:solidFill>
                  <a:srgbClr val="FFFFFF"/>
                </a:solidFill>
                <a:latin typeface="Calibri"/>
                <a:ea typeface="Calibri"/>
                <a:cs typeface="Calibri"/>
                <a:sym typeface="Calibri"/>
              </a:rPr>
              <a:t>last — highest-stakes, most judgment</a:t>
            </a:r>
            <a:endParaRPr b="0" i="0" sz="1600" u="none" cap="none" strike="noStrike">
              <a:solidFill>
                <a:schemeClr val="dk1"/>
              </a:solidFill>
              <a:latin typeface="Calibri"/>
              <a:ea typeface="Calibri"/>
              <a:cs typeface="Calibri"/>
              <a:sym typeface="Calibri"/>
            </a:endParaRPr>
          </a:p>
        </p:txBody>
      </p:sp>
      <p:sp>
        <p:nvSpPr>
          <p:cNvPr id="422" name="Google Shape;422;p15"/>
          <p:cNvSpPr/>
          <p:nvPr/>
        </p:nvSpPr>
        <p:spPr>
          <a:xfrm>
            <a:off x="640080" y="6069018"/>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8AB"/>
              </a:buClr>
              <a:buSzPts val="1100"/>
              <a:buFont typeface="Calibri"/>
              <a:buNone/>
            </a:pPr>
            <a:r>
              <a:rPr b="1" i="0" lang="en-US" sz="1800" u="none" cap="none" strike="noStrike">
                <a:solidFill>
                  <a:srgbClr val="8A98AB"/>
                </a:solidFill>
                <a:latin typeface="Calibri"/>
                <a:ea typeface="Calibri"/>
                <a:cs typeface="Calibri"/>
                <a:sym typeface="Calibri"/>
              </a:rPr>
              <a:t>PROJECT</a:t>
            </a:r>
            <a:endParaRPr b="0" i="0" sz="1800" u="none" cap="none" strike="noStrike">
              <a:solidFill>
                <a:schemeClr val="dk1"/>
              </a:solidFill>
              <a:latin typeface="Calibri"/>
              <a:ea typeface="Calibri"/>
              <a:cs typeface="Calibri"/>
              <a:sym typeface="Calibri"/>
            </a:endParaRPr>
          </a:p>
        </p:txBody>
      </p:sp>
      <p:sp>
        <p:nvSpPr>
          <p:cNvPr id="423" name="Google Shape;423;p15"/>
          <p:cNvSpPr/>
          <p:nvPr/>
        </p:nvSpPr>
        <p:spPr>
          <a:xfrm>
            <a:off x="11521440" y="6446520"/>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13</a:t>
            </a:r>
            <a:endParaRPr b="0" i="0" sz="1100" u="none" cap="none" strike="noStrike">
              <a:solidFill>
                <a:schemeClr val="dk1"/>
              </a:solidFill>
              <a:latin typeface="Calibri"/>
              <a:ea typeface="Calibri"/>
              <a:cs typeface="Calibri"/>
              <a:sym typeface="Calibri"/>
            </a:endParaRPr>
          </a:p>
        </p:txBody>
      </p:sp>
      <p:sp>
        <p:nvSpPr>
          <p:cNvPr id="424" name="Google Shape;424;p15"/>
          <p:cNvSpPr/>
          <p:nvPr/>
        </p:nvSpPr>
        <p:spPr>
          <a:xfrm>
            <a:off x="640080" y="6533804"/>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
        <p:nvSpPr>
          <p:cNvPr id="425" name="Google Shape;425;p15"/>
          <p:cNvSpPr/>
          <p:nvPr/>
        </p:nvSpPr>
        <p:spPr>
          <a:xfrm>
            <a:off x="670097" y="285425"/>
            <a:ext cx="107835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 xml:space="preserve">CIVIL JUSTICE AS CODE </a:t>
            </a:r>
            <a:endParaRPr b="0" i="0" sz="1800" u="none" cap="none" strike="noStrike">
              <a:solidFill>
                <a:schemeClr val="dk1"/>
              </a:solidFill>
              <a:latin typeface="Calibri"/>
              <a:ea typeface="Calibri"/>
              <a:cs typeface="Calibri"/>
              <a:sym typeface="Calibri"/>
            </a:endParaRPr>
          </a:p>
        </p:txBody>
      </p:sp>
      <p:sp>
        <p:nvSpPr>
          <p:cNvPr id="426" name="Google Shape;426;p15"/>
          <p:cNvSpPr/>
          <p:nvPr/>
        </p:nvSpPr>
        <p:spPr>
          <a:xfrm>
            <a:off x="8099171" y="2008375"/>
            <a:ext cx="3422100" cy="1346700"/>
          </a:xfrm>
          <a:prstGeom prst="rect">
            <a:avLst/>
          </a:prstGeom>
          <a:solidFill>
            <a:srgbClr val="FFFFFF"/>
          </a:solidFill>
          <a:ln cap="flat" cmpd="sng" w="12450">
            <a:solidFill>
              <a:srgbClr val="D6DEEA"/>
            </a:solidFill>
            <a:prstDash val="solid"/>
            <a:round/>
            <a:headEnd len="sm" w="sm" type="none"/>
            <a:tailEnd len="sm" w="sm" type="none"/>
          </a:ln>
          <a:effectLst>
            <a:outerShdw blurRad="62307" rotWithShape="0" algn="bl" dir="8100000" dist="24923">
              <a:srgbClr val="000000">
                <a:alpha val="10196"/>
              </a:srgbClr>
            </a:outerShdw>
          </a:effectLst>
        </p:spPr>
        <p:txBody>
          <a:bodyPr anchorCtr="0" anchor="ctr" bIns="89700" lIns="89700" spcFirstLastPara="1" rIns="89700" wrap="square" tIns="89700">
            <a:noAutofit/>
          </a:bodyPr>
          <a:lstStyle/>
          <a:p>
            <a:pPr indent="0" lvl="0" marL="0" marR="0" rtl="0" algn="l">
              <a:lnSpc>
                <a:spcPct val="100000"/>
              </a:lnSpc>
              <a:spcBef>
                <a:spcPts val="0"/>
              </a:spcBef>
              <a:spcAft>
                <a:spcPts val="0"/>
              </a:spcAft>
              <a:buClr>
                <a:srgbClr val="000000"/>
              </a:buClr>
              <a:buSzPts val="1374"/>
              <a:buFont typeface="Arial"/>
              <a:buNone/>
            </a:pPr>
            <a:r>
              <a:t/>
            </a:r>
            <a:endParaRPr b="0" i="0" sz="1374" u="none" cap="none" strike="noStrike">
              <a:solidFill>
                <a:srgbClr val="000000"/>
              </a:solidFill>
              <a:latin typeface="Arial"/>
              <a:ea typeface="Arial"/>
              <a:cs typeface="Arial"/>
              <a:sym typeface="Arial"/>
            </a:endParaRPr>
          </a:p>
        </p:txBody>
      </p:sp>
      <p:sp>
        <p:nvSpPr>
          <p:cNvPr id="427" name="Google Shape;427;p15"/>
          <p:cNvSpPr/>
          <p:nvPr/>
        </p:nvSpPr>
        <p:spPr>
          <a:xfrm>
            <a:off x="8388882" y="2201767"/>
            <a:ext cx="633900" cy="483900"/>
          </a:xfrm>
          <a:prstGeom prst="ellipse">
            <a:avLst/>
          </a:prstGeom>
          <a:solidFill>
            <a:srgbClr val="2A9DA6"/>
          </a:solidFill>
          <a:ln>
            <a:noFill/>
          </a:ln>
        </p:spPr>
        <p:txBody>
          <a:bodyPr anchorCtr="0" anchor="ctr" bIns="89700" lIns="89700" spcFirstLastPara="1" rIns="89700" wrap="square" tIns="89700">
            <a:noAutofit/>
          </a:bodyPr>
          <a:lstStyle/>
          <a:p>
            <a:pPr indent="0" lvl="0" marL="0" marR="0" rtl="0" algn="l">
              <a:lnSpc>
                <a:spcPct val="100000"/>
              </a:lnSpc>
              <a:spcBef>
                <a:spcPts val="0"/>
              </a:spcBef>
              <a:spcAft>
                <a:spcPts val="0"/>
              </a:spcAft>
              <a:buClr>
                <a:srgbClr val="000000"/>
              </a:buClr>
              <a:buSzPts val="1374"/>
              <a:buFont typeface="Arial"/>
              <a:buNone/>
            </a:pPr>
            <a:r>
              <a:t/>
            </a:r>
            <a:endParaRPr b="0" i="0" sz="1374" u="none" cap="none" strike="noStrike">
              <a:solidFill>
                <a:srgbClr val="000000"/>
              </a:solidFill>
              <a:latin typeface="Arial"/>
              <a:ea typeface="Arial"/>
              <a:cs typeface="Arial"/>
              <a:sym typeface="Arial"/>
            </a:endParaRPr>
          </a:p>
        </p:txBody>
      </p:sp>
      <p:pic>
        <p:nvPicPr>
          <p:cNvPr descr="preencoded.png" id="428" name="Google Shape;428;p15"/>
          <p:cNvPicPr preferRelativeResize="0"/>
          <p:nvPr/>
        </p:nvPicPr>
        <p:blipFill rotWithShape="1">
          <a:blip r:embed="rId5">
            <a:alphaModFix/>
          </a:blip>
          <a:srcRect b="0" l="0" r="0" t="0"/>
          <a:stretch/>
        </p:blipFill>
        <p:spPr>
          <a:xfrm>
            <a:off x="8524682" y="2305371"/>
            <a:ext cx="362138" cy="276275"/>
          </a:xfrm>
          <a:prstGeom prst="rect">
            <a:avLst/>
          </a:prstGeom>
          <a:noFill/>
          <a:ln>
            <a:noFill/>
          </a:ln>
        </p:spPr>
      </p:pic>
      <p:sp>
        <p:nvSpPr>
          <p:cNvPr id="429" name="Google Shape;429;p15"/>
          <p:cNvSpPr/>
          <p:nvPr/>
        </p:nvSpPr>
        <p:spPr>
          <a:xfrm>
            <a:off x="9082598" y="2789526"/>
            <a:ext cx="2152500" cy="40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A"/>
              </a:buClr>
              <a:buSzPts val="1550"/>
              <a:buFont typeface="Georgia"/>
              <a:buNone/>
            </a:pPr>
            <a:r>
              <a:rPr b="1" i="0" lang="en-US" sz="1800" u="none" cap="none" strike="noStrike">
                <a:solidFill>
                  <a:srgbClr val="1A2E4A"/>
                </a:solidFill>
                <a:latin typeface="Georgia"/>
                <a:ea typeface="Georgia"/>
                <a:cs typeface="Georgia"/>
                <a:sym typeface="Georgia"/>
              </a:rPr>
              <a:t>Layered validation</a:t>
            </a:r>
            <a:endParaRPr b="0" i="0" sz="1800" u="none" cap="none" strike="noStrike">
              <a:solidFill>
                <a:schemeClr val="dk1"/>
              </a:solidFill>
              <a:latin typeface="Calibri"/>
              <a:ea typeface="Calibri"/>
              <a:cs typeface="Calibri"/>
              <a:sym typeface="Calibri"/>
            </a:endParaRPr>
          </a:p>
        </p:txBody>
      </p:sp>
      <p:sp>
        <p:nvSpPr>
          <p:cNvPr id="430" name="Google Shape;430;p15"/>
          <p:cNvSpPr txBox="1"/>
          <p:nvPr/>
        </p:nvSpPr>
        <p:spPr>
          <a:xfrm>
            <a:off x="2148437" y="2216964"/>
            <a:ext cx="452700" cy="381900"/>
          </a:xfrm>
          <a:prstGeom prst="rect">
            <a:avLst/>
          </a:prstGeom>
          <a:noFill/>
          <a:ln>
            <a:noFill/>
          </a:ln>
        </p:spPr>
        <p:txBody>
          <a:bodyPr anchorCtr="0" anchor="t" bIns="89700" lIns="89700" spcFirstLastPara="1" rIns="89700" wrap="square" tIns="89700">
            <a:noAutofit/>
          </a:bodyPr>
          <a:lstStyle/>
          <a:p>
            <a:pPr indent="0" lvl="0" marL="0" marR="0" rtl="0" algn="l">
              <a:lnSpc>
                <a:spcPct val="115000"/>
              </a:lnSpc>
              <a:spcBef>
                <a:spcPts val="0"/>
              </a:spcBef>
              <a:spcAft>
                <a:spcPts val="0"/>
              </a:spcAft>
              <a:buClr>
                <a:schemeClr val="dk1"/>
              </a:buClr>
              <a:buSzPts val="1100"/>
              <a:buFont typeface="Arial"/>
              <a:buNone/>
            </a:pPr>
            <a:r>
              <a:rPr b="1" i="0" lang="en-US" sz="1766" u="none" cap="none" strike="noStrike">
                <a:solidFill>
                  <a:schemeClr val="dk1"/>
                </a:solidFill>
                <a:latin typeface="Arial"/>
                <a:ea typeface="Arial"/>
                <a:cs typeface="Arial"/>
                <a:sym typeface="Arial"/>
              </a:rPr>
              <a:t>1</a:t>
            </a:r>
            <a:endParaRPr b="0" i="0" sz="1766" u="none" cap="none" strike="noStrike">
              <a:solidFill>
                <a:srgbClr val="000000"/>
              </a:solidFill>
              <a:latin typeface="Arial"/>
              <a:ea typeface="Arial"/>
              <a:cs typeface="Arial"/>
              <a:sym typeface="Arial"/>
            </a:endParaRPr>
          </a:p>
        </p:txBody>
      </p:sp>
      <p:sp>
        <p:nvSpPr>
          <p:cNvPr id="431" name="Google Shape;431;p15"/>
          <p:cNvSpPr txBox="1"/>
          <p:nvPr/>
        </p:nvSpPr>
        <p:spPr>
          <a:xfrm>
            <a:off x="5967183" y="2227150"/>
            <a:ext cx="452700" cy="381900"/>
          </a:xfrm>
          <a:prstGeom prst="rect">
            <a:avLst/>
          </a:prstGeom>
          <a:noFill/>
          <a:ln>
            <a:noFill/>
          </a:ln>
        </p:spPr>
        <p:txBody>
          <a:bodyPr anchorCtr="0" anchor="t" bIns="89700" lIns="89700" spcFirstLastPara="1" rIns="89700" wrap="square" tIns="89700">
            <a:noAutofit/>
          </a:bodyPr>
          <a:lstStyle/>
          <a:p>
            <a:pPr indent="0" lvl="0" marL="0" marR="0" rtl="0" algn="l">
              <a:lnSpc>
                <a:spcPct val="115000"/>
              </a:lnSpc>
              <a:spcBef>
                <a:spcPts val="0"/>
              </a:spcBef>
              <a:spcAft>
                <a:spcPts val="0"/>
              </a:spcAft>
              <a:buClr>
                <a:srgbClr val="000000"/>
              </a:buClr>
              <a:buSzPts val="1766"/>
              <a:buFont typeface="Arial"/>
              <a:buNone/>
            </a:pPr>
            <a:r>
              <a:rPr b="1" i="0" lang="en-US" sz="1766" u="none" cap="none" strike="noStrike">
                <a:solidFill>
                  <a:schemeClr val="dk1"/>
                </a:solidFill>
                <a:latin typeface="Arial"/>
                <a:ea typeface="Arial"/>
                <a:cs typeface="Arial"/>
                <a:sym typeface="Arial"/>
              </a:rPr>
              <a:t>2</a:t>
            </a:r>
            <a:endParaRPr b="0" i="0" sz="1766" u="none" cap="none" strike="noStrike">
              <a:solidFill>
                <a:srgbClr val="000000"/>
              </a:solidFill>
              <a:latin typeface="Arial"/>
              <a:ea typeface="Arial"/>
              <a:cs typeface="Arial"/>
              <a:sym typeface="Arial"/>
            </a:endParaRPr>
          </a:p>
        </p:txBody>
      </p:sp>
      <p:sp>
        <p:nvSpPr>
          <p:cNvPr id="432" name="Google Shape;432;p15"/>
          <p:cNvSpPr txBox="1"/>
          <p:nvPr/>
        </p:nvSpPr>
        <p:spPr>
          <a:xfrm>
            <a:off x="9667578" y="2269529"/>
            <a:ext cx="461400" cy="22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3</a:t>
            </a:r>
            <a:endParaRPr b="0" i="0" sz="1800" u="none" cap="none" strike="noStrike">
              <a:solidFill>
                <a:srgbClr val="000000"/>
              </a:solidFill>
              <a:latin typeface="Arial"/>
              <a:ea typeface="Arial"/>
              <a:cs typeface="Arial"/>
              <a:sym typeface="Arial"/>
            </a:endParaRPr>
          </a:p>
        </p:txBody>
      </p:sp>
      <p:sp>
        <p:nvSpPr>
          <p:cNvPr id="433" name="Google Shape;433;p15"/>
          <p:cNvSpPr/>
          <p:nvPr/>
        </p:nvSpPr>
        <p:spPr>
          <a:xfrm>
            <a:off x="640075" y="1200254"/>
            <a:ext cx="10908900" cy="690600"/>
          </a:xfrm>
          <a:prstGeom prst="rect">
            <a:avLst/>
          </a:prstGeom>
          <a:solidFill>
            <a:srgbClr val="1A2E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5"/>
          <p:cNvSpPr/>
          <p:nvPr/>
        </p:nvSpPr>
        <p:spPr>
          <a:xfrm>
            <a:off x="914395" y="1200254"/>
            <a:ext cx="10332600" cy="69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800" u="none" cap="none" strike="noStrike">
                <a:solidFill>
                  <a:srgbClr val="CADCFC"/>
                </a:solidFill>
                <a:latin typeface="Calibri"/>
                <a:ea typeface="Calibri"/>
                <a:cs typeface="Calibri"/>
                <a:sym typeface="Calibri"/>
              </a:rPr>
              <a:t>Published 50 state eviction rules library; initiated AI validation process.   [ insert GitHub link ]</a:t>
            </a:r>
            <a:endParaRPr b="1" i="0" sz="1800" u="none" cap="none" strike="noStrike">
              <a:solidFill>
                <a:schemeClr val="dk1"/>
              </a:solidFill>
              <a:latin typeface="Calibri"/>
              <a:ea typeface="Calibri"/>
              <a:cs typeface="Calibri"/>
              <a:sym typeface="Calibri"/>
            </a:endParaRPr>
          </a:p>
        </p:txBody>
      </p:sp>
      <p:sp>
        <p:nvSpPr>
          <p:cNvPr id="435" name="Google Shape;435;p15"/>
          <p:cNvSpPr/>
          <p:nvPr/>
        </p:nvSpPr>
        <p:spPr>
          <a:xfrm>
            <a:off x="640080" y="3954800"/>
            <a:ext cx="111558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2400"/>
              <a:buFont typeface="Georgia"/>
              <a:buNone/>
            </a:pPr>
            <a:r>
              <a:rPr b="1" i="0" lang="en-US" sz="2600" u="none" cap="none" strike="noStrike">
                <a:solidFill>
                  <a:srgbClr val="1A2E4A"/>
                </a:solidFill>
                <a:latin typeface="Georgia"/>
                <a:ea typeface="Georgia"/>
                <a:cs typeface="Georgia"/>
                <a:sym typeface="Georgia"/>
              </a:rPr>
              <a:t xml:space="preserve">Project roadmap </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440" name="Shape 440"/>
        <p:cNvGrpSpPr/>
        <p:nvPr/>
      </p:nvGrpSpPr>
      <p:grpSpPr>
        <a:xfrm>
          <a:off x="0" y="0"/>
          <a:ext cx="0" cy="0"/>
          <a:chOff x="0" y="0"/>
          <a:chExt cx="0" cy="0"/>
        </a:xfrm>
      </p:grpSpPr>
      <p:sp>
        <p:nvSpPr>
          <p:cNvPr id="441" name="Google Shape;441;p16"/>
          <p:cNvSpPr/>
          <p:nvPr/>
        </p:nvSpPr>
        <p:spPr>
          <a:xfrm>
            <a:off x="640080" y="411480"/>
            <a:ext cx="108813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EARN TRUST</a:t>
            </a:r>
            <a:endParaRPr b="0" i="0" sz="1800" u="none" cap="none" strike="noStrike">
              <a:solidFill>
                <a:schemeClr val="dk1"/>
              </a:solidFill>
              <a:latin typeface="Calibri"/>
              <a:ea typeface="Calibri"/>
              <a:cs typeface="Calibri"/>
              <a:sym typeface="Calibri"/>
            </a:endParaRPr>
          </a:p>
        </p:txBody>
      </p:sp>
      <p:sp>
        <p:nvSpPr>
          <p:cNvPr id="442" name="Google Shape;442;p16"/>
          <p:cNvSpPr/>
          <p:nvPr/>
        </p:nvSpPr>
        <p:spPr>
          <a:xfrm>
            <a:off x="640080" y="713232"/>
            <a:ext cx="109728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Seven layers of validation</a:t>
            </a:r>
            <a:endParaRPr b="0" i="0" sz="2800" u="none" cap="none" strike="noStrike">
              <a:solidFill>
                <a:schemeClr val="dk1"/>
              </a:solidFill>
              <a:latin typeface="Calibri"/>
              <a:ea typeface="Calibri"/>
              <a:cs typeface="Calibri"/>
              <a:sym typeface="Calibri"/>
            </a:endParaRPr>
          </a:p>
        </p:txBody>
      </p:sp>
      <p:sp>
        <p:nvSpPr>
          <p:cNvPr id="443" name="Google Shape;443;p16"/>
          <p:cNvSpPr/>
          <p:nvPr/>
        </p:nvSpPr>
        <p:spPr>
          <a:xfrm>
            <a:off x="640080" y="1371600"/>
            <a:ext cx="1088136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500"/>
              <a:buFont typeface="Calibri"/>
              <a:buNone/>
            </a:pPr>
            <a:r>
              <a:rPr b="1" i="1" lang="en-US" sz="1600" u="none" cap="none" strike="noStrike">
                <a:solidFill>
                  <a:srgbClr val="CADCFC"/>
                </a:solidFill>
                <a:latin typeface="Calibri"/>
                <a:ea typeface="Calibri"/>
                <a:cs typeface="Calibri"/>
                <a:sym typeface="Calibri"/>
              </a:rPr>
              <a:t>The discipline of modern enterprise software testing, applied to legal rules — automated checks first, then expert human review.</a:t>
            </a:r>
            <a:endParaRPr b="1" i="0" sz="1600" u="none" cap="none" strike="noStrike">
              <a:solidFill>
                <a:schemeClr val="dk1"/>
              </a:solidFill>
              <a:latin typeface="Calibri"/>
              <a:ea typeface="Calibri"/>
              <a:cs typeface="Calibri"/>
              <a:sym typeface="Calibri"/>
            </a:endParaRPr>
          </a:p>
        </p:txBody>
      </p:sp>
      <p:sp>
        <p:nvSpPr>
          <p:cNvPr id="444" name="Google Shape;444;p16"/>
          <p:cNvSpPr/>
          <p:nvPr/>
        </p:nvSpPr>
        <p:spPr>
          <a:xfrm>
            <a:off x="640080" y="1920240"/>
            <a:ext cx="5303520" cy="841248"/>
          </a:xfrm>
          <a:prstGeom prst="rect">
            <a:avLst/>
          </a:prstGeom>
          <a:solidFill>
            <a:srgbClr val="223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45" name="Google Shape;445;p16"/>
          <p:cNvSpPr/>
          <p:nvPr/>
        </p:nvSpPr>
        <p:spPr>
          <a:xfrm>
            <a:off x="841248" y="2112264"/>
            <a:ext cx="457200" cy="4572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46" name="Google Shape;446;p16"/>
          <p:cNvSpPr/>
          <p:nvPr/>
        </p:nvSpPr>
        <p:spPr>
          <a:xfrm>
            <a:off x="841248" y="2112264"/>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Georgia"/>
              <a:buNone/>
            </a:pPr>
            <a:r>
              <a:rPr b="1" i="0" lang="en-US" sz="1600" u="none" cap="none" strike="noStrike">
                <a:solidFill>
                  <a:srgbClr val="FFFFFF"/>
                </a:solidFill>
                <a:latin typeface="Georgia"/>
                <a:ea typeface="Georgia"/>
                <a:cs typeface="Georgia"/>
                <a:sym typeface="Georgia"/>
              </a:rPr>
              <a:t>1</a:t>
            </a:r>
            <a:endParaRPr b="0" i="0" sz="1600" u="none" cap="none" strike="noStrike">
              <a:solidFill>
                <a:schemeClr val="dk1"/>
              </a:solidFill>
              <a:latin typeface="Calibri"/>
              <a:ea typeface="Calibri"/>
              <a:cs typeface="Calibri"/>
              <a:sym typeface="Calibri"/>
            </a:endParaRPr>
          </a:p>
        </p:txBody>
      </p:sp>
      <p:sp>
        <p:nvSpPr>
          <p:cNvPr id="447" name="Google Shape;447;p16"/>
          <p:cNvSpPr/>
          <p:nvPr/>
        </p:nvSpPr>
        <p:spPr>
          <a:xfrm>
            <a:off x="1463040" y="2029968"/>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800" u="none" cap="none" strike="noStrike">
                <a:solidFill>
                  <a:srgbClr val="FFFFFF"/>
                </a:solidFill>
                <a:latin typeface="Calibri"/>
                <a:ea typeface="Calibri"/>
                <a:cs typeface="Calibri"/>
                <a:sym typeface="Calibri"/>
              </a:rPr>
              <a:t>Live statutory grounding</a:t>
            </a:r>
            <a:endParaRPr b="0" i="0" sz="1800" u="none" cap="none" strike="noStrike">
              <a:solidFill>
                <a:schemeClr val="dk1"/>
              </a:solidFill>
              <a:latin typeface="Calibri"/>
              <a:ea typeface="Calibri"/>
              <a:cs typeface="Calibri"/>
              <a:sym typeface="Calibri"/>
            </a:endParaRPr>
          </a:p>
        </p:txBody>
      </p:sp>
      <p:sp>
        <p:nvSpPr>
          <p:cNvPr id="448" name="Google Shape;448;p16"/>
          <p:cNvSpPr/>
          <p:nvPr/>
        </p:nvSpPr>
        <p:spPr>
          <a:xfrm>
            <a:off x="1463040" y="2359152"/>
            <a:ext cx="4297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50"/>
              <a:buFont typeface="Calibri"/>
              <a:buNone/>
            </a:pPr>
            <a:r>
              <a:rPr b="0" i="0" lang="en-US" sz="1600" u="none" cap="none" strike="noStrike">
                <a:solidFill>
                  <a:srgbClr val="CADCFC"/>
                </a:solidFill>
                <a:latin typeface="Calibri"/>
                <a:ea typeface="Calibri"/>
                <a:cs typeface="Calibri"/>
                <a:sym typeface="Calibri"/>
              </a:rPr>
              <a:t>Every citation verified against current text</a:t>
            </a:r>
            <a:endParaRPr b="0" i="0" sz="1600" u="none" cap="none" strike="noStrike">
              <a:solidFill>
                <a:schemeClr val="dk1"/>
              </a:solidFill>
              <a:latin typeface="Calibri"/>
              <a:ea typeface="Calibri"/>
              <a:cs typeface="Calibri"/>
              <a:sym typeface="Calibri"/>
            </a:endParaRPr>
          </a:p>
        </p:txBody>
      </p:sp>
      <p:sp>
        <p:nvSpPr>
          <p:cNvPr id="449" name="Google Shape;449;p16"/>
          <p:cNvSpPr/>
          <p:nvPr/>
        </p:nvSpPr>
        <p:spPr>
          <a:xfrm>
            <a:off x="6245352" y="1920240"/>
            <a:ext cx="5303520" cy="841248"/>
          </a:xfrm>
          <a:prstGeom prst="rect">
            <a:avLst/>
          </a:prstGeom>
          <a:solidFill>
            <a:srgbClr val="223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0" name="Google Shape;450;p16"/>
          <p:cNvSpPr/>
          <p:nvPr/>
        </p:nvSpPr>
        <p:spPr>
          <a:xfrm>
            <a:off x="6446520" y="2112264"/>
            <a:ext cx="457200" cy="4572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1" name="Google Shape;451;p16"/>
          <p:cNvSpPr/>
          <p:nvPr/>
        </p:nvSpPr>
        <p:spPr>
          <a:xfrm>
            <a:off x="6446520" y="2112264"/>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Georgia"/>
              <a:buNone/>
            </a:pPr>
            <a:r>
              <a:rPr b="1" i="0" lang="en-US" sz="1600" u="none" cap="none" strike="noStrike">
                <a:solidFill>
                  <a:srgbClr val="FFFFFF"/>
                </a:solidFill>
                <a:latin typeface="Georgia"/>
                <a:ea typeface="Georgia"/>
                <a:cs typeface="Georgia"/>
                <a:sym typeface="Georgia"/>
              </a:rPr>
              <a:t>2</a:t>
            </a:r>
            <a:endParaRPr b="0" i="0" sz="1600" u="none" cap="none" strike="noStrike">
              <a:solidFill>
                <a:schemeClr val="dk1"/>
              </a:solidFill>
              <a:latin typeface="Calibri"/>
              <a:ea typeface="Calibri"/>
              <a:cs typeface="Calibri"/>
              <a:sym typeface="Calibri"/>
            </a:endParaRPr>
          </a:p>
        </p:txBody>
      </p:sp>
      <p:sp>
        <p:nvSpPr>
          <p:cNvPr id="452" name="Google Shape;452;p16"/>
          <p:cNvSpPr/>
          <p:nvPr/>
        </p:nvSpPr>
        <p:spPr>
          <a:xfrm>
            <a:off x="7068312" y="2029968"/>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800" u="none" cap="none" strike="noStrike">
                <a:solidFill>
                  <a:srgbClr val="FFFFFF"/>
                </a:solidFill>
                <a:latin typeface="Calibri"/>
                <a:ea typeface="Calibri"/>
                <a:cs typeface="Calibri"/>
                <a:sym typeface="Calibri"/>
              </a:rPr>
              <a:t>Multi-model consensus</a:t>
            </a:r>
            <a:endParaRPr b="0" i="0" sz="1800" u="none" cap="none" strike="noStrike">
              <a:solidFill>
                <a:schemeClr val="dk1"/>
              </a:solidFill>
              <a:latin typeface="Calibri"/>
              <a:ea typeface="Calibri"/>
              <a:cs typeface="Calibri"/>
              <a:sym typeface="Calibri"/>
            </a:endParaRPr>
          </a:p>
        </p:txBody>
      </p:sp>
      <p:sp>
        <p:nvSpPr>
          <p:cNvPr id="453" name="Google Shape;453;p16"/>
          <p:cNvSpPr/>
          <p:nvPr/>
        </p:nvSpPr>
        <p:spPr>
          <a:xfrm>
            <a:off x="7068312" y="2359152"/>
            <a:ext cx="4297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50"/>
              <a:buFont typeface="Calibri"/>
              <a:buNone/>
            </a:pPr>
            <a:r>
              <a:rPr b="0" i="0" lang="en-US" sz="1600" u="none" cap="none" strike="noStrike">
                <a:solidFill>
                  <a:srgbClr val="CADCFC"/>
                </a:solidFill>
                <a:latin typeface="Calibri"/>
                <a:ea typeface="Calibri"/>
                <a:cs typeface="Calibri"/>
                <a:sym typeface="Calibri"/>
              </a:rPr>
              <a:t>Independent generation; divergence flagged</a:t>
            </a:r>
            <a:endParaRPr b="0" i="0" sz="1600" u="none" cap="none" strike="noStrike">
              <a:solidFill>
                <a:schemeClr val="dk1"/>
              </a:solidFill>
              <a:latin typeface="Calibri"/>
              <a:ea typeface="Calibri"/>
              <a:cs typeface="Calibri"/>
              <a:sym typeface="Calibri"/>
            </a:endParaRPr>
          </a:p>
        </p:txBody>
      </p:sp>
      <p:sp>
        <p:nvSpPr>
          <p:cNvPr id="454" name="Google Shape;454;p16"/>
          <p:cNvSpPr/>
          <p:nvPr/>
        </p:nvSpPr>
        <p:spPr>
          <a:xfrm>
            <a:off x="640080" y="2907792"/>
            <a:ext cx="5303520" cy="841248"/>
          </a:xfrm>
          <a:prstGeom prst="rect">
            <a:avLst/>
          </a:prstGeom>
          <a:solidFill>
            <a:srgbClr val="223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5" name="Google Shape;455;p16"/>
          <p:cNvSpPr/>
          <p:nvPr/>
        </p:nvSpPr>
        <p:spPr>
          <a:xfrm>
            <a:off x="841248" y="3099816"/>
            <a:ext cx="457200" cy="4572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6" name="Google Shape;456;p16"/>
          <p:cNvSpPr/>
          <p:nvPr/>
        </p:nvSpPr>
        <p:spPr>
          <a:xfrm>
            <a:off x="841248" y="309981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Georgia"/>
              <a:buNone/>
            </a:pPr>
            <a:r>
              <a:rPr b="1" i="0" lang="en-US" sz="1600" u="none" cap="none" strike="noStrike">
                <a:solidFill>
                  <a:srgbClr val="FFFFFF"/>
                </a:solidFill>
                <a:latin typeface="Georgia"/>
                <a:ea typeface="Georgia"/>
                <a:cs typeface="Georgia"/>
                <a:sym typeface="Georgia"/>
              </a:rPr>
              <a:t>3</a:t>
            </a:r>
            <a:endParaRPr b="0" i="0" sz="1600" u="none" cap="none" strike="noStrike">
              <a:solidFill>
                <a:schemeClr val="dk1"/>
              </a:solidFill>
              <a:latin typeface="Calibri"/>
              <a:ea typeface="Calibri"/>
              <a:cs typeface="Calibri"/>
              <a:sym typeface="Calibri"/>
            </a:endParaRPr>
          </a:p>
        </p:txBody>
      </p:sp>
      <p:sp>
        <p:nvSpPr>
          <p:cNvPr id="457" name="Google Shape;457;p16"/>
          <p:cNvSpPr/>
          <p:nvPr/>
        </p:nvSpPr>
        <p:spPr>
          <a:xfrm>
            <a:off x="1463040" y="3017520"/>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800" u="none" cap="none" strike="noStrike">
                <a:solidFill>
                  <a:srgbClr val="FFFFFF"/>
                </a:solidFill>
                <a:latin typeface="Calibri"/>
                <a:ea typeface="Calibri"/>
                <a:cs typeface="Calibri"/>
                <a:sym typeface="Calibri"/>
              </a:rPr>
              <a:t>Internal consistency logic</a:t>
            </a:r>
            <a:endParaRPr b="0" i="0" sz="1800" u="none" cap="none" strike="noStrike">
              <a:solidFill>
                <a:schemeClr val="dk1"/>
              </a:solidFill>
              <a:latin typeface="Calibri"/>
              <a:ea typeface="Calibri"/>
              <a:cs typeface="Calibri"/>
              <a:sym typeface="Calibri"/>
            </a:endParaRPr>
          </a:p>
        </p:txBody>
      </p:sp>
      <p:sp>
        <p:nvSpPr>
          <p:cNvPr id="458" name="Google Shape;458;p16"/>
          <p:cNvSpPr/>
          <p:nvPr/>
        </p:nvSpPr>
        <p:spPr>
          <a:xfrm>
            <a:off x="1463040" y="3346704"/>
            <a:ext cx="4297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50"/>
              <a:buFont typeface="Calibri"/>
              <a:buNone/>
            </a:pPr>
            <a:r>
              <a:rPr b="0" i="0" lang="en-US" sz="1600" u="none" cap="none" strike="noStrike">
                <a:solidFill>
                  <a:srgbClr val="CADCFC"/>
                </a:solidFill>
                <a:latin typeface="Calibri"/>
                <a:ea typeface="Calibri"/>
                <a:cs typeface="Calibri"/>
                <a:sym typeface="Calibri"/>
              </a:rPr>
              <a:t>Structural &amp; range checks, no expertise needed</a:t>
            </a:r>
            <a:endParaRPr b="0" i="0" sz="1600" u="none" cap="none" strike="noStrike">
              <a:solidFill>
                <a:schemeClr val="dk1"/>
              </a:solidFill>
              <a:latin typeface="Calibri"/>
              <a:ea typeface="Calibri"/>
              <a:cs typeface="Calibri"/>
              <a:sym typeface="Calibri"/>
            </a:endParaRPr>
          </a:p>
        </p:txBody>
      </p:sp>
      <p:sp>
        <p:nvSpPr>
          <p:cNvPr id="459" name="Google Shape;459;p16"/>
          <p:cNvSpPr/>
          <p:nvPr/>
        </p:nvSpPr>
        <p:spPr>
          <a:xfrm>
            <a:off x="6245352" y="2907792"/>
            <a:ext cx="5303520" cy="841248"/>
          </a:xfrm>
          <a:prstGeom prst="rect">
            <a:avLst/>
          </a:prstGeom>
          <a:solidFill>
            <a:srgbClr val="223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0" name="Google Shape;460;p16"/>
          <p:cNvSpPr/>
          <p:nvPr/>
        </p:nvSpPr>
        <p:spPr>
          <a:xfrm>
            <a:off x="6446520" y="3099816"/>
            <a:ext cx="457200" cy="4572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1" name="Google Shape;461;p16"/>
          <p:cNvSpPr/>
          <p:nvPr/>
        </p:nvSpPr>
        <p:spPr>
          <a:xfrm>
            <a:off x="6446520" y="309981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Georgia"/>
              <a:buNone/>
            </a:pPr>
            <a:r>
              <a:rPr b="1" i="0" lang="en-US" sz="1600" u="none" cap="none" strike="noStrike">
                <a:solidFill>
                  <a:srgbClr val="FFFFFF"/>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462" name="Google Shape;462;p16"/>
          <p:cNvSpPr/>
          <p:nvPr/>
        </p:nvSpPr>
        <p:spPr>
          <a:xfrm>
            <a:off x="7068312" y="3017520"/>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700" u="none" cap="none" strike="noStrike">
                <a:solidFill>
                  <a:srgbClr val="FFFFFF"/>
                </a:solidFill>
                <a:latin typeface="Calibri"/>
                <a:ea typeface="Calibri"/>
                <a:cs typeface="Calibri"/>
                <a:sym typeface="Calibri"/>
              </a:rPr>
              <a:t>Golden-set behavioral tests</a:t>
            </a:r>
            <a:endParaRPr b="0" i="0" sz="1700" u="none" cap="none" strike="noStrike">
              <a:solidFill>
                <a:schemeClr val="dk1"/>
              </a:solidFill>
              <a:latin typeface="Calibri"/>
              <a:ea typeface="Calibri"/>
              <a:cs typeface="Calibri"/>
              <a:sym typeface="Calibri"/>
            </a:endParaRPr>
          </a:p>
        </p:txBody>
      </p:sp>
      <p:sp>
        <p:nvSpPr>
          <p:cNvPr id="463" name="Google Shape;463;p16"/>
          <p:cNvSpPr/>
          <p:nvPr/>
        </p:nvSpPr>
        <p:spPr>
          <a:xfrm>
            <a:off x="7068312" y="3346704"/>
            <a:ext cx="4297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50"/>
              <a:buFont typeface="Calibri"/>
              <a:buNone/>
            </a:pPr>
            <a:r>
              <a:rPr b="0" i="0" lang="en-US" sz="1600" u="none" cap="none" strike="noStrike">
                <a:solidFill>
                  <a:srgbClr val="CADCFC"/>
                </a:solidFill>
                <a:latin typeface="Calibri"/>
                <a:ea typeface="Calibri"/>
                <a:cs typeface="Calibri"/>
                <a:sym typeface="Calibri"/>
              </a:rPr>
              <a:t>Known-correct fact patterns per state</a:t>
            </a:r>
            <a:endParaRPr b="0" i="0" sz="1600" u="none" cap="none" strike="noStrike">
              <a:solidFill>
                <a:schemeClr val="dk1"/>
              </a:solidFill>
              <a:latin typeface="Calibri"/>
              <a:ea typeface="Calibri"/>
              <a:cs typeface="Calibri"/>
              <a:sym typeface="Calibri"/>
            </a:endParaRPr>
          </a:p>
        </p:txBody>
      </p:sp>
      <p:sp>
        <p:nvSpPr>
          <p:cNvPr id="464" name="Google Shape;464;p16"/>
          <p:cNvSpPr/>
          <p:nvPr/>
        </p:nvSpPr>
        <p:spPr>
          <a:xfrm>
            <a:off x="640080" y="3895344"/>
            <a:ext cx="5303520" cy="841248"/>
          </a:xfrm>
          <a:prstGeom prst="rect">
            <a:avLst/>
          </a:prstGeom>
          <a:solidFill>
            <a:srgbClr val="223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5" name="Google Shape;465;p16"/>
          <p:cNvSpPr/>
          <p:nvPr/>
        </p:nvSpPr>
        <p:spPr>
          <a:xfrm>
            <a:off x="841248" y="4087368"/>
            <a:ext cx="457200" cy="4572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6" name="Google Shape;466;p16"/>
          <p:cNvSpPr/>
          <p:nvPr/>
        </p:nvSpPr>
        <p:spPr>
          <a:xfrm>
            <a:off x="841248" y="408736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Georgia"/>
              <a:buNone/>
            </a:pPr>
            <a:r>
              <a:rPr b="1" i="0" lang="en-US" sz="1600" u="none" cap="none" strike="noStrike">
                <a:solidFill>
                  <a:srgbClr val="FFFFFF"/>
                </a:solidFill>
                <a:latin typeface="Georgia"/>
                <a:ea typeface="Georgia"/>
                <a:cs typeface="Georgia"/>
                <a:sym typeface="Georgia"/>
              </a:rPr>
              <a:t>5</a:t>
            </a:r>
            <a:endParaRPr b="0" i="0" sz="1600" u="none" cap="none" strike="noStrike">
              <a:solidFill>
                <a:schemeClr val="dk1"/>
              </a:solidFill>
              <a:latin typeface="Calibri"/>
              <a:ea typeface="Calibri"/>
              <a:cs typeface="Calibri"/>
              <a:sym typeface="Calibri"/>
            </a:endParaRPr>
          </a:p>
        </p:txBody>
      </p:sp>
      <p:sp>
        <p:nvSpPr>
          <p:cNvPr id="467" name="Google Shape;467;p16"/>
          <p:cNvSpPr/>
          <p:nvPr/>
        </p:nvSpPr>
        <p:spPr>
          <a:xfrm>
            <a:off x="1463040" y="4005072"/>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800" u="none" cap="none" strike="noStrike">
                <a:solidFill>
                  <a:srgbClr val="FFFFFF"/>
                </a:solidFill>
                <a:latin typeface="Calibri"/>
                <a:ea typeface="Calibri"/>
                <a:cs typeface="Calibri"/>
                <a:sym typeface="Calibri"/>
              </a:rPr>
              <a:t>Cross-jurisdiction anomaly detection</a:t>
            </a:r>
            <a:endParaRPr b="0" i="0" sz="1800" u="none" cap="none" strike="noStrike">
              <a:solidFill>
                <a:schemeClr val="dk1"/>
              </a:solidFill>
              <a:latin typeface="Calibri"/>
              <a:ea typeface="Calibri"/>
              <a:cs typeface="Calibri"/>
              <a:sym typeface="Calibri"/>
            </a:endParaRPr>
          </a:p>
        </p:txBody>
      </p:sp>
      <p:sp>
        <p:nvSpPr>
          <p:cNvPr id="468" name="Google Shape;468;p16"/>
          <p:cNvSpPr/>
          <p:nvPr/>
        </p:nvSpPr>
        <p:spPr>
          <a:xfrm>
            <a:off x="1463040" y="4334256"/>
            <a:ext cx="4297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50"/>
              <a:buFont typeface="Calibri"/>
              <a:buNone/>
            </a:pPr>
            <a:r>
              <a:rPr b="0" i="0" lang="en-US" sz="1600" u="none" cap="none" strike="noStrike">
                <a:solidFill>
                  <a:srgbClr val="CADCFC"/>
                </a:solidFill>
                <a:latin typeface="Calibri"/>
                <a:ea typeface="Calibri"/>
                <a:cs typeface="Calibri"/>
                <a:sym typeface="Calibri"/>
              </a:rPr>
              <a:t>Catches omissions other states reveal</a:t>
            </a:r>
            <a:endParaRPr b="0" i="0" sz="1600" u="none" cap="none" strike="noStrike">
              <a:solidFill>
                <a:schemeClr val="dk1"/>
              </a:solidFill>
              <a:latin typeface="Calibri"/>
              <a:ea typeface="Calibri"/>
              <a:cs typeface="Calibri"/>
              <a:sym typeface="Calibri"/>
            </a:endParaRPr>
          </a:p>
        </p:txBody>
      </p:sp>
      <p:sp>
        <p:nvSpPr>
          <p:cNvPr id="469" name="Google Shape;469;p16"/>
          <p:cNvSpPr/>
          <p:nvPr/>
        </p:nvSpPr>
        <p:spPr>
          <a:xfrm>
            <a:off x="6245352" y="3895344"/>
            <a:ext cx="5303520" cy="841248"/>
          </a:xfrm>
          <a:prstGeom prst="rect">
            <a:avLst/>
          </a:prstGeom>
          <a:solidFill>
            <a:srgbClr val="223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0" name="Google Shape;470;p16"/>
          <p:cNvSpPr/>
          <p:nvPr/>
        </p:nvSpPr>
        <p:spPr>
          <a:xfrm>
            <a:off x="6446520" y="4087368"/>
            <a:ext cx="457200" cy="4572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1" name="Google Shape;471;p16"/>
          <p:cNvSpPr/>
          <p:nvPr/>
        </p:nvSpPr>
        <p:spPr>
          <a:xfrm>
            <a:off x="6446520" y="408736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Georgia"/>
              <a:buNone/>
            </a:pPr>
            <a:r>
              <a:rPr b="1" i="0" lang="en-US" sz="1600" u="none" cap="none" strike="noStrike">
                <a:solidFill>
                  <a:srgbClr val="FFFFFF"/>
                </a:solidFill>
                <a:latin typeface="Georgia"/>
                <a:ea typeface="Georgia"/>
                <a:cs typeface="Georgia"/>
                <a:sym typeface="Georgia"/>
              </a:rPr>
              <a:t>6</a:t>
            </a:r>
            <a:endParaRPr b="0" i="0" sz="1600" u="none" cap="none" strike="noStrike">
              <a:solidFill>
                <a:schemeClr val="dk1"/>
              </a:solidFill>
              <a:latin typeface="Calibri"/>
              <a:ea typeface="Calibri"/>
              <a:cs typeface="Calibri"/>
              <a:sym typeface="Calibri"/>
            </a:endParaRPr>
          </a:p>
        </p:txBody>
      </p:sp>
      <p:sp>
        <p:nvSpPr>
          <p:cNvPr id="472" name="Google Shape;472;p16"/>
          <p:cNvSpPr/>
          <p:nvPr/>
        </p:nvSpPr>
        <p:spPr>
          <a:xfrm>
            <a:off x="7068312" y="4005072"/>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700" u="none" cap="none" strike="noStrike">
                <a:solidFill>
                  <a:srgbClr val="FFFFFF"/>
                </a:solidFill>
                <a:latin typeface="Calibri"/>
                <a:ea typeface="Calibri"/>
                <a:cs typeface="Calibri"/>
                <a:sym typeface="Calibri"/>
              </a:rPr>
              <a:t>Temporal freshness monitoring</a:t>
            </a:r>
            <a:endParaRPr b="0" i="0" sz="1700" u="none" cap="none" strike="noStrike">
              <a:solidFill>
                <a:schemeClr val="dk1"/>
              </a:solidFill>
              <a:latin typeface="Calibri"/>
              <a:ea typeface="Calibri"/>
              <a:cs typeface="Calibri"/>
              <a:sym typeface="Calibri"/>
            </a:endParaRPr>
          </a:p>
        </p:txBody>
      </p:sp>
      <p:sp>
        <p:nvSpPr>
          <p:cNvPr id="473" name="Google Shape;473;p16"/>
          <p:cNvSpPr/>
          <p:nvPr/>
        </p:nvSpPr>
        <p:spPr>
          <a:xfrm>
            <a:off x="7068312" y="4334256"/>
            <a:ext cx="4297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50"/>
              <a:buFont typeface="Calibri"/>
              <a:buNone/>
            </a:pPr>
            <a:r>
              <a:rPr b="0" i="0" lang="en-US" sz="1600" u="none" cap="none" strike="noStrike">
                <a:solidFill>
                  <a:srgbClr val="CADCFC"/>
                </a:solidFill>
                <a:latin typeface="Calibri"/>
                <a:ea typeface="Calibri"/>
                <a:cs typeface="Calibri"/>
                <a:sym typeface="Calibri"/>
              </a:rPr>
              <a:t>Law-change drift becomes a managed queue</a:t>
            </a:r>
            <a:endParaRPr b="0" i="0" sz="1600" u="none" cap="none" strike="noStrike">
              <a:solidFill>
                <a:schemeClr val="dk1"/>
              </a:solidFill>
              <a:latin typeface="Calibri"/>
              <a:ea typeface="Calibri"/>
              <a:cs typeface="Calibri"/>
              <a:sym typeface="Calibri"/>
            </a:endParaRPr>
          </a:p>
        </p:txBody>
      </p:sp>
      <p:sp>
        <p:nvSpPr>
          <p:cNvPr id="474" name="Google Shape;474;p16"/>
          <p:cNvSpPr/>
          <p:nvPr/>
        </p:nvSpPr>
        <p:spPr>
          <a:xfrm>
            <a:off x="640080" y="4882896"/>
            <a:ext cx="10908792" cy="86868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5" name="Google Shape;475;p16"/>
          <p:cNvSpPr/>
          <p:nvPr/>
        </p:nvSpPr>
        <p:spPr>
          <a:xfrm>
            <a:off x="868680" y="5084064"/>
            <a:ext cx="457200" cy="4572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6" name="Google Shape;476;p16"/>
          <p:cNvSpPr/>
          <p:nvPr/>
        </p:nvSpPr>
        <p:spPr>
          <a:xfrm>
            <a:off x="868680" y="5084064"/>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B72"/>
              </a:buClr>
              <a:buSzPts val="1800"/>
              <a:buFont typeface="Georgia"/>
              <a:buNone/>
            </a:pPr>
            <a:r>
              <a:rPr b="1" i="0" lang="en-US" sz="1600" u="none" cap="none" strike="noStrike">
                <a:solidFill>
                  <a:srgbClr val="1A6B72"/>
                </a:solidFill>
                <a:latin typeface="Georgia"/>
                <a:ea typeface="Georgia"/>
                <a:cs typeface="Georgia"/>
                <a:sym typeface="Georgia"/>
              </a:rPr>
              <a:t>7</a:t>
            </a:r>
            <a:endParaRPr b="0" i="0" sz="1600" u="none" cap="none" strike="noStrike">
              <a:solidFill>
                <a:schemeClr val="dk1"/>
              </a:solidFill>
              <a:latin typeface="Calibri"/>
              <a:ea typeface="Calibri"/>
              <a:cs typeface="Calibri"/>
              <a:sym typeface="Calibri"/>
            </a:endParaRPr>
          </a:p>
        </p:txBody>
      </p:sp>
      <p:sp>
        <p:nvSpPr>
          <p:cNvPr id="477" name="Google Shape;477;p16"/>
          <p:cNvSpPr/>
          <p:nvPr/>
        </p:nvSpPr>
        <p:spPr>
          <a:xfrm>
            <a:off x="1508760" y="4882896"/>
            <a:ext cx="978408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50"/>
              <a:buFont typeface="Calibri"/>
              <a:buNone/>
            </a:pPr>
            <a:r>
              <a:rPr b="1" i="0" lang="en-US" sz="1600" u="none" cap="none" strike="noStrike">
                <a:solidFill>
                  <a:srgbClr val="FFFFFF"/>
                </a:solidFill>
                <a:latin typeface="Calibri"/>
                <a:ea typeface="Calibri"/>
                <a:cs typeface="Calibri"/>
                <a:sym typeface="Calibri"/>
              </a:rPr>
              <a:t>S</a:t>
            </a:r>
            <a:r>
              <a:rPr b="1" i="0" lang="en-US" sz="1800" u="none" cap="none" strike="noStrike">
                <a:solidFill>
                  <a:srgbClr val="FFFFFF"/>
                </a:solidFill>
                <a:latin typeface="Calibri"/>
                <a:ea typeface="Calibri"/>
                <a:cs typeface="Calibri"/>
                <a:sym typeface="Calibri"/>
              </a:rPr>
              <a:t>tratified expert human review</a:t>
            </a:r>
            <a:r>
              <a:rPr b="0" i="0" lang="en-US" sz="1800" u="none" cap="none" strike="noStrike">
                <a:solidFill>
                  <a:srgbClr val="FFFFFF"/>
                </a:solidFill>
                <a:latin typeface="Calibri"/>
                <a:ea typeface="Calibri"/>
                <a:cs typeface="Calibri"/>
                <a:sym typeface="Calibri"/>
              </a:rPr>
              <a:t xml:space="preserve"> </a:t>
            </a:r>
            <a:r>
              <a:rPr b="0" i="0" lang="en-US" sz="1600" u="none" cap="none" strike="noStrike">
                <a:solidFill>
                  <a:srgbClr val="FFFFFF"/>
                </a:solidFill>
                <a:latin typeface="Calibri"/>
                <a:ea typeface="Calibri"/>
                <a:cs typeface="Calibri"/>
                <a:sym typeface="Calibri"/>
              </a:rPr>
              <a:t>— a statistically powered sample, with published error rates and confidence intervals (the autonomous-vehicle standard, applied to legal information).</a:t>
            </a:r>
            <a:endParaRPr b="0" i="0" sz="1600" u="none" cap="none" strike="noStrike">
              <a:solidFill>
                <a:schemeClr val="dk1"/>
              </a:solidFill>
              <a:latin typeface="Calibri"/>
              <a:ea typeface="Calibri"/>
              <a:cs typeface="Calibri"/>
              <a:sym typeface="Calibri"/>
            </a:endParaRPr>
          </a:p>
        </p:txBody>
      </p:sp>
      <p:sp>
        <p:nvSpPr>
          <p:cNvPr id="478" name="Google Shape;478;p16"/>
          <p:cNvSpPr/>
          <p:nvPr/>
        </p:nvSpPr>
        <p:spPr>
          <a:xfrm>
            <a:off x="640080" y="6112321"/>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100"/>
              <a:buFont typeface="Calibri"/>
              <a:buNone/>
            </a:pPr>
            <a:r>
              <a:rPr b="1" i="0" lang="en-US" sz="1800" u="none" cap="none" strike="noStrike">
                <a:solidFill>
                  <a:srgbClr val="8FA8CC"/>
                </a:solidFill>
                <a:latin typeface="Calibri"/>
                <a:ea typeface="Calibri"/>
                <a:cs typeface="Calibri"/>
                <a:sym typeface="Calibri"/>
              </a:rPr>
              <a:t>PROJECT</a:t>
            </a:r>
            <a:endParaRPr b="0" i="0" sz="1800" u="none" cap="none" strike="noStrike">
              <a:solidFill>
                <a:schemeClr val="dk1"/>
              </a:solidFill>
              <a:latin typeface="Calibri"/>
              <a:ea typeface="Calibri"/>
              <a:cs typeface="Calibri"/>
              <a:sym typeface="Calibri"/>
            </a:endParaRPr>
          </a:p>
        </p:txBody>
      </p:sp>
      <p:sp>
        <p:nvSpPr>
          <p:cNvPr id="479" name="Google Shape;479;p16"/>
          <p:cNvSpPr/>
          <p:nvPr/>
        </p:nvSpPr>
        <p:spPr>
          <a:xfrm>
            <a:off x="11521440"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14</a:t>
            </a:r>
            <a:endParaRPr b="0" i="0" sz="1100" u="none" cap="none" strike="noStrike">
              <a:solidFill>
                <a:schemeClr val="dk1"/>
              </a:solidFill>
              <a:latin typeface="Calibri"/>
              <a:ea typeface="Calibri"/>
              <a:cs typeface="Calibri"/>
              <a:sym typeface="Calibri"/>
            </a:endParaRPr>
          </a:p>
        </p:txBody>
      </p:sp>
      <p:sp>
        <p:nvSpPr>
          <p:cNvPr id="480" name="Google Shape;480;p16"/>
          <p:cNvSpPr/>
          <p:nvPr/>
        </p:nvSpPr>
        <p:spPr>
          <a:xfrm>
            <a:off x="640080" y="6533804"/>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485" name="Shape 485"/>
        <p:cNvGrpSpPr/>
        <p:nvPr/>
      </p:nvGrpSpPr>
      <p:grpSpPr>
        <a:xfrm>
          <a:off x="0" y="0"/>
          <a:ext cx="0" cy="0"/>
          <a:chOff x="0" y="0"/>
          <a:chExt cx="0" cy="0"/>
        </a:xfrm>
      </p:grpSpPr>
      <p:sp>
        <p:nvSpPr>
          <p:cNvPr id="486" name="Google Shape;486;p17"/>
          <p:cNvSpPr/>
          <p:nvPr/>
        </p:nvSpPr>
        <p:spPr>
          <a:xfrm>
            <a:off x="640080" y="411480"/>
            <a:ext cx="10881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WHY THIS RULES LAYER IS WORTH BUILDING</a:t>
            </a:r>
            <a:endParaRPr b="0" i="0" sz="1800" u="none" cap="none" strike="noStrike">
              <a:solidFill>
                <a:schemeClr val="dk1"/>
              </a:solidFill>
              <a:latin typeface="Calibri"/>
              <a:ea typeface="Calibri"/>
              <a:cs typeface="Calibri"/>
              <a:sym typeface="Calibri"/>
            </a:endParaRPr>
          </a:p>
        </p:txBody>
      </p:sp>
      <p:sp>
        <p:nvSpPr>
          <p:cNvPr id="487" name="Google Shape;487;p17"/>
          <p:cNvSpPr/>
          <p:nvPr/>
        </p:nvSpPr>
        <p:spPr>
          <a:xfrm>
            <a:off x="640075" y="809683"/>
            <a:ext cx="111558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300"/>
              <a:buFont typeface="Georgia"/>
              <a:buNone/>
            </a:pPr>
            <a:r>
              <a:rPr b="1" i="0" lang="en-US" sz="2500" u="none" cap="none" strike="noStrike">
                <a:solidFill>
                  <a:srgbClr val="FFFFFF"/>
                </a:solidFill>
                <a:latin typeface="Georgia"/>
                <a:ea typeface="Georgia"/>
                <a:cs typeface="Georgia"/>
                <a:sym typeface="Georgia"/>
              </a:rPr>
              <a:t>Improve the infrastructure and help people</a:t>
            </a:r>
            <a:endParaRPr b="0" i="0" sz="2500" u="none" cap="none" strike="noStrike">
              <a:solidFill>
                <a:schemeClr val="dk1"/>
              </a:solidFill>
              <a:latin typeface="Calibri"/>
              <a:ea typeface="Calibri"/>
              <a:cs typeface="Calibri"/>
              <a:sym typeface="Calibri"/>
            </a:endParaRPr>
          </a:p>
        </p:txBody>
      </p:sp>
      <p:sp>
        <p:nvSpPr>
          <p:cNvPr id="488" name="Google Shape;488;p17"/>
          <p:cNvSpPr/>
          <p:nvPr/>
        </p:nvSpPr>
        <p:spPr>
          <a:xfrm>
            <a:off x="640080" y="1683950"/>
            <a:ext cx="2606100" cy="3313500"/>
          </a:xfrm>
          <a:prstGeom prst="rect">
            <a:avLst/>
          </a:prstGeom>
          <a:solidFill>
            <a:srgbClr val="22395C"/>
          </a:solidFill>
          <a:ln>
            <a:noFill/>
          </a:ln>
          <a:effectLst>
            <a:outerShdw blurRad="88900" rotWithShape="0" algn="bl" dir="8100000" dist="38100">
              <a:srgbClr val="000000">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17"/>
          <p:cNvSpPr/>
          <p:nvPr/>
        </p:nvSpPr>
        <p:spPr>
          <a:xfrm>
            <a:off x="640080" y="1683950"/>
            <a:ext cx="2606100" cy="792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7"/>
          <p:cNvSpPr/>
          <p:nvPr/>
        </p:nvSpPr>
        <p:spPr>
          <a:xfrm>
            <a:off x="896112" y="1980667"/>
            <a:ext cx="640200" cy="6924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91" name="Google Shape;491;p17"/>
          <p:cNvPicPr preferRelativeResize="0"/>
          <p:nvPr/>
        </p:nvPicPr>
        <p:blipFill rotWithShape="1">
          <a:blip r:embed="rId3">
            <a:alphaModFix/>
          </a:blip>
          <a:srcRect b="0" l="0" r="0" t="0"/>
          <a:stretch/>
        </p:blipFill>
        <p:spPr>
          <a:xfrm>
            <a:off x="1033272" y="2129026"/>
            <a:ext cx="365760" cy="395622"/>
          </a:xfrm>
          <a:prstGeom prst="rect">
            <a:avLst/>
          </a:prstGeom>
          <a:noFill/>
          <a:ln>
            <a:noFill/>
          </a:ln>
        </p:spPr>
      </p:pic>
      <p:sp>
        <p:nvSpPr>
          <p:cNvPr id="492" name="Google Shape;492;p17"/>
          <p:cNvSpPr/>
          <p:nvPr/>
        </p:nvSpPr>
        <p:spPr>
          <a:xfrm>
            <a:off x="896112" y="2821366"/>
            <a:ext cx="2148900" cy="44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Georgia"/>
              <a:buNone/>
            </a:pPr>
            <a:r>
              <a:rPr b="1" i="0" lang="en-US" sz="2000" u="none" cap="none" strike="noStrike">
                <a:solidFill>
                  <a:srgbClr val="FFFFFF"/>
                </a:solidFill>
                <a:latin typeface="Georgia"/>
                <a:ea typeface="Georgia"/>
                <a:cs typeface="Georgia"/>
                <a:sym typeface="Georgia"/>
              </a:rPr>
              <a:t>Novel</a:t>
            </a:r>
            <a:endParaRPr b="0" i="0" sz="2000" u="none" cap="none" strike="noStrike">
              <a:solidFill>
                <a:schemeClr val="dk1"/>
              </a:solidFill>
              <a:latin typeface="Calibri"/>
              <a:ea typeface="Calibri"/>
              <a:cs typeface="Calibri"/>
              <a:sym typeface="Calibri"/>
            </a:endParaRPr>
          </a:p>
        </p:txBody>
      </p:sp>
      <p:sp>
        <p:nvSpPr>
          <p:cNvPr id="493" name="Google Shape;493;p17"/>
          <p:cNvSpPr/>
          <p:nvPr/>
        </p:nvSpPr>
        <p:spPr>
          <a:xfrm>
            <a:off x="896099" y="3315889"/>
            <a:ext cx="2255700" cy="158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50"/>
              <a:buFont typeface="Calibri"/>
              <a:buNone/>
            </a:pPr>
            <a:r>
              <a:rPr b="0" i="0" lang="en-US" sz="1800" u="none" cap="none" strike="noStrike">
                <a:solidFill>
                  <a:srgbClr val="CADCFC"/>
                </a:solidFill>
                <a:latin typeface="Calibri"/>
                <a:ea typeface="Calibri"/>
                <a:cs typeface="Calibri"/>
                <a:sym typeface="Calibri"/>
              </a:rPr>
              <a:t xml:space="preserve">Longstanding efforts to code the law, but no one has yet done it for a2j / legal aid. </a:t>
            </a:r>
            <a:endParaRPr b="0" i="0" sz="1800" u="none" cap="none" strike="noStrike">
              <a:solidFill>
                <a:schemeClr val="dk1"/>
              </a:solidFill>
              <a:latin typeface="Calibri"/>
              <a:ea typeface="Calibri"/>
              <a:cs typeface="Calibri"/>
              <a:sym typeface="Calibri"/>
            </a:endParaRPr>
          </a:p>
        </p:txBody>
      </p:sp>
      <p:sp>
        <p:nvSpPr>
          <p:cNvPr id="494" name="Google Shape;494;p17"/>
          <p:cNvSpPr/>
          <p:nvPr/>
        </p:nvSpPr>
        <p:spPr>
          <a:xfrm>
            <a:off x="3483862" y="1683950"/>
            <a:ext cx="2606100" cy="3313500"/>
          </a:xfrm>
          <a:prstGeom prst="rect">
            <a:avLst/>
          </a:prstGeom>
          <a:solidFill>
            <a:srgbClr val="22395C"/>
          </a:solidFill>
          <a:ln>
            <a:noFill/>
          </a:ln>
          <a:effectLst>
            <a:outerShdw blurRad="88900" rotWithShape="0" algn="bl" dir="8100000" dist="38100">
              <a:srgbClr val="000000">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17"/>
          <p:cNvSpPr/>
          <p:nvPr/>
        </p:nvSpPr>
        <p:spPr>
          <a:xfrm>
            <a:off x="3483862" y="1683950"/>
            <a:ext cx="2606100" cy="792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17"/>
          <p:cNvSpPr/>
          <p:nvPr/>
        </p:nvSpPr>
        <p:spPr>
          <a:xfrm>
            <a:off x="3739894" y="1980667"/>
            <a:ext cx="640200" cy="6924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97" name="Google Shape;497;p17"/>
          <p:cNvPicPr preferRelativeResize="0"/>
          <p:nvPr/>
        </p:nvPicPr>
        <p:blipFill rotWithShape="1">
          <a:blip r:embed="rId4">
            <a:alphaModFix/>
          </a:blip>
          <a:srcRect b="0" l="0" r="0" t="0"/>
          <a:stretch/>
        </p:blipFill>
        <p:spPr>
          <a:xfrm>
            <a:off x="3877054" y="2129026"/>
            <a:ext cx="365760" cy="395622"/>
          </a:xfrm>
          <a:prstGeom prst="rect">
            <a:avLst/>
          </a:prstGeom>
          <a:noFill/>
          <a:ln>
            <a:noFill/>
          </a:ln>
        </p:spPr>
      </p:pic>
      <p:sp>
        <p:nvSpPr>
          <p:cNvPr id="498" name="Google Shape;498;p17"/>
          <p:cNvSpPr/>
          <p:nvPr/>
        </p:nvSpPr>
        <p:spPr>
          <a:xfrm>
            <a:off x="3739894" y="2821366"/>
            <a:ext cx="2148900" cy="44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Georgia"/>
              <a:buNone/>
            </a:pPr>
            <a:r>
              <a:rPr b="1" i="0" lang="en-US" sz="2000" u="none" cap="none" strike="noStrike">
                <a:solidFill>
                  <a:srgbClr val="FFFFFF"/>
                </a:solidFill>
                <a:latin typeface="Georgia"/>
                <a:ea typeface="Georgia"/>
                <a:cs typeface="Georgia"/>
                <a:sym typeface="Georgia"/>
              </a:rPr>
              <a:t>Durable</a:t>
            </a:r>
            <a:endParaRPr b="0" i="0" sz="2000" u="none" cap="none" strike="noStrike">
              <a:solidFill>
                <a:schemeClr val="dk1"/>
              </a:solidFill>
              <a:latin typeface="Calibri"/>
              <a:ea typeface="Calibri"/>
              <a:cs typeface="Calibri"/>
              <a:sym typeface="Calibri"/>
            </a:endParaRPr>
          </a:p>
        </p:txBody>
      </p:sp>
      <p:sp>
        <p:nvSpPr>
          <p:cNvPr id="499" name="Google Shape;499;p17"/>
          <p:cNvSpPr/>
          <p:nvPr/>
        </p:nvSpPr>
        <p:spPr>
          <a:xfrm>
            <a:off x="3739898" y="3315889"/>
            <a:ext cx="2349900" cy="158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50"/>
              <a:buFont typeface="Calibri"/>
              <a:buNone/>
            </a:pPr>
            <a:r>
              <a:rPr b="0" i="0" lang="en-US" sz="1800" u="none" cap="none" strike="noStrike">
                <a:solidFill>
                  <a:srgbClr val="CADCFC"/>
                </a:solidFill>
                <a:latin typeface="Calibri"/>
                <a:ea typeface="Calibri"/>
                <a:cs typeface="Calibri"/>
                <a:sym typeface="Calibri"/>
              </a:rPr>
              <a:t>Validated legal decision-logic is an a2j community asset.</a:t>
            </a:r>
            <a:endParaRPr b="0" i="0" sz="1800" u="none" cap="none" strike="noStrike">
              <a:solidFill>
                <a:schemeClr val="dk1"/>
              </a:solidFill>
              <a:latin typeface="Calibri"/>
              <a:ea typeface="Calibri"/>
              <a:cs typeface="Calibri"/>
              <a:sym typeface="Calibri"/>
            </a:endParaRPr>
          </a:p>
        </p:txBody>
      </p:sp>
      <p:sp>
        <p:nvSpPr>
          <p:cNvPr id="500" name="Google Shape;500;p17"/>
          <p:cNvSpPr/>
          <p:nvPr/>
        </p:nvSpPr>
        <p:spPr>
          <a:xfrm>
            <a:off x="6327644" y="1683950"/>
            <a:ext cx="2606100" cy="3313500"/>
          </a:xfrm>
          <a:prstGeom prst="rect">
            <a:avLst/>
          </a:prstGeom>
          <a:solidFill>
            <a:srgbClr val="22395C"/>
          </a:solidFill>
          <a:ln>
            <a:noFill/>
          </a:ln>
          <a:effectLst>
            <a:outerShdw blurRad="88900" rotWithShape="0" algn="bl" dir="8100000" dist="38100">
              <a:srgbClr val="000000">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17"/>
          <p:cNvSpPr/>
          <p:nvPr/>
        </p:nvSpPr>
        <p:spPr>
          <a:xfrm>
            <a:off x="6327644" y="1683950"/>
            <a:ext cx="2606100" cy="792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17"/>
          <p:cNvSpPr/>
          <p:nvPr/>
        </p:nvSpPr>
        <p:spPr>
          <a:xfrm>
            <a:off x="6583676" y="1980667"/>
            <a:ext cx="640200" cy="6924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03" name="Google Shape;503;p17"/>
          <p:cNvPicPr preferRelativeResize="0"/>
          <p:nvPr/>
        </p:nvPicPr>
        <p:blipFill rotWithShape="1">
          <a:blip r:embed="rId5">
            <a:alphaModFix/>
          </a:blip>
          <a:srcRect b="0" l="0" r="0" t="0"/>
          <a:stretch/>
        </p:blipFill>
        <p:spPr>
          <a:xfrm>
            <a:off x="6720836" y="2129026"/>
            <a:ext cx="365760" cy="395622"/>
          </a:xfrm>
          <a:prstGeom prst="rect">
            <a:avLst/>
          </a:prstGeom>
          <a:noFill/>
          <a:ln>
            <a:noFill/>
          </a:ln>
        </p:spPr>
      </p:pic>
      <p:sp>
        <p:nvSpPr>
          <p:cNvPr id="504" name="Google Shape;504;p17"/>
          <p:cNvSpPr/>
          <p:nvPr/>
        </p:nvSpPr>
        <p:spPr>
          <a:xfrm>
            <a:off x="6583676" y="2821366"/>
            <a:ext cx="2148900" cy="44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Georgia"/>
              <a:buNone/>
            </a:pPr>
            <a:r>
              <a:rPr b="1" i="0" lang="en-US" sz="2000" u="none" cap="none" strike="noStrike">
                <a:solidFill>
                  <a:srgbClr val="FFFFFF"/>
                </a:solidFill>
                <a:latin typeface="Georgia"/>
                <a:ea typeface="Georgia"/>
                <a:cs typeface="Georgia"/>
                <a:sym typeface="Georgia"/>
              </a:rPr>
              <a:t>Defensible</a:t>
            </a:r>
            <a:endParaRPr b="0" i="0" sz="2000" u="none" cap="none" strike="noStrike">
              <a:solidFill>
                <a:schemeClr val="dk1"/>
              </a:solidFill>
              <a:latin typeface="Calibri"/>
              <a:ea typeface="Calibri"/>
              <a:cs typeface="Calibri"/>
              <a:sym typeface="Calibri"/>
            </a:endParaRPr>
          </a:p>
        </p:txBody>
      </p:sp>
      <p:sp>
        <p:nvSpPr>
          <p:cNvPr id="505" name="Google Shape;505;p17"/>
          <p:cNvSpPr/>
          <p:nvPr/>
        </p:nvSpPr>
        <p:spPr>
          <a:xfrm>
            <a:off x="6583675" y="3315900"/>
            <a:ext cx="2255700" cy="158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50"/>
              <a:buFont typeface="Calibri"/>
              <a:buNone/>
            </a:pPr>
            <a:r>
              <a:rPr b="0" i="0" lang="en-US" sz="1800" u="none" cap="none" strike="noStrike">
                <a:solidFill>
                  <a:srgbClr val="CADCFC"/>
                </a:solidFill>
                <a:latin typeface="Calibri"/>
                <a:ea typeface="Calibri"/>
                <a:cs typeface="Calibri"/>
                <a:sym typeface="Calibri"/>
              </a:rPr>
              <a:t xml:space="preserve">Rigorous accuracy standard (7-layers); with </a:t>
            </a:r>
            <a:r>
              <a:rPr b="1" i="0" lang="en-US" sz="1800" u="none" cap="none" strike="noStrike">
                <a:solidFill>
                  <a:schemeClr val="lt1"/>
                </a:solidFill>
                <a:latin typeface="Calibri"/>
                <a:ea typeface="Calibri"/>
                <a:cs typeface="Calibri"/>
                <a:sym typeface="Calibri"/>
              </a:rPr>
              <a:t>ultimate</a:t>
            </a:r>
            <a:r>
              <a:rPr b="0" i="0" lang="en-US" sz="1800" u="none" cap="none" strike="noStrike">
                <a:solidFill>
                  <a:srgbClr val="CADCFC"/>
                </a:solidFill>
                <a:latin typeface="Calibri"/>
                <a:ea typeface="Calibri"/>
                <a:cs typeface="Calibri"/>
                <a:sym typeface="Calibri"/>
              </a:rPr>
              <a:t xml:space="preserve"> </a:t>
            </a:r>
            <a:r>
              <a:rPr b="1" i="1" lang="en-US" sz="1800" u="none" cap="none" strike="noStrike">
                <a:solidFill>
                  <a:schemeClr val="lt1"/>
                </a:solidFill>
                <a:latin typeface="Calibri"/>
                <a:ea typeface="Calibri"/>
                <a:cs typeface="Calibri"/>
                <a:sym typeface="Calibri"/>
              </a:rPr>
              <a:t>validation by attorneys</a:t>
            </a:r>
            <a:endParaRPr b="1"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CADCFC"/>
              </a:buClr>
              <a:buSzPts val="1250"/>
              <a:buFont typeface="Calibri"/>
              <a:buNone/>
            </a:pPr>
            <a:r>
              <a:rPr b="0" i="0" lang="en-US" sz="1800" u="none" cap="none" strike="noStrike">
                <a:solidFill>
                  <a:srgbClr val="CADCFC"/>
                </a:solidFill>
                <a:latin typeface="Calibri"/>
                <a:ea typeface="Calibri"/>
                <a:cs typeface="Calibri"/>
                <a:sym typeface="Calibri"/>
              </a:rPr>
              <a:t xml:space="preserve"> </a:t>
            </a:r>
            <a:endParaRPr b="0" i="0" sz="1800" u="none" cap="none" strike="noStrike">
              <a:solidFill>
                <a:schemeClr val="dk1"/>
              </a:solidFill>
              <a:latin typeface="Calibri"/>
              <a:ea typeface="Calibri"/>
              <a:cs typeface="Calibri"/>
              <a:sym typeface="Calibri"/>
            </a:endParaRPr>
          </a:p>
        </p:txBody>
      </p:sp>
      <p:sp>
        <p:nvSpPr>
          <p:cNvPr id="506" name="Google Shape;506;p17"/>
          <p:cNvSpPr/>
          <p:nvPr/>
        </p:nvSpPr>
        <p:spPr>
          <a:xfrm>
            <a:off x="9171427" y="1683950"/>
            <a:ext cx="2606100" cy="3313500"/>
          </a:xfrm>
          <a:prstGeom prst="rect">
            <a:avLst/>
          </a:prstGeom>
          <a:solidFill>
            <a:srgbClr val="22395C"/>
          </a:solidFill>
          <a:ln>
            <a:noFill/>
          </a:ln>
          <a:effectLst>
            <a:outerShdw blurRad="88900" rotWithShape="0" algn="bl" dir="8100000" dist="38100">
              <a:srgbClr val="000000">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17"/>
          <p:cNvSpPr/>
          <p:nvPr/>
        </p:nvSpPr>
        <p:spPr>
          <a:xfrm>
            <a:off x="9171427" y="1683950"/>
            <a:ext cx="2606100" cy="792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17"/>
          <p:cNvSpPr/>
          <p:nvPr/>
        </p:nvSpPr>
        <p:spPr>
          <a:xfrm>
            <a:off x="9427458" y="1980667"/>
            <a:ext cx="640200" cy="6924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09" name="Google Shape;509;p17"/>
          <p:cNvPicPr preferRelativeResize="0"/>
          <p:nvPr/>
        </p:nvPicPr>
        <p:blipFill rotWithShape="1">
          <a:blip r:embed="rId6">
            <a:alphaModFix/>
          </a:blip>
          <a:srcRect b="0" l="0" r="0" t="0"/>
          <a:stretch/>
        </p:blipFill>
        <p:spPr>
          <a:xfrm>
            <a:off x="9564618" y="2129026"/>
            <a:ext cx="365760" cy="395622"/>
          </a:xfrm>
          <a:prstGeom prst="rect">
            <a:avLst/>
          </a:prstGeom>
          <a:noFill/>
          <a:ln>
            <a:noFill/>
          </a:ln>
        </p:spPr>
      </p:pic>
      <p:sp>
        <p:nvSpPr>
          <p:cNvPr id="510" name="Google Shape;510;p17"/>
          <p:cNvSpPr/>
          <p:nvPr/>
        </p:nvSpPr>
        <p:spPr>
          <a:xfrm>
            <a:off x="9427458" y="2821366"/>
            <a:ext cx="2148900" cy="44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Georgia"/>
              <a:buNone/>
            </a:pPr>
            <a:r>
              <a:rPr b="1" i="0" lang="en-US" sz="2000" u="none" cap="none" strike="noStrike">
                <a:solidFill>
                  <a:srgbClr val="FFFFFF"/>
                </a:solidFill>
                <a:latin typeface="Georgia"/>
                <a:ea typeface="Georgia"/>
                <a:cs typeface="Georgia"/>
                <a:sym typeface="Georgia"/>
              </a:rPr>
              <a:t>Achievable</a:t>
            </a:r>
            <a:endParaRPr b="0" i="0" sz="2000" u="none" cap="none" strike="noStrike">
              <a:solidFill>
                <a:schemeClr val="dk1"/>
              </a:solidFill>
              <a:latin typeface="Calibri"/>
              <a:ea typeface="Calibri"/>
              <a:cs typeface="Calibri"/>
              <a:sym typeface="Calibri"/>
            </a:endParaRPr>
          </a:p>
        </p:txBody>
      </p:sp>
      <p:sp>
        <p:nvSpPr>
          <p:cNvPr id="511" name="Google Shape;511;p17"/>
          <p:cNvSpPr/>
          <p:nvPr/>
        </p:nvSpPr>
        <p:spPr>
          <a:xfrm>
            <a:off x="9427470" y="3315889"/>
            <a:ext cx="2349900" cy="158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ADCFC"/>
              </a:buClr>
              <a:buSzPts val="1250"/>
              <a:buFont typeface="Calibri"/>
              <a:buNone/>
            </a:pPr>
            <a:r>
              <a:rPr b="0" i="0" lang="en-US" sz="1800" u="none" cap="none" strike="noStrike">
                <a:solidFill>
                  <a:srgbClr val="CADCFC"/>
                </a:solidFill>
                <a:latin typeface="Calibri"/>
                <a:ea typeface="Calibri"/>
                <a:cs typeface="Calibri"/>
                <a:sym typeface="Calibri"/>
              </a:rPr>
              <a:t xml:space="preserve">AI draft rules generation is fast — hours, validation is challenging, but achievable </a:t>
            </a:r>
            <a:endParaRPr b="0" i="0" sz="1800" u="none" cap="none" strike="noStrike">
              <a:solidFill>
                <a:schemeClr val="dk1"/>
              </a:solidFill>
              <a:latin typeface="Calibri"/>
              <a:ea typeface="Calibri"/>
              <a:cs typeface="Calibri"/>
              <a:sym typeface="Calibri"/>
            </a:endParaRPr>
          </a:p>
        </p:txBody>
      </p:sp>
      <p:sp>
        <p:nvSpPr>
          <p:cNvPr id="512" name="Google Shape;512;p17"/>
          <p:cNvSpPr/>
          <p:nvPr/>
        </p:nvSpPr>
        <p:spPr>
          <a:xfrm>
            <a:off x="640080" y="6067317"/>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100"/>
              <a:buFont typeface="Calibri"/>
              <a:buNone/>
            </a:pPr>
            <a:r>
              <a:rPr b="1" i="0" lang="en-US" sz="1800" u="none" cap="none" strike="noStrike">
                <a:solidFill>
                  <a:srgbClr val="8FA8CC"/>
                </a:solidFill>
                <a:latin typeface="Calibri"/>
                <a:ea typeface="Calibri"/>
                <a:cs typeface="Calibri"/>
                <a:sym typeface="Calibri"/>
              </a:rPr>
              <a:t>PROJECT</a:t>
            </a:r>
            <a:endParaRPr b="0" i="0" sz="1800" u="none" cap="none" strike="noStrike">
              <a:solidFill>
                <a:schemeClr val="dk1"/>
              </a:solidFill>
              <a:latin typeface="Calibri"/>
              <a:ea typeface="Calibri"/>
              <a:cs typeface="Calibri"/>
              <a:sym typeface="Calibri"/>
            </a:endParaRPr>
          </a:p>
        </p:txBody>
      </p:sp>
      <p:sp>
        <p:nvSpPr>
          <p:cNvPr id="513" name="Google Shape;513;p17"/>
          <p:cNvSpPr/>
          <p:nvPr/>
        </p:nvSpPr>
        <p:spPr>
          <a:xfrm>
            <a:off x="11521440" y="6446520"/>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
        <p:nvSpPr>
          <p:cNvPr id="514" name="Google Shape;514;p17"/>
          <p:cNvSpPr/>
          <p:nvPr/>
        </p:nvSpPr>
        <p:spPr>
          <a:xfrm>
            <a:off x="640080" y="6533804"/>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519" name="Shape 519"/>
        <p:cNvGrpSpPr/>
        <p:nvPr/>
      </p:nvGrpSpPr>
      <p:grpSpPr>
        <a:xfrm>
          <a:off x="0" y="0"/>
          <a:ext cx="0" cy="0"/>
          <a:chOff x="0" y="0"/>
          <a:chExt cx="0" cy="0"/>
        </a:xfrm>
      </p:grpSpPr>
      <p:sp>
        <p:nvSpPr>
          <p:cNvPr id="520" name="Google Shape;520;p18"/>
          <p:cNvSpPr/>
          <p:nvPr/>
        </p:nvSpPr>
        <p:spPr>
          <a:xfrm>
            <a:off x="640080" y="411480"/>
            <a:ext cx="108813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 xml:space="preserve">LEGAL ETHICS </a:t>
            </a:r>
            <a:endParaRPr b="0" i="0" sz="1800" u="none" cap="none" strike="noStrike">
              <a:solidFill>
                <a:schemeClr val="dk1"/>
              </a:solidFill>
              <a:latin typeface="Calibri"/>
              <a:ea typeface="Calibri"/>
              <a:cs typeface="Calibri"/>
              <a:sym typeface="Calibri"/>
            </a:endParaRPr>
          </a:p>
        </p:txBody>
      </p:sp>
      <p:sp>
        <p:nvSpPr>
          <p:cNvPr id="521" name="Google Shape;521;p18"/>
          <p:cNvSpPr/>
          <p:nvPr/>
        </p:nvSpPr>
        <p:spPr>
          <a:xfrm>
            <a:off x="640075" y="889386"/>
            <a:ext cx="10972800" cy="64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2800"/>
              <a:buFont typeface="Georgia"/>
              <a:buNone/>
            </a:pPr>
            <a:r>
              <a:rPr b="1" i="0" lang="en-US" sz="2800" u="none" cap="none" strike="noStrike">
                <a:solidFill>
                  <a:srgbClr val="1A2E4A"/>
                </a:solidFill>
                <a:latin typeface="Georgia"/>
                <a:ea typeface="Georgia"/>
                <a:cs typeface="Georgia"/>
                <a:sym typeface="Georgia"/>
              </a:rPr>
              <a:t>Legal information — not the practice of law</a:t>
            </a:r>
            <a:endParaRPr b="0" i="0" sz="2800" u="none" cap="none" strike="noStrike">
              <a:solidFill>
                <a:schemeClr val="dk1"/>
              </a:solidFill>
              <a:latin typeface="Calibri"/>
              <a:ea typeface="Calibri"/>
              <a:cs typeface="Calibri"/>
              <a:sym typeface="Calibri"/>
            </a:endParaRPr>
          </a:p>
        </p:txBody>
      </p:sp>
      <p:sp>
        <p:nvSpPr>
          <p:cNvPr id="522" name="Google Shape;522;p18"/>
          <p:cNvSpPr/>
          <p:nvPr/>
        </p:nvSpPr>
        <p:spPr>
          <a:xfrm>
            <a:off x="640080" y="1691640"/>
            <a:ext cx="5303520" cy="32004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18"/>
          <p:cNvSpPr/>
          <p:nvPr/>
        </p:nvSpPr>
        <p:spPr>
          <a:xfrm>
            <a:off x="640080" y="1691640"/>
            <a:ext cx="5303520" cy="9144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18"/>
          <p:cNvSpPr/>
          <p:nvPr/>
        </p:nvSpPr>
        <p:spPr>
          <a:xfrm>
            <a:off x="1005840" y="2103120"/>
            <a:ext cx="777240" cy="77724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5" name="Google Shape;525;p18"/>
          <p:cNvPicPr preferRelativeResize="0"/>
          <p:nvPr/>
        </p:nvPicPr>
        <p:blipFill rotWithShape="1">
          <a:blip r:embed="rId3">
            <a:alphaModFix/>
          </a:blip>
          <a:srcRect b="0" l="0" r="0" t="0"/>
          <a:stretch/>
        </p:blipFill>
        <p:spPr>
          <a:xfrm>
            <a:off x="1188720" y="2286000"/>
            <a:ext cx="411480" cy="411480"/>
          </a:xfrm>
          <a:prstGeom prst="rect">
            <a:avLst/>
          </a:prstGeom>
          <a:noFill/>
          <a:ln>
            <a:noFill/>
          </a:ln>
        </p:spPr>
      </p:pic>
      <p:sp>
        <p:nvSpPr>
          <p:cNvPr id="526" name="Google Shape;526;p18"/>
          <p:cNvSpPr/>
          <p:nvPr/>
        </p:nvSpPr>
        <p:spPr>
          <a:xfrm>
            <a:off x="1005840" y="3017520"/>
            <a:ext cx="45720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1900"/>
              <a:buFont typeface="Georgia"/>
              <a:buNone/>
            </a:pPr>
            <a:r>
              <a:rPr b="1" i="0" lang="en-US" sz="2000" u="none" cap="none" strike="noStrike">
                <a:solidFill>
                  <a:srgbClr val="1A2E4A"/>
                </a:solidFill>
                <a:latin typeface="Georgia"/>
                <a:ea typeface="Georgia"/>
                <a:cs typeface="Georgia"/>
                <a:sym typeface="Georgia"/>
              </a:rPr>
              <a:t>What the rules layer does</a:t>
            </a:r>
            <a:endParaRPr b="0" i="0" sz="2000" u="none" cap="none" strike="noStrike">
              <a:solidFill>
                <a:schemeClr val="dk1"/>
              </a:solidFill>
              <a:latin typeface="Calibri"/>
              <a:ea typeface="Calibri"/>
              <a:cs typeface="Calibri"/>
              <a:sym typeface="Calibri"/>
            </a:endParaRPr>
          </a:p>
        </p:txBody>
      </p:sp>
      <p:sp>
        <p:nvSpPr>
          <p:cNvPr id="527" name="Google Shape;527;p18"/>
          <p:cNvSpPr/>
          <p:nvPr/>
        </p:nvSpPr>
        <p:spPr>
          <a:xfrm>
            <a:off x="1005840" y="3566160"/>
            <a:ext cx="4572000" cy="1188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450"/>
              <a:buFont typeface="Calibri"/>
              <a:buNone/>
            </a:pPr>
            <a:r>
              <a:rPr b="0" i="0" lang="en-US" sz="1800" u="none" cap="none" strike="noStrike">
                <a:solidFill>
                  <a:srgbClr val="4A5568"/>
                </a:solidFill>
                <a:latin typeface="Calibri"/>
                <a:ea typeface="Calibri"/>
                <a:cs typeface="Calibri"/>
                <a:sym typeface="Calibri"/>
              </a:rPr>
              <a:t>Encodes what statutes require — legal reference, routinely publishes this on legal aid websites. The machine-readable form doesn't change its character as reference data.</a:t>
            </a:r>
            <a:endParaRPr b="0" i="0" sz="1800" u="none" cap="none" strike="noStrike">
              <a:solidFill>
                <a:schemeClr val="dk1"/>
              </a:solidFill>
              <a:latin typeface="Calibri"/>
              <a:ea typeface="Calibri"/>
              <a:cs typeface="Calibri"/>
              <a:sym typeface="Calibri"/>
            </a:endParaRPr>
          </a:p>
        </p:txBody>
      </p:sp>
      <p:sp>
        <p:nvSpPr>
          <p:cNvPr id="528" name="Google Shape;528;p18"/>
          <p:cNvSpPr/>
          <p:nvPr/>
        </p:nvSpPr>
        <p:spPr>
          <a:xfrm>
            <a:off x="6245352" y="1691640"/>
            <a:ext cx="5303520" cy="32004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18"/>
          <p:cNvSpPr/>
          <p:nvPr/>
        </p:nvSpPr>
        <p:spPr>
          <a:xfrm>
            <a:off x="6245352" y="1691640"/>
            <a:ext cx="5303520" cy="91440"/>
          </a:xfrm>
          <a:prstGeom prst="rect">
            <a:avLst/>
          </a:prstGeom>
          <a:solidFill>
            <a:srgbClr val="C790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18"/>
          <p:cNvSpPr/>
          <p:nvPr/>
        </p:nvSpPr>
        <p:spPr>
          <a:xfrm>
            <a:off x="6611112" y="2103120"/>
            <a:ext cx="777240" cy="777240"/>
          </a:xfrm>
          <a:prstGeom prst="ellipse">
            <a:avLst/>
          </a:prstGeom>
          <a:solidFill>
            <a:srgbClr val="C790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31" name="Google Shape;531;p18"/>
          <p:cNvPicPr preferRelativeResize="0"/>
          <p:nvPr/>
        </p:nvPicPr>
        <p:blipFill rotWithShape="1">
          <a:blip r:embed="rId4">
            <a:alphaModFix/>
          </a:blip>
          <a:srcRect b="0" l="0" r="0" t="0"/>
          <a:stretch/>
        </p:blipFill>
        <p:spPr>
          <a:xfrm>
            <a:off x="6793992" y="2286000"/>
            <a:ext cx="411480" cy="411480"/>
          </a:xfrm>
          <a:prstGeom prst="rect">
            <a:avLst/>
          </a:prstGeom>
          <a:noFill/>
          <a:ln>
            <a:noFill/>
          </a:ln>
        </p:spPr>
      </p:pic>
      <p:sp>
        <p:nvSpPr>
          <p:cNvPr id="532" name="Google Shape;532;p18"/>
          <p:cNvSpPr/>
          <p:nvPr/>
        </p:nvSpPr>
        <p:spPr>
          <a:xfrm>
            <a:off x="6611112" y="3017520"/>
            <a:ext cx="45720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1900"/>
              <a:buFont typeface="Georgia"/>
              <a:buNone/>
            </a:pPr>
            <a:r>
              <a:rPr b="1" i="0" lang="en-US" sz="2000" u="none" cap="none" strike="noStrike">
                <a:solidFill>
                  <a:srgbClr val="1A2E4A"/>
                </a:solidFill>
                <a:latin typeface="Georgia"/>
                <a:ea typeface="Georgia"/>
                <a:cs typeface="Georgia"/>
                <a:sym typeface="Georgia"/>
              </a:rPr>
              <a:t>Where the line into advice is</a:t>
            </a:r>
            <a:endParaRPr b="0" i="0" sz="2000" u="none" cap="none" strike="noStrike">
              <a:solidFill>
                <a:schemeClr val="dk1"/>
              </a:solidFill>
              <a:latin typeface="Calibri"/>
              <a:ea typeface="Calibri"/>
              <a:cs typeface="Calibri"/>
              <a:sym typeface="Calibri"/>
            </a:endParaRPr>
          </a:p>
        </p:txBody>
      </p:sp>
      <p:sp>
        <p:nvSpPr>
          <p:cNvPr id="533" name="Google Shape;533;p18"/>
          <p:cNvSpPr/>
          <p:nvPr/>
        </p:nvSpPr>
        <p:spPr>
          <a:xfrm>
            <a:off x="6611099" y="3566150"/>
            <a:ext cx="4812000" cy="118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450"/>
              <a:buFont typeface="Calibri"/>
              <a:buNone/>
            </a:pPr>
            <a:r>
              <a:rPr b="0" i="0" lang="en-US" sz="1800" u="none" cap="none" strike="noStrike">
                <a:solidFill>
                  <a:srgbClr val="4A5568"/>
                </a:solidFill>
                <a:latin typeface="Calibri"/>
                <a:ea typeface="Calibri"/>
                <a:cs typeface="Calibri"/>
                <a:sym typeface="Calibri"/>
              </a:rPr>
              <a:t>A system can't render a conclusion about a specific person's situation (which raises UPL issues) — and workflow guardrails and mandatory human-attorney review provide protection.</a:t>
            </a:r>
            <a:endParaRPr b="0" i="0" sz="1800" u="none" cap="none" strike="noStrike">
              <a:solidFill>
                <a:schemeClr val="dk1"/>
              </a:solidFill>
              <a:latin typeface="Calibri"/>
              <a:ea typeface="Calibri"/>
              <a:cs typeface="Calibri"/>
              <a:sym typeface="Calibri"/>
            </a:endParaRPr>
          </a:p>
        </p:txBody>
      </p:sp>
      <p:sp>
        <p:nvSpPr>
          <p:cNvPr id="534" name="Google Shape;534;p18"/>
          <p:cNvSpPr/>
          <p:nvPr/>
        </p:nvSpPr>
        <p:spPr>
          <a:xfrm>
            <a:off x="640080" y="5212080"/>
            <a:ext cx="10908792" cy="777240"/>
          </a:xfrm>
          <a:prstGeom prst="rect">
            <a:avLst/>
          </a:prstGeom>
          <a:solidFill>
            <a:srgbClr val="1A2E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18"/>
          <p:cNvSpPr/>
          <p:nvPr/>
        </p:nvSpPr>
        <p:spPr>
          <a:xfrm>
            <a:off x="914400" y="5212075"/>
            <a:ext cx="106071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0" i="1" lang="en-US" sz="2000" u="none" cap="none" strike="noStrike">
                <a:solidFill>
                  <a:srgbClr val="FFFFFF"/>
                </a:solidFill>
                <a:latin typeface="Calibri"/>
                <a:ea typeface="Calibri"/>
                <a:cs typeface="Calibri"/>
                <a:sym typeface="Calibri"/>
              </a:rPr>
              <a:t>Reference data on what the law generally requires is permitted, but humans must be in the loop for anything case-specific.</a:t>
            </a:r>
            <a:endParaRPr b="0" i="0" sz="2000" u="none" cap="none" strike="noStrike">
              <a:solidFill>
                <a:schemeClr val="dk1"/>
              </a:solidFill>
              <a:latin typeface="Calibri"/>
              <a:ea typeface="Calibri"/>
              <a:cs typeface="Calibri"/>
              <a:sym typeface="Calibri"/>
            </a:endParaRPr>
          </a:p>
        </p:txBody>
      </p:sp>
      <p:sp>
        <p:nvSpPr>
          <p:cNvPr id="536" name="Google Shape;536;p18"/>
          <p:cNvSpPr/>
          <p:nvPr/>
        </p:nvSpPr>
        <p:spPr>
          <a:xfrm>
            <a:off x="640075" y="6136775"/>
            <a:ext cx="7315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8AB"/>
              </a:buClr>
              <a:buSzPts val="1100"/>
              <a:buFont typeface="Calibri"/>
              <a:buNone/>
            </a:pPr>
            <a:r>
              <a:rPr b="1" i="0" lang="en-US" sz="1800" u="none" cap="none" strike="noStrike">
                <a:solidFill>
                  <a:srgbClr val="8A98AB"/>
                </a:solidFill>
                <a:latin typeface="Calibri"/>
                <a:ea typeface="Calibri"/>
                <a:cs typeface="Calibri"/>
                <a:sym typeface="Calibri"/>
              </a:rPr>
              <a:t>INFRASTRUCTURE</a:t>
            </a:r>
            <a:endParaRPr b="0" i="0" sz="1800" u="none" cap="none" strike="noStrike">
              <a:solidFill>
                <a:schemeClr val="dk1"/>
              </a:solidFill>
              <a:latin typeface="Calibri"/>
              <a:ea typeface="Calibri"/>
              <a:cs typeface="Calibri"/>
              <a:sym typeface="Calibri"/>
            </a:endParaRPr>
          </a:p>
        </p:txBody>
      </p:sp>
      <p:sp>
        <p:nvSpPr>
          <p:cNvPr id="537" name="Google Shape;537;p18"/>
          <p:cNvSpPr/>
          <p:nvPr/>
        </p:nvSpPr>
        <p:spPr>
          <a:xfrm>
            <a:off x="11521440"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16</a:t>
            </a:r>
            <a:endParaRPr b="0" i="0" sz="1100" u="none" cap="none" strike="noStrike">
              <a:solidFill>
                <a:schemeClr val="dk1"/>
              </a:solidFill>
              <a:latin typeface="Calibri"/>
              <a:ea typeface="Calibri"/>
              <a:cs typeface="Calibri"/>
              <a:sym typeface="Calibri"/>
            </a:endParaRPr>
          </a:p>
        </p:txBody>
      </p:sp>
      <p:sp>
        <p:nvSpPr>
          <p:cNvPr id="538" name="Google Shape;538;p18"/>
          <p:cNvSpPr/>
          <p:nvPr/>
        </p:nvSpPr>
        <p:spPr>
          <a:xfrm>
            <a:off x="640080" y="6533804"/>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543" name="Shape 543"/>
        <p:cNvGrpSpPr/>
        <p:nvPr/>
      </p:nvGrpSpPr>
      <p:grpSpPr>
        <a:xfrm>
          <a:off x="0" y="0"/>
          <a:ext cx="0" cy="0"/>
          <a:chOff x="0" y="0"/>
          <a:chExt cx="0" cy="0"/>
        </a:xfrm>
      </p:grpSpPr>
      <p:sp>
        <p:nvSpPr>
          <p:cNvPr id="544" name="Google Shape;544;p19"/>
          <p:cNvSpPr/>
          <p:nvPr/>
        </p:nvSpPr>
        <p:spPr>
          <a:xfrm>
            <a:off x="640080" y="411480"/>
            <a:ext cx="108813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9DA6"/>
              </a:buClr>
              <a:buSzPts val="1200"/>
              <a:buFont typeface="Calibri"/>
              <a:buNone/>
            </a:pPr>
            <a:r>
              <a:rPr b="1" i="0" lang="en-US" sz="1800" u="none" cap="none" strike="noStrike">
                <a:solidFill>
                  <a:srgbClr val="2A9DA6"/>
                </a:solidFill>
                <a:latin typeface="Calibri"/>
                <a:ea typeface="Calibri"/>
                <a:cs typeface="Calibri"/>
                <a:sym typeface="Calibri"/>
              </a:rPr>
              <a:t>NEXT STEPS</a:t>
            </a:r>
            <a:endParaRPr b="0" i="0" sz="1800" u="none" cap="none" strike="noStrike">
              <a:solidFill>
                <a:schemeClr val="dk1"/>
              </a:solidFill>
              <a:latin typeface="Calibri"/>
              <a:ea typeface="Calibri"/>
              <a:cs typeface="Calibri"/>
              <a:sym typeface="Calibri"/>
            </a:endParaRPr>
          </a:p>
        </p:txBody>
      </p:sp>
      <p:sp>
        <p:nvSpPr>
          <p:cNvPr id="545" name="Google Shape;545;p19"/>
          <p:cNvSpPr/>
          <p:nvPr/>
        </p:nvSpPr>
        <p:spPr>
          <a:xfrm>
            <a:off x="673305" y="731582"/>
            <a:ext cx="109728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2700"/>
              <a:buFont typeface="Georgia"/>
              <a:buNone/>
            </a:pPr>
            <a:r>
              <a:rPr b="1" i="0" lang="en-US" sz="2800" u="none" cap="none" strike="noStrike">
                <a:solidFill>
                  <a:srgbClr val="1A2E4A"/>
                </a:solidFill>
                <a:latin typeface="Georgia"/>
                <a:ea typeface="Georgia"/>
                <a:cs typeface="Georgia"/>
                <a:sym typeface="Georgia"/>
              </a:rPr>
              <a:t>Help / partnership that could change the trajectory</a:t>
            </a:r>
            <a:endParaRPr b="0" i="0" sz="2800" u="none" cap="none" strike="noStrike">
              <a:solidFill>
                <a:schemeClr val="dk1"/>
              </a:solidFill>
              <a:latin typeface="Calibri"/>
              <a:ea typeface="Calibri"/>
              <a:cs typeface="Calibri"/>
              <a:sym typeface="Calibri"/>
            </a:endParaRPr>
          </a:p>
        </p:txBody>
      </p:sp>
      <p:sp>
        <p:nvSpPr>
          <p:cNvPr id="546" name="Google Shape;546;p19"/>
          <p:cNvSpPr/>
          <p:nvPr/>
        </p:nvSpPr>
        <p:spPr>
          <a:xfrm>
            <a:off x="641380" y="1917803"/>
            <a:ext cx="10908900" cy="2019000"/>
          </a:xfrm>
          <a:prstGeom prst="rect">
            <a:avLst/>
          </a:prstGeom>
          <a:solidFill>
            <a:srgbClr val="FFFFFF"/>
          </a:solidFill>
          <a:ln cap="flat" cmpd="sng" w="12700">
            <a:solidFill>
              <a:srgbClr val="D6DEE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1A2E4A"/>
              </a:buClr>
              <a:buSzPts val="1600"/>
              <a:buFont typeface="Georgia"/>
              <a:buNone/>
            </a:pPr>
            <a:r>
              <a:t/>
            </a:r>
            <a:endParaRPr b="0" i="0" sz="1800" u="none" cap="none" strike="noStrike">
              <a:solidFill>
                <a:schemeClr val="dk1"/>
              </a:solidFill>
              <a:latin typeface="Calibri"/>
              <a:ea typeface="Calibri"/>
              <a:cs typeface="Calibri"/>
              <a:sym typeface="Calibri"/>
            </a:endParaRPr>
          </a:p>
        </p:txBody>
      </p:sp>
      <p:sp>
        <p:nvSpPr>
          <p:cNvPr id="547" name="Google Shape;547;p19"/>
          <p:cNvSpPr/>
          <p:nvPr/>
        </p:nvSpPr>
        <p:spPr>
          <a:xfrm>
            <a:off x="640075" y="1855525"/>
            <a:ext cx="10908900" cy="83100"/>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19"/>
          <p:cNvSpPr/>
          <p:nvPr/>
        </p:nvSpPr>
        <p:spPr>
          <a:xfrm>
            <a:off x="931550" y="2031377"/>
            <a:ext cx="875400" cy="753000"/>
          </a:xfrm>
          <a:prstGeom prst="ellipse">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49" name="Google Shape;549;p19"/>
          <p:cNvPicPr preferRelativeResize="0"/>
          <p:nvPr/>
        </p:nvPicPr>
        <p:blipFill rotWithShape="1">
          <a:blip r:embed="rId3">
            <a:alphaModFix/>
          </a:blip>
          <a:srcRect b="0" l="0" r="0" t="0"/>
          <a:stretch/>
        </p:blipFill>
        <p:spPr>
          <a:xfrm>
            <a:off x="1164479" y="2194972"/>
            <a:ext cx="457200" cy="415371"/>
          </a:xfrm>
          <a:prstGeom prst="rect">
            <a:avLst/>
          </a:prstGeom>
          <a:noFill/>
          <a:ln>
            <a:noFill/>
          </a:ln>
        </p:spPr>
      </p:pic>
      <p:sp>
        <p:nvSpPr>
          <p:cNvPr id="550" name="Google Shape;550;p19"/>
          <p:cNvSpPr/>
          <p:nvPr/>
        </p:nvSpPr>
        <p:spPr>
          <a:xfrm>
            <a:off x="1392430" y="2966232"/>
            <a:ext cx="9404400" cy="45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2E4A"/>
              </a:buClr>
              <a:buSzPts val="1600"/>
              <a:buFont typeface="Georgia"/>
              <a:buNone/>
            </a:pPr>
            <a:r>
              <a:t/>
            </a:r>
            <a:endParaRPr b="0" i="0" sz="1800" u="none" cap="none" strike="noStrike">
              <a:solidFill>
                <a:schemeClr val="dk1"/>
              </a:solidFill>
              <a:latin typeface="Calibri"/>
              <a:ea typeface="Calibri"/>
              <a:cs typeface="Calibri"/>
              <a:sym typeface="Calibri"/>
            </a:endParaRPr>
          </a:p>
        </p:txBody>
      </p:sp>
      <p:sp>
        <p:nvSpPr>
          <p:cNvPr id="551" name="Google Shape;551;p19"/>
          <p:cNvSpPr/>
          <p:nvPr/>
        </p:nvSpPr>
        <p:spPr>
          <a:xfrm>
            <a:off x="2023650" y="2297750"/>
            <a:ext cx="9404400" cy="156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350"/>
              <a:buFont typeface="Calibri"/>
              <a:buNone/>
            </a:pPr>
            <a:r>
              <a:rPr b="1" i="0" lang="en-US" sz="2000" u="none" cap="none" strike="noStrike">
                <a:solidFill>
                  <a:srgbClr val="1A6B72"/>
                </a:solidFill>
                <a:latin typeface="Calibri"/>
                <a:ea typeface="Calibri"/>
                <a:cs typeface="Calibri"/>
                <a:sym typeface="Calibri"/>
              </a:rPr>
              <a:t>MODEL AI AND LEGAL TECH LEADERS, LAW SCHOOL CLINICS, A2J COMMUNITY LEADERS…</a:t>
            </a:r>
            <a:endParaRPr b="1" i="0" sz="2000" u="none" cap="none" strike="noStrike">
              <a:solidFill>
                <a:srgbClr val="1A6B72"/>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350"/>
              <a:buFont typeface="Calibri"/>
              <a:buNone/>
            </a:pPr>
            <a:r>
              <a:rPr b="0" i="0" lang="en-US" sz="2000" u="none" cap="none" strike="noStrike">
                <a:solidFill>
                  <a:srgbClr val="4A5568"/>
                </a:solidFill>
                <a:latin typeface="Calibri"/>
                <a:ea typeface="Calibri"/>
                <a:cs typeface="Calibri"/>
                <a:sym typeface="Calibri"/>
              </a:rPr>
              <a:t xml:space="preserve">The Ask: 10 minutes – review the civil justice as code plan  (this deck) – if you see value, engagement / help with execution </a:t>
            </a:r>
            <a:endParaRPr b="0" i="0" sz="2000" u="none" cap="none" strike="noStrike">
              <a:solidFill>
                <a:srgbClr val="4A5568"/>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350"/>
              <a:buFont typeface="Calibri"/>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350"/>
              <a:buFont typeface="Calibri"/>
              <a:buNone/>
            </a:pPr>
            <a:r>
              <a:t/>
            </a:r>
            <a:endParaRPr b="1" i="0" sz="2000" u="none" cap="none" strike="noStrike">
              <a:solidFill>
                <a:srgbClr val="4A5568"/>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350"/>
              <a:buFont typeface="Calibri"/>
              <a:buNone/>
            </a:pPr>
            <a:r>
              <a:rPr b="1" i="0" lang="en-US" sz="2000" u="none" cap="none" strike="noStrike">
                <a:solidFill>
                  <a:srgbClr val="4A5568"/>
                </a:solidFill>
                <a:latin typeface="Calibri"/>
                <a:ea typeface="Calibri"/>
                <a:cs typeface="Calibri"/>
                <a:sym typeface="Calibri"/>
              </a:rPr>
              <a:t xml:space="preserve">  </a:t>
            </a:r>
            <a:endParaRPr b="1" i="0" sz="2000" u="none" cap="none" strike="noStrike">
              <a:solidFill>
                <a:schemeClr val="dk1"/>
              </a:solidFill>
              <a:latin typeface="Calibri"/>
              <a:ea typeface="Calibri"/>
              <a:cs typeface="Calibri"/>
              <a:sym typeface="Calibri"/>
            </a:endParaRPr>
          </a:p>
        </p:txBody>
      </p:sp>
      <p:sp>
        <p:nvSpPr>
          <p:cNvPr id="552" name="Google Shape;552;p19"/>
          <p:cNvSpPr/>
          <p:nvPr/>
        </p:nvSpPr>
        <p:spPr>
          <a:xfrm>
            <a:off x="640075" y="4251952"/>
            <a:ext cx="10908900" cy="1582000"/>
          </a:xfrm>
          <a:prstGeom prst="rect">
            <a:avLst/>
          </a:prstGeom>
          <a:solidFill>
            <a:srgbClr val="EAF6F5"/>
          </a:solidFill>
          <a:ln cap="flat" cmpd="sng" w="12700">
            <a:solidFill>
              <a:srgbClr val="2A9D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53" name="Google Shape;553;p19"/>
          <p:cNvSpPr/>
          <p:nvPr/>
        </p:nvSpPr>
        <p:spPr>
          <a:xfrm>
            <a:off x="1955950" y="4389125"/>
            <a:ext cx="9016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6B72"/>
              </a:buClr>
              <a:buSzPts val="1300"/>
              <a:buFont typeface="Calibri"/>
              <a:buNone/>
            </a:pPr>
            <a:r>
              <a:rPr b="1" i="0" lang="en-US" sz="2000" u="none" cap="none" strike="noStrike">
                <a:solidFill>
                  <a:srgbClr val="1A6B72"/>
                </a:solidFill>
                <a:latin typeface="Calibri"/>
                <a:ea typeface="Calibri"/>
                <a:cs typeface="Calibri"/>
                <a:sym typeface="Calibri"/>
              </a:rPr>
              <a:t xml:space="preserve">AI FOR GOOD </a:t>
            </a:r>
            <a:endParaRPr b="1" i="0" sz="2000" u="none" cap="none" strike="noStrike">
              <a:solidFill>
                <a:schemeClr val="dk1"/>
              </a:solidFill>
              <a:latin typeface="Calibri"/>
              <a:ea typeface="Calibri"/>
              <a:cs typeface="Calibri"/>
              <a:sym typeface="Calibri"/>
            </a:endParaRPr>
          </a:p>
        </p:txBody>
      </p:sp>
      <p:sp>
        <p:nvSpPr>
          <p:cNvPr id="554" name="Google Shape;554;p19"/>
          <p:cNvSpPr/>
          <p:nvPr/>
        </p:nvSpPr>
        <p:spPr>
          <a:xfrm>
            <a:off x="1955950" y="4791125"/>
            <a:ext cx="9594300" cy="10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568"/>
              </a:buClr>
              <a:buSzPts val="1400"/>
              <a:buFont typeface="Calibri"/>
              <a:buNone/>
            </a:pPr>
            <a:r>
              <a:rPr b="0" i="0" lang="en-US" sz="1900" u="none" cap="none" strike="noStrike">
                <a:solidFill>
                  <a:srgbClr val="4A5568"/>
                </a:solidFill>
                <a:latin typeface="Calibri"/>
                <a:ea typeface="Calibri"/>
                <a:cs typeface="Calibri"/>
                <a:sym typeface="Calibri"/>
              </a:rPr>
              <a:t>AI platforms already handle sensitive domains like health information with careful guardrails. We can do the same for legal — to help millions in need, for fairness, and to promote a healthy democracy.</a:t>
            </a:r>
            <a:endParaRPr b="0" i="0" sz="1900" u="none" cap="none" strike="noStrike">
              <a:solidFill>
                <a:schemeClr val="dk1"/>
              </a:solidFill>
              <a:latin typeface="Calibri"/>
              <a:ea typeface="Calibri"/>
              <a:cs typeface="Calibri"/>
              <a:sym typeface="Calibri"/>
            </a:endParaRPr>
          </a:p>
        </p:txBody>
      </p:sp>
      <p:sp>
        <p:nvSpPr>
          <p:cNvPr id="555" name="Google Shape;555;p19"/>
          <p:cNvSpPr/>
          <p:nvPr/>
        </p:nvSpPr>
        <p:spPr>
          <a:xfrm>
            <a:off x="673307" y="6115058"/>
            <a:ext cx="7315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8AB"/>
              </a:buClr>
              <a:buSzPts val="1100"/>
              <a:buFont typeface="Calibri"/>
              <a:buNone/>
            </a:pPr>
            <a:r>
              <a:rPr b="1" i="0" lang="en-US" sz="1800" u="none" cap="none" strike="noStrike">
                <a:solidFill>
                  <a:srgbClr val="8A98AB"/>
                </a:solidFill>
                <a:latin typeface="Calibri"/>
                <a:ea typeface="Calibri"/>
                <a:cs typeface="Calibri"/>
                <a:sym typeface="Calibri"/>
              </a:rPr>
              <a:t>THE ASK</a:t>
            </a:r>
            <a:endParaRPr b="0" i="0" sz="1800" u="none" cap="none" strike="noStrike">
              <a:solidFill>
                <a:schemeClr val="dk1"/>
              </a:solidFill>
              <a:latin typeface="Calibri"/>
              <a:ea typeface="Calibri"/>
              <a:cs typeface="Calibri"/>
              <a:sym typeface="Calibri"/>
            </a:endParaRPr>
          </a:p>
        </p:txBody>
      </p:sp>
      <p:sp>
        <p:nvSpPr>
          <p:cNvPr id="556" name="Google Shape;556;p19"/>
          <p:cNvSpPr/>
          <p:nvPr/>
        </p:nvSpPr>
        <p:spPr>
          <a:xfrm>
            <a:off x="11521440"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17</a:t>
            </a:r>
            <a:endParaRPr b="0" i="0" sz="1100" u="none" cap="none" strike="noStrike">
              <a:solidFill>
                <a:schemeClr val="dk1"/>
              </a:solidFill>
              <a:latin typeface="Calibri"/>
              <a:ea typeface="Calibri"/>
              <a:cs typeface="Calibri"/>
              <a:sym typeface="Calibri"/>
            </a:endParaRPr>
          </a:p>
        </p:txBody>
      </p:sp>
      <p:sp>
        <p:nvSpPr>
          <p:cNvPr id="557" name="Google Shape;557;p19"/>
          <p:cNvSpPr/>
          <p:nvPr/>
        </p:nvSpPr>
        <p:spPr>
          <a:xfrm>
            <a:off x="640080" y="6589182"/>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562" name="Shape 562"/>
        <p:cNvGrpSpPr/>
        <p:nvPr/>
      </p:nvGrpSpPr>
      <p:grpSpPr>
        <a:xfrm>
          <a:off x="0" y="0"/>
          <a:ext cx="0" cy="0"/>
          <a:chOff x="0" y="0"/>
          <a:chExt cx="0" cy="0"/>
        </a:xfrm>
      </p:grpSpPr>
      <p:sp>
        <p:nvSpPr>
          <p:cNvPr id="563" name="Google Shape;563;p20"/>
          <p:cNvSpPr/>
          <p:nvPr/>
        </p:nvSpPr>
        <p:spPr>
          <a:xfrm>
            <a:off x="640080" y="1371600"/>
            <a:ext cx="10881360"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Georgia"/>
              <a:buNone/>
            </a:pPr>
            <a:r>
              <a:rPr b="1" i="0" lang="en-US" sz="2700" u="none" cap="none" strike="noStrike">
                <a:solidFill>
                  <a:srgbClr val="FFFFFF"/>
                </a:solidFill>
                <a:latin typeface="Georgia"/>
                <a:ea typeface="Georgia"/>
                <a:cs typeface="Georgia"/>
                <a:sym typeface="Georgia"/>
              </a:rPr>
              <a:t>Goal: improve the infrastructure to deliver legal help to 1 million people who can't afford a lawyer.</a:t>
            </a:r>
            <a:endParaRPr b="0" i="0" sz="2700" u="none" cap="none" strike="noStrike">
              <a:solidFill>
                <a:schemeClr val="dk1"/>
              </a:solidFill>
              <a:latin typeface="Calibri"/>
              <a:ea typeface="Calibri"/>
              <a:cs typeface="Calibri"/>
              <a:sym typeface="Calibri"/>
            </a:endParaRPr>
          </a:p>
        </p:txBody>
      </p:sp>
      <p:sp>
        <p:nvSpPr>
          <p:cNvPr id="564" name="Google Shape;564;p20"/>
          <p:cNvSpPr/>
          <p:nvPr/>
        </p:nvSpPr>
        <p:spPr>
          <a:xfrm>
            <a:off x="685800" y="3017520"/>
            <a:ext cx="2194560" cy="36576"/>
          </a:xfrm>
          <a:prstGeom prst="rect">
            <a:avLst/>
          </a:prstGeom>
          <a:solidFill>
            <a:srgbClr val="2A9D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65" name="Google Shape;565;p20"/>
          <p:cNvPicPr preferRelativeResize="0"/>
          <p:nvPr/>
        </p:nvPicPr>
        <p:blipFill rotWithShape="1">
          <a:blip r:embed="rId3">
            <a:alphaModFix/>
          </a:blip>
          <a:srcRect b="0" l="0" r="0" t="0"/>
          <a:stretch/>
        </p:blipFill>
        <p:spPr>
          <a:xfrm>
            <a:off x="640080" y="3474720"/>
            <a:ext cx="640080" cy="640080"/>
          </a:xfrm>
          <a:prstGeom prst="rect">
            <a:avLst/>
          </a:prstGeom>
          <a:noFill/>
          <a:ln>
            <a:noFill/>
          </a:ln>
        </p:spPr>
      </p:pic>
      <p:pic>
        <p:nvPicPr>
          <p:cNvPr descr="preencoded.png" id="566" name="Google Shape;566;p20"/>
          <p:cNvPicPr preferRelativeResize="0"/>
          <p:nvPr/>
        </p:nvPicPr>
        <p:blipFill rotWithShape="1">
          <a:blip r:embed="rId4">
            <a:alphaModFix/>
          </a:blip>
          <a:srcRect b="0" l="0" r="0" t="0"/>
          <a:stretch/>
        </p:blipFill>
        <p:spPr>
          <a:xfrm>
            <a:off x="1554480" y="3630168"/>
            <a:ext cx="457200" cy="329184"/>
          </a:xfrm>
          <a:prstGeom prst="rect">
            <a:avLst/>
          </a:prstGeom>
          <a:noFill/>
          <a:ln>
            <a:noFill/>
          </a:ln>
        </p:spPr>
      </p:pic>
      <p:pic>
        <p:nvPicPr>
          <p:cNvPr descr="preencoded.png" id="567" name="Google Shape;567;p20"/>
          <p:cNvPicPr preferRelativeResize="0"/>
          <p:nvPr/>
        </p:nvPicPr>
        <p:blipFill rotWithShape="1">
          <a:blip r:embed="rId5">
            <a:alphaModFix/>
          </a:blip>
          <a:srcRect b="0" l="0" r="0" t="0"/>
          <a:stretch/>
        </p:blipFill>
        <p:spPr>
          <a:xfrm>
            <a:off x="2286000" y="3429000"/>
            <a:ext cx="219456" cy="219456"/>
          </a:xfrm>
          <a:prstGeom prst="rect">
            <a:avLst/>
          </a:prstGeom>
          <a:noFill/>
          <a:ln>
            <a:noFill/>
          </a:ln>
        </p:spPr>
      </p:pic>
      <p:pic>
        <p:nvPicPr>
          <p:cNvPr descr="preencoded.png" id="568" name="Google Shape;568;p20"/>
          <p:cNvPicPr preferRelativeResize="0"/>
          <p:nvPr/>
        </p:nvPicPr>
        <p:blipFill rotWithShape="1">
          <a:blip r:embed="rId5">
            <a:alphaModFix/>
          </a:blip>
          <a:srcRect b="0" l="0" r="0" t="0"/>
          <a:stretch/>
        </p:blipFill>
        <p:spPr>
          <a:xfrm>
            <a:off x="2596896" y="3429000"/>
            <a:ext cx="219456" cy="219456"/>
          </a:xfrm>
          <a:prstGeom prst="rect">
            <a:avLst/>
          </a:prstGeom>
          <a:noFill/>
          <a:ln>
            <a:noFill/>
          </a:ln>
        </p:spPr>
      </p:pic>
      <p:pic>
        <p:nvPicPr>
          <p:cNvPr descr="preencoded.png" id="569" name="Google Shape;569;p20"/>
          <p:cNvPicPr preferRelativeResize="0"/>
          <p:nvPr/>
        </p:nvPicPr>
        <p:blipFill rotWithShape="1">
          <a:blip r:embed="rId5">
            <a:alphaModFix/>
          </a:blip>
          <a:srcRect b="0" l="0" r="0" t="0"/>
          <a:stretch/>
        </p:blipFill>
        <p:spPr>
          <a:xfrm>
            <a:off x="2907792" y="3429000"/>
            <a:ext cx="219456" cy="219456"/>
          </a:xfrm>
          <a:prstGeom prst="rect">
            <a:avLst/>
          </a:prstGeom>
          <a:noFill/>
          <a:ln>
            <a:noFill/>
          </a:ln>
        </p:spPr>
      </p:pic>
      <p:pic>
        <p:nvPicPr>
          <p:cNvPr descr="preencoded.png" id="570" name="Google Shape;570;p20"/>
          <p:cNvPicPr preferRelativeResize="0"/>
          <p:nvPr/>
        </p:nvPicPr>
        <p:blipFill rotWithShape="1">
          <a:blip r:embed="rId5">
            <a:alphaModFix/>
          </a:blip>
          <a:srcRect b="0" l="0" r="0" t="0"/>
          <a:stretch/>
        </p:blipFill>
        <p:spPr>
          <a:xfrm>
            <a:off x="3218688" y="3429000"/>
            <a:ext cx="219456" cy="219456"/>
          </a:xfrm>
          <a:prstGeom prst="rect">
            <a:avLst/>
          </a:prstGeom>
          <a:noFill/>
          <a:ln>
            <a:noFill/>
          </a:ln>
        </p:spPr>
      </p:pic>
      <p:pic>
        <p:nvPicPr>
          <p:cNvPr descr="preencoded.png" id="571" name="Google Shape;571;p20"/>
          <p:cNvPicPr preferRelativeResize="0"/>
          <p:nvPr/>
        </p:nvPicPr>
        <p:blipFill rotWithShape="1">
          <a:blip r:embed="rId5">
            <a:alphaModFix/>
          </a:blip>
          <a:srcRect b="0" l="0" r="0" t="0"/>
          <a:stretch/>
        </p:blipFill>
        <p:spPr>
          <a:xfrm>
            <a:off x="3529584" y="3429000"/>
            <a:ext cx="219456" cy="219456"/>
          </a:xfrm>
          <a:prstGeom prst="rect">
            <a:avLst/>
          </a:prstGeom>
          <a:noFill/>
          <a:ln>
            <a:noFill/>
          </a:ln>
        </p:spPr>
      </p:pic>
      <p:pic>
        <p:nvPicPr>
          <p:cNvPr descr="preencoded.png" id="572" name="Google Shape;572;p20"/>
          <p:cNvPicPr preferRelativeResize="0"/>
          <p:nvPr/>
        </p:nvPicPr>
        <p:blipFill rotWithShape="1">
          <a:blip r:embed="rId5">
            <a:alphaModFix/>
          </a:blip>
          <a:srcRect b="0" l="0" r="0" t="0"/>
          <a:stretch/>
        </p:blipFill>
        <p:spPr>
          <a:xfrm>
            <a:off x="3840480" y="3429000"/>
            <a:ext cx="219456" cy="219456"/>
          </a:xfrm>
          <a:prstGeom prst="rect">
            <a:avLst/>
          </a:prstGeom>
          <a:noFill/>
          <a:ln>
            <a:noFill/>
          </a:ln>
        </p:spPr>
      </p:pic>
      <p:pic>
        <p:nvPicPr>
          <p:cNvPr descr="preencoded.png" id="573" name="Google Shape;573;p20"/>
          <p:cNvPicPr preferRelativeResize="0"/>
          <p:nvPr/>
        </p:nvPicPr>
        <p:blipFill rotWithShape="1">
          <a:blip r:embed="rId5">
            <a:alphaModFix/>
          </a:blip>
          <a:srcRect b="0" l="0" r="0" t="0"/>
          <a:stretch/>
        </p:blipFill>
        <p:spPr>
          <a:xfrm>
            <a:off x="4151376" y="3429000"/>
            <a:ext cx="219456" cy="219456"/>
          </a:xfrm>
          <a:prstGeom prst="rect">
            <a:avLst/>
          </a:prstGeom>
          <a:noFill/>
          <a:ln>
            <a:noFill/>
          </a:ln>
        </p:spPr>
      </p:pic>
      <p:pic>
        <p:nvPicPr>
          <p:cNvPr descr="preencoded.png" id="574" name="Google Shape;574;p20"/>
          <p:cNvPicPr preferRelativeResize="0"/>
          <p:nvPr/>
        </p:nvPicPr>
        <p:blipFill rotWithShape="1">
          <a:blip r:embed="rId5">
            <a:alphaModFix/>
          </a:blip>
          <a:srcRect b="0" l="0" r="0" t="0"/>
          <a:stretch/>
        </p:blipFill>
        <p:spPr>
          <a:xfrm>
            <a:off x="4462272" y="3429000"/>
            <a:ext cx="219456" cy="219456"/>
          </a:xfrm>
          <a:prstGeom prst="rect">
            <a:avLst/>
          </a:prstGeom>
          <a:noFill/>
          <a:ln>
            <a:noFill/>
          </a:ln>
        </p:spPr>
      </p:pic>
      <p:pic>
        <p:nvPicPr>
          <p:cNvPr descr="preencoded.png" id="575" name="Google Shape;575;p20"/>
          <p:cNvPicPr preferRelativeResize="0"/>
          <p:nvPr/>
        </p:nvPicPr>
        <p:blipFill rotWithShape="1">
          <a:blip r:embed="rId5">
            <a:alphaModFix/>
          </a:blip>
          <a:srcRect b="0" l="0" r="0" t="0"/>
          <a:stretch/>
        </p:blipFill>
        <p:spPr>
          <a:xfrm>
            <a:off x="4773168" y="3429000"/>
            <a:ext cx="219456" cy="219456"/>
          </a:xfrm>
          <a:prstGeom prst="rect">
            <a:avLst/>
          </a:prstGeom>
          <a:noFill/>
          <a:ln>
            <a:noFill/>
          </a:ln>
        </p:spPr>
      </p:pic>
      <p:pic>
        <p:nvPicPr>
          <p:cNvPr descr="preencoded.png" id="576" name="Google Shape;576;p20"/>
          <p:cNvPicPr preferRelativeResize="0"/>
          <p:nvPr/>
        </p:nvPicPr>
        <p:blipFill rotWithShape="1">
          <a:blip r:embed="rId5">
            <a:alphaModFix/>
          </a:blip>
          <a:srcRect b="0" l="0" r="0" t="0"/>
          <a:stretch/>
        </p:blipFill>
        <p:spPr>
          <a:xfrm>
            <a:off x="5084064" y="3429000"/>
            <a:ext cx="219456" cy="219456"/>
          </a:xfrm>
          <a:prstGeom prst="rect">
            <a:avLst/>
          </a:prstGeom>
          <a:noFill/>
          <a:ln>
            <a:noFill/>
          </a:ln>
        </p:spPr>
      </p:pic>
      <p:pic>
        <p:nvPicPr>
          <p:cNvPr descr="preencoded.png" id="577" name="Google Shape;577;p20"/>
          <p:cNvPicPr preferRelativeResize="0"/>
          <p:nvPr/>
        </p:nvPicPr>
        <p:blipFill rotWithShape="1">
          <a:blip r:embed="rId5">
            <a:alphaModFix/>
          </a:blip>
          <a:srcRect b="0" l="0" r="0" t="0"/>
          <a:stretch/>
        </p:blipFill>
        <p:spPr>
          <a:xfrm>
            <a:off x="5394960" y="3429000"/>
            <a:ext cx="219456" cy="219456"/>
          </a:xfrm>
          <a:prstGeom prst="rect">
            <a:avLst/>
          </a:prstGeom>
          <a:noFill/>
          <a:ln>
            <a:noFill/>
          </a:ln>
        </p:spPr>
      </p:pic>
      <p:pic>
        <p:nvPicPr>
          <p:cNvPr descr="preencoded.png" id="578" name="Google Shape;578;p20"/>
          <p:cNvPicPr preferRelativeResize="0"/>
          <p:nvPr/>
        </p:nvPicPr>
        <p:blipFill rotWithShape="1">
          <a:blip r:embed="rId5">
            <a:alphaModFix/>
          </a:blip>
          <a:srcRect b="0" l="0" r="0" t="0"/>
          <a:stretch/>
        </p:blipFill>
        <p:spPr>
          <a:xfrm>
            <a:off x="5705856" y="3429000"/>
            <a:ext cx="219456" cy="219456"/>
          </a:xfrm>
          <a:prstGeom prst="rect">
            <a:avLst/>
          </a:prstGeom>
          <a:noFill/>
          <a:ln>
            <a:noFill/>
          </a:ln>
        </p:spPr>
      </p:pic>
      <p:pic>
        <p:nvPicPr>
          <p:cNvPr descr="preencoded.png" id="579" name="Google Shape;579;p20"/>
          <p:cNvPicPr preferRelativeResize="0"/>
          <p:nvPr/>
        </p:nvPicPr>
        <p:blipFill rotWithShape="1">
          <a:blip r:embed="rId5">
            <a:alphaModFix/>
          </a:blip>
          <a:srcRect b="0" l="0" r="0" t="0"/>
          <a:stretch/>
        </p:blipFill>
        <p:spPr>
          <a:xfrm>
            <a:off x="6016752" y="3429000"/>
            <a:ext cx="219456" cy="219456"/>
          </a:xfrm>
          <a:prstGeom prst="rect">
            <a:avLst/>
          </a:prstGeom>
          <a:noFill/>
          <a:ln>
            <a:noFill/>
          </a:ln>
        </p:spPr>
      </p:pic>
      <p:pic>
        <p:nvPicPr>
          <p:cNvPr descr="preencoded.png" id="580" name="Google Shape;580;p20"/>
          <p:cNvPicPr preferRelativeResize="0"/>
          <p:nvPr/>
        </p:nvPicPr>
        <p:blipFill rotWithShape="1">
          <a:blip r:embed="rId5">
            <a:alphaModFix/>
          </a:blip>
          <a:srcRect b="0" l="0" r="0" t="0"/>
          <a:stretch/>
        </p:blipFill>
        <p:spPr>
          <a:xfrm>
            <a:off x="6327648" y="3429000"/>
            <a:ext cx="219456" cy="219456"/>
          </a:xfrm>
          <a:prstGeom prst="rect">
            <a:avLst/>
          </a:prstGeom>
          <a:noFill/>
          <a:ln>
            <a:noFill/>
          </a:ln>
        </p:spPr>
      </p:pic>
      <p:pic>
        <p:nvPicPr>
          <p:cNvPr descr="preencoded.png" id="581" name="Google Shape;581;p20"/>
          <p:cNvPicPr preferRelativeResize="0"/>
          <p:nvPr/>
        </p:nvPicPr>
        <p:blipFill rotWithShape="1">
          <a:blip r:embed="rId5">
            <a:alphaModFix/>
          </a:blip>
          <a:srcRect b="0" l="0" r="0" t="0"/>
          <a:stretch/>
        </p:blipFill>
        <p:spPr>
          <a:xfrm>
            <a:off x="2286000" y="3794760"/>
            <a:ext cx="219456" cy="219456"/>
          </a:xfrm>
          <a:prstGeom prst="rect">
            <a:avLst/>
          </a:prstGeom>
          <a:noFill/>
          <a:ln>
            <a:noFill/>
          </a:ln>
        </p:spPr>
      </p:pic>
      <p:pic>
        <p:nvPicPr>
          <p:cNvPr descr="preencoded.png" id="582" name="Google Shape;582;p20"/>
          <p:cNvPicPr preferRelativeResize="0"/>
          <p:nvPr/>
        </p:nvPicPr>
        <p:blipFill rotWithShape="1">
          <a:blip r:embed="rId5">
            <a:alphaModFix/>
          </a:blip>
          <a:srcRect b="0" l="0" r="0" t="0"/>
          <a:stretch/>
        </p:blipFill>
        <p:spPr>
          <a:xfrm>
            <a:off x="2596896" y="3794760"/>
            <a:ext cx="219456" cy="219456"/>
          </a:xfrm>
          <a:prstGeom prst="rect">
            <a:avLst/>
          </a:prstGeom>
          <a:noFill/>
          <a:ln>
            <a:noFill/>
          </a:ln>
        </p:spPr>
      </p:pic>
      <p:pic>
        <p:nvPicPr>
          <p:cNvPr descr="preencoded.png" id="583" name="Google Shape;583;p20"/>
          <p:cNvPicPr preferRelativeResize="0"/>
          <p:nvPr/>
        </p:nvPicPr>
        <p:blipFill rotWithShape="1">
          <a:blip r:embed="rId5">
            <a:alphaModFix/>
          </a:blip>
          <a:srcRect b="0" l="0" r="0" t="0"/>
          <a:stretch/>
        </p:blipFill>
        <p:spPr>
          <a:xfrm>
            <a:off x="2907792" y="3794760"/>
            <a:ext cx="219456" cy="219456"/>
          </a:xfrm>
          <a:prstGeom prst="rect">
            <a:avLst/>
          </a:prstGeom>
          <a:noFill/>
          <a:ln>
            <a:noFill/>
          </a:ln>
        </p:spPr>
      </p:pic>
      <p:pic>
        <p:nvPicPr>
          <p:cNvPr descr="preencoded.png" id="584" name="Google Shape;584;p20"/>
          <p:cNvPicPr preferRelativeResize="0"/>
          <p:nvPr/>
        </p:nvPicPr>
        <p:blipFill rotWithShape="1">
          <a:blip r:embed="rId5">
            <a:alphaModFix/>
          </a:blip>
          <a:srcRect b="0" l="0" r="0" t="0"/>
          <a:stretch/>
        </p:blipFill>
        <p:spPr>
          <a:xfrm>
            <a:off x="3218688" y="3794760"/>
            <a:ext cx="219456" cy="219456"/>
          </a:xfrm>
          <a:prstGeom prst="rect">
            <a:avLst/>
          </a:prstGeom>
          <a:noFill/>
          <a:ln>
            <a:noFill/>
          </a:ln>
        </p:spPr>
      </p:pic>
      <p:pic>
        <p:nvPicPr>
          <p:cNvPr descr="preencoded.png" id="585" name="Google Shape;585;p20"/>
          <p:cNvPicPr preferRelativeResize="0"/>
          <p:nvPr/>
        </p:nvPicPr>
        <p:blipFill rotWithShape="1">
          <a:blip r:embed="rId5">
            <a:alphaModFix/>
          </a:blip>
          <a:srcRect b="0" l="0" r="0" t="0"/>
          <a:stretch/>
        </p:blipFill>
        <p:spPr>
          <a:xfrm>
            <a:off x="3529584" y="3794760"/>
            <a:ext cx="219456" cy="219456"/>
          </a:xfrm>
          <a:prstGeom prst="rect">
            <a:avLst/>
          </a:prstGeom>
          <a:noFill/>
          <a:ln>
            <a:noFill/>
          </a:ln>
        </p:spPr>
      </p:pic>
      <p:pic>
        <p:nvPicPr>
          <p:cNvPr descr="preencoded.png" id="586" name="Google Shape;586;p20"/>
          <p:cNvPicPr preferRelativeResize="0"/>
          <p:nvPr/>
        </p:nvPicPr>
        <p:blipFill rotWithShape="1">
          <a:blip r:embed="rId5">
            <a:alphaModFix/>
          </a:blip>
          <a:srcRect b="0" l="0" r="0" t="0"/>
          <a:stretch/>
        </p:blipFill>
        <p:spPr>
          <a:xfrm>
            <a:off x="3840480" y="3794760"/>
            <a:ext cx="219456" cy="219456"/>
          </a:xfrm>
          <a:prstGeom prst="rect">
            <a:avLst/>
          </a:prstGeom>
          <a:noFill/>
          <a:ln>
            <a:noFill/>
          </a:ln>
        </p:spPr>
      </p:pic>
      <p:pic>
        <p:nvPicPr>
          <p:cNvPr descr="preencoded.png" id="587" name="Google Shape;587;p20"/>
          <p:cNvPicPr preferRelativeResize="0"/>
          <p:nvPr/>
        </p:nvPicPr>
        <p:blipFill rotWithShape="1">
          <a:blip r:embed="rId5">
            <a:alphaModFix/>
          </a:blip>
          <a:srcRect b="0" l="0" r="0" t="0"/>
          <a:stretch/>
        </p:blipFill>
        <p:spPr>
          <a:xfrm>
            <a:off x="4151376" y="3794760"/>
            <a:ext cx="219456" cy="219456"/>
          </a:xfrm>
          <a:prstGeom prst="rect">
            <a:avLst/>
          </a:prstGeom>
          <a:noFill/>
          <a:ln>
            <a:noFill/>
          </a:ln>
        </p:spPr>
      </p:pic>
      <p:pic>
        <p:nvPicPr>
          <p:cNvPr descr="preencoded.png" id="588" name="Google Shape;588;p20"/>
          <p:cNvPicPr preferRelativeResize="0"/>
          <p:nvPr/>
        </p:nvPicPr>
        <p:blipFill rotWithShape="1">
          <a:blip r:embed="rId5">
            <a:alphaModFix/>
          </a:blip>
          <a:srcRect b="0" l="0" r="0" t="0"/>
          <a:stretch/>
        </p:blipFill>
        <p:spPr>
          <a:xfrm>
            <a:off x="4462272" y="3794760"/>
            <a:ext cx="219456" cy="219456"/>
          </a:xfrm>
          <a:prstGeom prst="rect">
            <a:avLst/>
          </a:prstGeom>
          <a:noFill/>
          <a:ln>
            <a:noFill/>
          </a:ln>
        </p:spPr>
      </p:pic>
      <p:pic>
        <p:nvPicPr>
          <p:cNvPr descr="preencoded.png" id="589" name="Google Shape;589;p20"/>
          <p:cNvPicPr preferRelativeResize="0"/>
          <p:nvPr/>
        </p:nvPicPr>
        <p:blipFill rotWithShape="1">
          <a:blip r:embed="rId5">
            <a:alphaModFix/>
          </a:blip>
          <a:srcRect b="0" l="0" r="0" t="0"/>
          <a:stretch/>
        </p:blipFill>
        <p:spPr>
          <a:xfrm>
            <a:off x="4773168" y="3794760"/>
            <a:ext cx="219456" cy="219456"/>
          </a:xfrm>
          <a:prstGeom prst="rect">
            <a:avLst/>
          </a:prstGeom>
          <a:noFill/>
          <a:ln>
            <a:noFill/>
          </a:ln>
        </p:spPr>
      </p:pic>
      <p:pic>
        <p:nvPicPr>
          <p:cNvPr descr="preencoded.png" id="590" name="Google Shape;590;p20"/>
          <p:cNvPicPr preferRelativeResize="0"/>
          <p:nvPr/>
        </p:nvPicPr>
        <p:blipFill rotWithShape="1">
          <a:blip r:embed="rId5">
            <a:alphaModFix/>
          </a:blip>
          <a:srcRect b="0" l="0" r="0" t="0"/>
          <a:stretch/>
        </p:blipFill>
        <p:spPr>
          <a:xfrm>
            <a:off x="5084064" y="3794760"/>
            <a:ext cx="219456" cy="219456"/>
          </a:xfrm>
          <a:prstGeom prst="rect">
            <a:avLst/>
          </a:prstGeom>
          <a:noFill/>
          <a:ln>
            <a:noFill/>
          </a:ln>
        </p:spPr>
      </p:pic>
      <p:pic>
        <p:nvPicPr>
          <p:cNvPr descr="preencoded.png" id="591" name="Google Shape;591;p20"/>
          <p:cNvPicPr preferRelativeResize="0"/>
          <p:nvPr/>
        </p:nvPicPr>
        <p:blipFill rotWithShape="1">
          <a:blip r:embed="rId5">
            <a:alphaModFix/>
          </a:blip>
          <a:srcRect b="0" l="0" r="0" t="0"/>
          <a:stretch/>
        </p:blipFill>
        <p:spPr>
          <a:xfrm>
            <a:off x="5394960" y="3794760"/>
            <a:ext cx="219456" cy="219456"/>
          </a:xfrm>
          <a:prstGeom prst="rect">
            <a:avLst/>
          </a:prstGeom>
          <a:noFill/>
          <a:ln>
            <a:noFill/>
          </a:ln>
        </p:spPr>
      </p:pic>
      <p:pic>
        <p:nvPicPr>
          <p:cNvPr descr="preencoded.png" id="592" name="Google Shape;592;p20"/>
          <p:cNvPicPr preferRelativeResize="0"/>
          <p:nvPr/>
        </p:nvPicPr>
        <p:blipFill rotWithShape="1">
          <a:blip r:embed="rId5">
            <a:alphaModFix/>
          </a:blip>
          <a:srcRect b="0" l="0" r="0" t="0"/>
          <a:stretch/>
        </p:blipFill>
        <p:spPr>
          <a:xfrm>
            <a:off x="5705856" y="3794760"/>
            <a:ext cx="219456" cy="219456"/>
          </a:xfrm>
          <a:prstGeom prst="rect">
            <a:avLst/>
          </a:prstGeom>
          <a:noFill/>
          <a:ln>
            <a:noFill/>
          </a:ln>
        </p:spPr>
      </p:pic>
      <p:pic>
        <p:nvPicPr>
          <p:cNvPr descr="preencoded.png" id="593" name="Google Shape;593;p20"/>
          <p:cNvPicPr preferRelativeResize="0"/>
          <p:nvPr/>
        </p:nvPicPr>
        <p:blipFill rotWithShape="1">
          <a:blip r:embed="rId5">
            <a:alphaModFix/>
          </a:blip>
          <a:srcRect b="0" l="0" r="0" t="0"/>
          <a:stretch/>
        </p:blipFill>
        <p:spPr>
          <a:xfrm>
            <a:off x="6016752" y="3794760"/>
            <a:ext cx="219456" cy="219456"/>
          </a:xfrm>
          <a:prstGeom prst="rect">
            <a:avLst/>
          </a:prstGeom>
          <a:noFill/>
          <a:ln>
            <a:noFill/>
          </a:ln>
        </p:spPr>
      </p:pic>
      <p:pic>
        <p:nvPicPr>
          <p:cNvPr descr="preencoded.png" id="594" name="Google Shape;594;p20"/>
          <p:cNvPicPr preferRelativeResize="0"/>
          <p:nvPr/>
        </p:nvPicPr>
        <p:blipFill rotWithShape="1">
          <a:blip r:embed="rId5">
            <a:alphaModFix/>
          </a:blip>
          <a:srcRect b="0" l="0" r="0" t="0"/>
          <a:stretch/>
        </p:blipFill>
        <p:spPr>
          <a:xfrm>
            <a:off x="6327648" y="3794760"/>
            <a:ext cx="219456" cy="219456"/>
          </a:xfrm>
          <a:prstGeom prst="rect">
            <a:avLst/>
          </a:prstGeom>
          <a:noFill/>
          <a:ln>
            <a:noFill/>
          </a:ln>
        </p:spPr>
      </p:pic>
      <p:pic>
        <p:nvPicPr>
          <p:cNvPr descr="preencoded.png" id="595" name="Google Shape;595;p20"/>
          <p:cNvPicPr preferRelativeResize="0"/>
          <p:nvPr/>
        </p:nvPicPr>
        <p:blipFill rotWithShape="1">
          <a:blip r:embed="rId5">
            <a:alphaModFix/>
          </a:blip>
          <a:srcRect b="0" l="0" r="0" t="0"/>
          <a:stretch/>
        </p:blipFill>
        <p:spPr>
          <a:xfrm>
            <a:off x="2286000" y="4160520"/>
            <a:ext cx="219456" cy="219456"/>
          </a:xfrm>
          <a:prstGeom prst="rect">
            <a:avLst/>
          </a:prstGeom>
          <a:noFill/>
          <a:ln>
            <a:noFill/>
          </a:ln>
        </p:spPr>
      </p:pic>
      <p:pic>
        <p:nvPicPr>
          <p:cNvPr descr="preencoded.png" id="596" name="Google Shape;596;p20"/>
          <p:cNvPicPr preferRelativeResize="0"/>
          <p:nvPr/>
        </p:nvPicPr>
        <p:blipFill rotWithShape="1">
          <a:blip r:embed="rId5">
            <a:alphaModFix/>
          </a:blip>
          <a:srcRect b="0" l="0" r="0" t="0"/>
          <a:stretch/>
        </p:blipFill>
        <p:spPr>
          <a:xfrm>
            <a:off x="2596896" y="4160520"/>
            <a:ext cx="219456" cy="219456"/>
          </a:xfrm>
          <a:prstGeom prst="rect">
            <a:avLst/>
          </a:prstGeom>
          <a:noFill/>
          <a:ln>
            <a:noFill/>
          </a:ln>
        </p:spPr>
      </p:pic>
      <p:pic>
        <p:nvPicPr>
          <p:cNvPr descr="preencoded.png" id="597" name="Google Shape;597;p20"/>
          <p:cNvPicPr preferRelativeResize="0"/>
          <p:nvPr/>
        </p:nvPicPr>
        <p:blipFill rotWithShape="1">
          <a:blip r:embed="rId5">
            <a:alphaModFix/>
          </a:blip>
          <a:srcRect b="0" l="0" r="0" t="0"/>
          <a:stretch/>
        </p:blipFill>
        <p:spPr>
          <a:xfrm>
            <a:off x="2907792" y="4160520"/>
            <a:ext cx="219456" cy="219456"/>
          </a:xfrm>
          <a:prstGeom prst="rect">
            <a:avLst/>
          </a:prstGeom>
          <a:noFill/>
          <a:ln>
            <a:noFill/>
          </a:ln>
        </p:spPr>
      </p:pic>
      <p:pic>
        <p:nvPicPr>
          <p:cNvPr descr="preencoded.png" id="598" name="Google Shape;598;p20"/>
          <p:cNvPicPr preferRelativeResize="0"/>
          <p:nvPr/>
        </p:nvPicPr>
        <p:blipFill rotWithShape="1">
          <a:blip r:embed="rId5">
            <a:alphaModFix/>
          </a:blip>
          <a:srcRect b="0" l="0" r="0" t="0"/>
          <a:stretch/>
        </p:blipFill>
        <p:spPr>
          <a:xfrm>
            <a:off x="3218688" y="4160520"/>
            <a:ext cx="219456" cy="219456"/>
          </a:xfrm>
          <a:prstGeom prst="rect">
            <a:avLst/>
          </a:prstGeom>
          <a:noFill/>
          <a:ln>
            <a:noFill/>
          </a:ln>
        </p:spPr>
      </p:pic>
      <p:pic>
        <p:nvPicPr>
          <p:cNvPr descr="preencoded.png" id="599" name="Google Shape;599;p20"/>
          <p:cNvPicPr preferRelativeResize="0"/>
          <p:nvPr/>
        </p:nvPicPr>
        <p:blipFill rotWithShape="1">
          <a:blip r:embed="rId5">
            <a:alphaModFix/>
          </a:blip>
          <a:srcRect b="0" l="0" r="0" t="0"/>
          <a:stretch/>
        </p:blipFill>
        <p:spPr>
          <a:xfrm>
            <a:off x="3529584" y="4160520"/>
            <a:ext cx="219456" cy="219456"/>
          </a:xfrm>
          <a:prstGeom prst="rect">
            <a:avLst/>
          </a:prstGeom>
          <a:noFill/>
          <a:ln>
            <a:noFill/>
          </a:ln>
        </p:spPr>
      </p:pic>
      <p:pic>
        <p:nvPicPr>
          <p:cNvPr descr="preencoded.png" id="600" name="Google Shape;600;p20"/>
          <p:cNvPicPr preferRelativeResize="0"/>
          <p:nvPr/>
        </p:nvPicPr>
        <p:blipFill rotWithShape="1">
          <a:blip r:embed="rId5">
            <a:alphaModFix/>
          </a:blip>
          <a:srcRect b="0" l="0" r="0" t="0"/>
          <a:stretch/>
        </p:blipFill>
        <p:spPr>
          <a:xfrm>
            <a:off x="3840480" y="4160520"/>
            <a:ext cx="219456" cy="219456"/>
          </a:xfrm>
          <a:prstGeom prst="rect">
            <a:avLst/>
          </a:prstGeom>
          <a:noFill/>
          <a:ln>
            <a:noFill/>
          </a:ln>
        </p:spPr>
      </p:pic>
      <p:pic>
        <p:nvPicPr>
          <p:cNvPr descr="preencoded.png" id="601" name="Google Shape;601;p20"/>
          <p:cNvPicPr preferRelativeResize="0"/>
          <p:nvPr/>
        </p:nvPicPr>
        <p:blipFill rotWithShape="1">
          <a:blip r:embed="rId5">
            <a:alphaModFix/>
          </a:blip>
          <a:srcRect b="0" l="0" r="0" t="0"/>
          <a:stretch/>
        </p:blipFill>
        <p:spPr>
          <a:xfrm>
            <a:off x="4151376" y="4160520"/>
            <a:ext cx="219456" cy="219456"/>
          </a:xfrm>
          <a:prstGeom prst="rect">
            <a:avLst/>
          </a:prstGeom>
          <a:noFill/>
          <a:ln>
            <a:noFill/>
          </a:ln>
        </p:spPr>
      </p:pic>
      <p:pic>
        <p:nvPicPr>
          <p:cNvPr descr="preencoded.png" id="602" name="Google Shape;602;p20"/>
          <p:cNvPicPr preferRelativeResize="0"/>
          <p:nvPr/>
        </p:nvPicPr>
        <p:blipFill rotWithShape="1">
          <a:blip r:embed="rId5">
            <a:alphaModFix/>
          </a:blip>
          <a:srcRect b="0" l="0" r="0" t="0"/>
          <a:stretch/>
        </p:blipFill>
        <p:spPr>
          <a:xfrm>
            <a:off x="4462272" y="4160520"/>
            <a:ext cx="219456" cy="219456"/>
          </a:xfrm>
          <a:prstGeom prst="rect">
            <a:avLst/>
          </a:prstGeom>
          <a:noFill/>
          <a:ln>
            <a:noFill/>
          </a:ln>
        </p:spPr>
      </p:pic>
      <p:pic>
        <p:nvPicPr>
          <p:cNvPr descr="preencoded.png" id="603" name="Google Shape;603;p20"/>
          <p:cNvPicPr preferRelativeResize="0"/>
          <p:nvPr/>
        </p:nvPicPr>
        <p:blipFill rotWithShape="1">
          <a:blip r:embed="rId5">
            <a:alphaModFix/>
          </a:blip>
          <a:srcRect b="0" l="0" r="0" t="0"/>
          <a:stretch/>
        </p:blipFill>
        <p:spPr>
          <a:xfrm>
            <a:off x="4773168" y="4160520"/>
            <a:ext cx="219456" cy="219456"/>
          </a:xfrm>
          <a:prstGeom prst="rect">
            <a:avLst/>
          </a:prstGeom>
          <a:noFill/>
          <a:ln>
            <a:noFill/>
          </a:ln>
        </p:spPr>
      </p:pic>
      <p:pic>
        <p:nvPicPr>
          <p:cNvPr descr="preencoded.png" id="604" name="Google Shape;604;p20"/>
          <p:cNvPicPr preferRelativeResize="0"/>
          <p:nvPr/>
        </p:nvPicPr>
        <p:blipFill rotWithShape="1">
          <a:blip r:embed="rId5">
            <a:alphaModFix/>
          </a:blip>
          <a:srcRect b="0" l="0" r="0" t="0"/>
          <a:stretch/>
        </p:blipFill>
        <p:spPr>
          <a:xfrm>
            <a:off x="5084064" y="4160520"/>
            <a:ext cx="219456" cy="219456"/>
          </a:xfrm>
          <a:prstGeom prst="rect">
            <a:avLst/>
          </a:prstGeom>
          <a:noFill/>
          <a:ln>
            <a:noFill/>
          </a:ln>
        </p:spPr>
      </p:pic>
      <p:pic>
        <p:nvPicPr>
          <p:cNvPr descr="preencoded.png" id="605" name="Google Shape;605;p20"/>
          <p:cNvPicPr preferRelativeResize="0"/>
          <p:nvPr/>
        </p:nvPicPr>
        <p:blipFill rotWithShape="1">
          <a:blip r:embed="rId5">
            <a:alphaModFix/>
          </a:blip>
          <a:srcRect b="0" l="0" r="0" t="0"/>
          <a:stretch/>
        </p:blipFill>
        <p:spPr>
          <a:xfrm>
            <a:off x="5394960" y="4160520"/>
            <a:ext cx="219456" cy="219456"/>
          </a:xfrm>
          <a:prstGeom prst="rect">
            <a:avLst/>
          </a:prstGeom>
          <a:noFill/>
          <a:ln>
            <a:noFill/>
          </a:ln>
        </p:spPr>
      </p:pic>
      <p:pic>
        <p:nvPicPr>
          <p:cNvPr descr="preencoded.png" id="606" name="Google Shape;606;p20"/>
          <p:cNvPicPr preferRelativeResize="0"/>
          <p:nvPr/>
        </p:nvPicPr>
        <p:blipFill rotWithShape="1">
          <a:blip r:embed="rId5">
            <a:alphaModFix/>
          </a:blip>
          <a:srcRect b="0" l="0" r="0" t="0"/>
          <a:stretch/>
        </p:blipFill>
        <p:spPr>
          <a:xfrm>
            <a:off x="5705856" y="4160520"/>
            <a:ext cx="219456" cy="219456"/>
          </a:xfrm>
          <a:prstGeom prst="rect">
            <a:avLst/>
          </a:prstGeom>
          <a:noFill/>
          <a:ln>
            <a:noFill/>
          </a:ln>
        </p:spPr>
      </p:pic>
      <p:pic>
        <p:nvPicPr>
          <p:cNvPr descr="preencoded.png" id="607" name="Google Shape;607;p20"/>
          <p:cNvPicPr preferRelativeResize="0"/>
          <p:nvPr/>
        </p:nvPicPr>
        <p:blipFill rotWithShape="1">
          <a:blip r:embed="rId5">
            <a:alphaModFix/>
          </a:blip>
          <a:srcRect b="0" l="0" r="0" t="0"/>
          <a:stretch/>
        </p:blipFill>
        <p:spPr>
          <a:xfrm>
            <a:off x="6016752" y="4160520"/>
            <a:ext cx="219456" cy="219456"/>
          </a:xfrm>
          <a:prstGeom prst="rect">
            <a:avLst/>
          </a:prstGeom>
          <a:noFill/>
          <a:ln>
            <a:noFill/>
          </a:ln>
        </p:spPr>
      </p:pic>
      <p:pic>
        <p:nvPicPr>
          <p:cNvPr descr="preencoded.png" id="608" name="Google Shape;608;p20"/>
          <p:cNvPicPr preferRelativeResize="0"/>
          <p:nvPr/>
        </p:nvPicPr>
        <p:blipFill rotWithShape="1">
          <a:blip r:embed="rId5">
            <a:alphaModFix/>
          </a:blip>
          <a:srcRect b="0" l="0" r="0" t="0"/>
          <a:stretch/>
        </p:blipFill>
        <p:spPr>
          <a:xfrm>
            <a:off x="6327648" y="4160520"/>
            <a:ext cx="219456" cy="219456"/>
          </a:xfrm>
          <a:prstGeom prst="rect">
            <a:avLst/>
          </a:prstGeom>
          <a:noFill/>
          <a:ln>
            <a:noFill/>
          </a:ln>
        </p:spPr>
      </p:pic>
      <p:sp>
        <p:nvSpPr>
          <p:cNvPr id="609" name="Google Shape;609;p20"/>
          <p:cNvSpPr/>
          <p:nvPr/>
        </p:nvSpPr>
        <p:spPr>
          <a:xfrm>
            <a:off x="2286000" y="457200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1300"/>
              <a:buFont typeface="Calibri"/>
              <a:buNone/>
            </a:pPr>
            <a:r>
              <a:rPr b="0" i="1" lang="en-US" sz="1300" u="none" cap="none" strike="noStrike">
                <a:solidFill>
                  <a:srgbClr val="8FA8CC"/>
                </a:solidFill>
                <a:latin typeface="Calibri"/>
                <a:ea typeface="Calibri"/>
                <a:cs typeface="Calibri"/>
                <a:sym typeface="Calibri"/>
              </a:rPr>
              <a:t xml:space="preserve"> infrastructure →  one million</a:t>
            </a:r>
            <a:endParaRPr b="0" i="0" sz="1300" u="none" cap="none" strike="noStrike">
              <a:solidFill>
                <a:schemeClr val="dk1"/>
              </a:solidFill>
              <a:latin typeface="Calibri"/>
              <a:ea typeface="Calibri"/>
              <a:cs typeface="Calibri"/>
              <a:sym typeface="Calibri"/>
            </a:endParaRPr>
          </a:p>
        </p:txBody>
      </p:sp>
      <p:sp>
        <p:nvSpPr>
          <p:cNvPr id="610" name="Google Shape;610;p20"/>
          <p:cNvSpPr/>
          <p:nvPr/>
        </p:nvSpPr>
        <p:spPr>
          <a:xfrm>
            <a:off x="640080" y="5074920"/>
            <a:ext cx="10515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9DA6"/>
              </a:buClr>
              <a:buSzPts val="1800"/>
              <a:buFont typeface="Calibri"/>
              <a:buNone/>
            </a:pPr>
            <a:r>
              <a:rPr b="1" i="1" lang="en-US" sz="1800" u="none" cap="none" strike="noStrike">
                <a:solidFill>
                  <a:srgbClr val="2A9DA6"/>
                </a:solidFill>
                <a:latin typeface="Calibri"/>
                <a:ea typeface="Calibri"/>
                <a:cs typeface="Calibri"/>
                <a:sym typeface="Calibri"/>
              </a:rPr>
              <a:t>I'm looking for help to make this real, in 2026.</a:t>
            </a:r>
            <a:endParaRPr b="0" i="0" sz="1800" u="none" cap="none" strike="noStrike">
              <a:solidFill>
                <a:schemeClr val="dk1"/>
              </a:solidFill>
              <a:latin typeface="Calibri"/>
              <a:ea typeface="Calibri"/>
              <a:cs typeface="Calibri"/>
              <a:sym typeface="Calibri"/>
            </a:endParaRPr>
          </a:p>
        </p:txBody>
      </p:sp>
      <p:sp>
        <p:nvSpPr>
          <p:cNvPr id="611" name="Google Shape;611;p20"/>
          <p:cNvSpPr/>
          <p:nvPr/>
        </p:nvSpPr>
        <p:spPr>
          <a:xfrm>
            <a:off x="640080" y="5577840"/>
            <a:ext cx="10515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Thank you.</a:t>
            </a:r>
            <a:endParaRPr b="0" i="0" sz="2000" u="none" cap="none" strike="noStrike">
              <a:solidFill>
                <a:schemeClr val="dk1"/>
              </a:solidFill>
              <a:latin typeface="Calibri"/>
              <a:ea typeface="Calibri"/>
              <a:cs typeface="Calibri"/>
              <a:sym typeface="Calibri"/>
            </a:endParaRPr>
          </a:p>
        </p:txBody>
      </p:sp>
      <p:sp>
        <p:nvSpPr>
          <p:cNvPr id="612" name="Google Shape;612;p20"/>
          <p:cNvSpPr/>
          <p:nvPr/>
        </p:nvSpPr>
        <p:spPr>
          <a:xfrm>
            <a:off x="640080" y="6199632"/>
            <a:ext cx="108813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Andrew Cohen   •   andrewmichaelcohen@gmail.com   •   Board Member, Bay Area Legal Aid</a:t>
            </a:r>
            <a:endParaRPr b="0" i="0" sz="1200" u="none" cap="none" strike="noStrike">
              <a:solidFill>
                <a:schemeClr val="dk1"/>
              </a:solidFill>
              <a:latin typeface="Calibri"/>
              <a:ea typeface="Calibri"/>
              <a:cs typeface="Calibri"/>
              <a:sym typeface="Calibri"/>
            </a:endParaRPr>
          </a:p>
        </p:txBody>
      </p:sp>
      <p:sp>
        <p:nvSpPr>
          <p:cNvPr id="613" name="Google Shape;613;p20"/>
          <p:cNvSpPr/>
          <p:nvPr/>
        </p:nvSpPr>
        <p:spPr>
          <a:xfrm>
            <a:off x="640080" y="6492240"/>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A8CC"/>
              </a:buClr>
              <a:buSzPts val="900"/>
              <a:buFont typeface="Calibri"/>
              <a:buNone/>
            </a:pPr>
            <a:r>
              <a:rPr b="0" i="0" lang="en-US" sz="900" u="none" cap="none" strike="noStrike">
                <a:solidFill>
                  <a:srgbClr val="8FA8CC"/>
                </a:solidFill>
                <a:latin typeface="Calibri"/>
                <a:ea typeface="Calibri"/>
                <a:cs typeface="Calibri"/>
                <a:sym typeface="Calibri"/>
              </a:rPr>
              <a:t>© 2026 Andrew Cohen. All rights reserved.</a:t>
            </a:r>
            <a:endParaRPr b="0" i="0" sz="900" u="none" cap="none" strike="noStrike">
              <a:solidFill>
                <a:schemeClr val="dk1"/>
              </a:solidFill>
              <a:latin typeface="Calibri"/>
              <a:ea typeface="Calibri"/>
              <a:cs typeface="Calibri"/>
              <a:sym typeface="Calibri"/>
            </a:endParaRPr>
          </a:p>
        </p:txBody>
      </p:sp>
      <p:sp>
        <p:nvSpPr>
          <p:cNvPr id="614" name="Google Shape;614;p20"/>
          <p:cNvSpPr/>
          <p:nvPr/>
        </p:nvSpPr>
        <p:spPr>
          <a:xfrm>
            <a:off x="11521440"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8AB"/>
              </a:buClr>
              <a:buSzPts val="1100"/>
              <a:buFont typeface="Calibri"/>
              <a:buNone/>
            </a:pPr>
            <a:r>
              <a:rPr b="0" i="0" lang="en-US" sz="1100" u="none" cap="none" strike="noStrike">
                <a:solidFill>
                  <a:srgbClr val="8A98AB"/>
                </a:solidFill>
                <a:latin typeface="Calibri"/>
                <a:ea typeface="Calibri"/>
                <a:cs typeface="Calibri"/>
                <a:sym typeface="Calibri"/>
              </a:rPr>
              <a:t>18</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