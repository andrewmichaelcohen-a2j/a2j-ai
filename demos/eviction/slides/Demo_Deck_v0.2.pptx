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640080" y="502920"/>
            <a:ext cx="5669280" cy="2468880"/>
          </a:xfrm>
          <a:prstGeom prst="rect">
            <a:avLst/>
          </a:prstGeom>
          <a:noFill/>
          <a:ln/>
        </p:spPr>
        <p:txBody>
          <a:bodyPr wrap="square" rtlCol="0" anchor="t"/>
          <a:lstStyle/>
          <a:p>
            <a:pPr algn="l" indent="0" marL="0">
              <a:buNone/>
            </a:pPr>
            <a:r>
              <a:rPr lang="en-US" sz="4600" b="1" dirty="0">
                <a:solidFill>
                  <a:srgbClr val="FFFFFF"/>
                </a:solidFill>
                <a:latin typeface="Georgia" pitchFamily="34" charset="0"/>
                <a:ea typeface="Georgia" pitchFamily="34" charset="-122"/>
                <a:cs typeface="Georgia" pitchFamily="34" charset="-120"/>
              </a:rPr>
              <a:t>The A2J</a:t>
            </a:r>
            <a:endParaRPr lang="en-US" sz="4600" dirty="0"/>
          </a:p>
          <a:p>
            <a:pPr algn="l" indent="0" marL="0">
              <a:buNone/>
            </a:pPr>
            <a:r>
              <a:rPr lang="en-US" sz="4600" b="1" dirty="0">
                <a:solidFill>
                  <a:srgbClr val="FFFFFF"/>
                </a:solidFill>
                <a:latin typeface="Georgia" pitchFamily="34" charset="0"/>
                <a:ea typeface="Georgia" pitchFamily="34" charset="-122"/>
                <a:cs typeface="Georgia" pitchFamily="34" charset="-120"/>
              </a:rPr>
              <a:t>Infrastructure Moment</a:t>
            </a:r>
            <a:endParaRPr lang="en-US" sz="4600" dirty="0"/>
          </a:p>
        </p:txBody>
      </p:sp>
      <p:sp>
        <p:nvSpPr>
          <p:cNvPr id="4" name="Text 2"/>
          <p:cNvSpPr/>
          <p:nvPr/>
        </p:nvSpPr>
        <p:spPr>
          <a:xfrm>
            <a:off x="640080" y="3017520"/>
            <a:ext cx="5669280" cy="777240"/>
          </a:xfrm>
          <a:prstGeom prst="rect">
            <a:avLst/>
          </a:prstGeom>
          <a:noFill/>
          <a:ln/>
        </p:spPr>
        <p:txBody>
          <a:bodyPr wrap="square" rtlCol="0" anchor="ctr"/>
          <a:lstStyle/>
          <a:p>
            <a:pPr algn="l" indent="0" marL="0">
              <a:buNone/>
            </a:pPr>
            <a:r>
              <a:rPr lang="en-US" sz="1700" dirty="0">
                <a:solidFill>
                  <a:srgbClr val="B0C4D4"/>
                </a:solidFill>
                <a:latin typeface="Calibri" pitchFamily="34" charset="0"/>
                <a:ea typeface="Calibri" pitchFamily="34" charset="-122"/>
                <a:cs typeface="Calibri" pitchFamily="34" charset="-120"/>
              </a:rPr>
              <a:t>What just became possible—and what the</a:t>
            </a:r>
            <a:endParaRPr lang="en-US" sz="1700" dirty="0"/>
          </a:p>
          <a:p>
            <a:pPr algn="l" indent="0" marL="0">
              <a:buNone/>
            </a:pPr>
            <a:r>
              <a:rPr lang="en-US" sz="1700" dirty="0">
                <a:solidFill>
                  <a:srgbClr val="B0C4D4"/>
                </a:solidFill>
                <a:latin typeface="Calibri" pitchFamily="34" charset="0"/>
                <a:ea typeface="Calibri" pitchFamily="34" charset="-122"/>
                <a:cs typeface="Calibri" pitchFamily="34" charset="-120"/>
              </a:rPr>
              <a:t>A2J community can now build together.</a:t>
            </a:r>
            <a:endParaRPr lang="en-US" sz="1700" dirty="0"/>
          </a:p>
        </p:txBody>
      </p:sp>
      <p:sp>
        <p:nvSpPr>
          <p:cNvPr id="5" name="Shape 3"/>
          <p:cNvSpPr/>
          <p:nvPr/>
        </p:nvSpPr>
        <p:spPr>
          <a:xfrm>
            <a:off x="6812280" y="640080"/>
            <a:ext cx="2057400" cy="3931920"/>
          </a:xfrm>
          <a:prstGeom prst="rect">
            <a:avLst/>
          </a:prstGeom>
          <a:solidFill>
            <a:srgbClr val="1B5E8C">
              <a:alpha val="45000"/>
            </a:srgbClr>
          </a:solidFill>
          <a:ln w="12700">
            <a:solidFill>
              <a:srgbClr val="1B5E8C">
                <a:alpha val="40000"/>
              </a:srgbClr>
            </a:solidFill>
            <a:prstDash val="solid"/>
          </a:ln>
        </p:spPr>
      </p:sp>
      <p:sp>
        <p:nvSpPr>
          <p:cNvPr id="6" name="Text 4"/>
          <p:cNvSpPr/>
          <p:nvPr/>
        </p:nvSpPr>
        <p:spPr>
          <a:xfrm>
            <a:off x="6812280" y="822960"/>
            <a:ext cx="2057400" cy="640080"/>
          </a:xfrm>
          <a:prstGeom prst="rect">
            <a:avLst/>
          </a:prstGeom>
          <a:noFill/>
          <a:ln/>
        </p:spPr>
        <p:txBody>
          <a:bodyPr wrap="square" rtlCol="0" anchor="ctr"/>
          <a:lstStyle/>
          <a:p>
            <a:pPr algn="ctr" indent="0" marL="0">
              <a:buNone/>
            </a:pPr>
            <a:r>
              <a:rPr lang="en-US" sz="3400" b="1" dirty="0">
                <a:solidFill>
                  <a:srgbClr val="E07B39"/>
                </a:solidFill>
                <a:latin typeface="Georgia" pitchFamily="34" charset="0"/>
                <a:ea typeface="Georgia" pitchFamily="34" charset="-122"/>
                <a:cs typeface="Georgia" pitchFamily="34" charset="-120"/>
              </a:rPr>
              <a:t>120M</a:t>
            </a:r>
            <a:endParaRPr lang="en-US" sz="3400" dirty="0"/>
          </a:p>
        </p:txBody>
      </p:sp>
      <p:sp>
        <p:nvSpPr>
          <p:cNvPr id="7" name="Text 5"/>
          <p:cNvSpPr/>
          <p:nvPr/>
        </p:nvSpPr>
        <p:spPr>
          <a:xfrm>
            <a:off x="6858000" y="1444752"/>
            <a:ext cx="1965960" cy="502920"/>
          </a:xfrm>
          <a:prstGeom prst="rect">
            <a:avLst/>
          </a:prstGeom>
          <a:noFill/>
          <a:ln/>
        </p:spPr>
        <p:txBody>
          <a:bodyPr wrap="square" rtlCol="0" anchor="ctr"/>
          <a:lstStyle/>
          <a:p>
            <a:pPr algn="ctr" indent="0" marL="0">
              <a:buNone/>
            </a:pPr>
            <a:r>
              <a:rPr lang="en-US" sz="1000" dirty="0">
                <a:solidFill>
                  <a:srgbClr val="B0C4D4"/>
                </a:solidFill>
                <a:latin typeface="Calibri" pitchFamily="34" charset="0"/>
                <a:ea typeface="Calibri" pitchFamily="34" charset="-122"/>
                <a:cs typeface="Calibri" pitchFamily="34" charset="-120"/>
              </a:rPr>
              <a:t>legal problems/year</a:t>
            </a:r>
            <a:endParaRPr lang="en-US" sz="1000" dirty="0"/>
          </a:p>
          <a:p>
            <a:pPr algn="ctr" indent="0" marL="0">
              <a:buNone/>
            </a:pPr>
            <a:r>
              <a:rPr lang="en-US" sz="1000" dirty="0">
                <a:solidFill>
                  <a:srgbClr val="B0C4D4"/>
                </a:solidFill>
                <a:latin typeface="Calibri" pitchFamily="34" charset="0"/>
                <a:ea typeface="Calibri" pitchFamily="34" charset="-122"/>
                <a:cs typeface="Calibri" pitchFamily="34" charset="-120"/>
              </a:rPr>
              <a:t>not fairly resolved</a:t>
            </a:r>
            <a:endParaRPr lang="en-US" sz="1000" dirty="0"/>
          </a:p>
        </p:txBody>
      </p:sp>
      <p:sp>
        <p:nvSpPr>
          <p:cNvPr id="8" name="Shape 6"/>
          <p:cNvSpPr/>
          <p:nvPr/>
        </p:nvSpPr>
        <p:spPr>
          <a:xfrm>
            <a:off x="7040880" y="1993392"/>
            <a:ext cx="1600200" cy="18288"/>
          </a:xfrm>
          <a:prstGeom prst="rect">
            <a:avLst/>
          </a:prstGeom>
          <a:solidFill>
            <a:srgbClr val="1B5E8C"/>
          </a:solidFill>
          <a:ln w="12700">
            <a:solidFill>
              <a:srgbClr val="1B5E8C"/>
            </a:solidFill>
            <a:prstDash val="solid"/>
          </a:ln>
        </p:spPr>
      </p:sp>
      <p:sp>
        <p:nvSpPr>
          <p:cNvPr id="9" name="Text 7"/>
          <p:cNvSpPr/>
          <p:nvPr/>
        </p:nvSpPr>
        <p:spPr>
          <a:xfrm>
            <a:off x="6812280" y="2057400"/>
            <a:ext cx="2057400" cy="640080"/>
          </a:xfrm>
          <a:prstGeom prst="rect">
            <a:avLst/>
          </a:prstGeom>
          <a:noFill/>
          <a:ln/>
        </p:spPr>
        <p:txBody>
          <a:bodyPr wrap="square" rtlCol="0" anchor="ctr"/>
          <a:lstStyle/>
          <a:p>
            <a:pPr algn="ctr" indent="0" marL="0">
              <a:buNone/>
            </a:pPr>
            <a:r>
              <a:rPr lang="en-US" sz="3400" b="1" dirty="0">
                <a:solidFill>
                  <a:srgbClr val="E07B39"/>
                </a:solidFill>
                <a:latin typeface="Georgia" pitchFamily="34" charset="0"/>
                <a:ea typeface="Georgia" pitchFamily="34" charset="-122"/>
                <a:cs typeface="Georgia" pitchFamily="34" charset="-120"/>
              </a:rPr>
              <a:t>3.6M</a:t>
            </a:r>
            <a:endParaRPr lang="en-US" sz="3400" dirty="0"/>
          </a:p>
        </p:txBody>
      </p:sp>
      <p:sp>
        <p:nvSpPr>
          <p:cNvPr id="10" name="Text 8"/>
          <p:cNvSpPr/>
          <p:nvPr/>
        </p:nvSpPr>
        <p:spPr>
          <a:xfrm>
            <a:off x="6858000" y="2679192"/>
            <a:ext cx="1965960" cy="502920"/>
          </a:xfrm>
          <a:prstGeom prst="rect">
            <a:avLst/>
          </a:prstGeom>
          <a:noFill/>
          <a:ln/>
        </p:spPr>
        <p:txBody>
          <a:bodyPr wrap="square" rtlCol="0" anchor="ctr"/>
          <a:lstStyle/>
          <a:p>
            <a:pPr algn="ctr" indent="0" marL="0">
              <a:buNone/>
            </a:pPr>
            <a:r>
              <a:rPr lang="en-US" sz="1000" dirty="0">
                <a:solidFill>
                  <a:srgbClr val="B0C4D4"/>
                </a:solidFill>
                <a:latin typeface="Calibri" pitchFamily="34" charset="0"/>
                <a:ea typeface="Calibri" pitchFamily="34" charset="-122"/>
                <a:cs typeface="Calibri" pitchFamily="34" charset="-120"/>
              </a:rPr>
              <a:t>eviction filings/year</a:t>
            </a:r>
            <a:endParaRPr lang="en-US" sz="1000" dirty="0"/>
          </a:p>
          <a:p>
            <a:pPr algn="ctr" indent="0" marL="0">
              <a:buNone/>
            </a:pPr>
            <a:r>
              <a:rPr lang="en-US" sz="1000" dirty="0">
                <a:solidFill>
                  <a:srgbClr val="B0C4D4"/>
                </a:solidFill>
                <a:latin typeface="Calibri" pitchFamily="34" charset="0"/>
                <a:ea typeface="Calibri" pitchFamily="34" charset="-122"/>
                <a:cs typeface="Calibri" pitchFamily="34" charset="-120"/>
              </a:rPr>
              <a:t>3% of tenants have a lawyer</a:t>
            </a:r>
            <a:endParaRPr lang="en-US" sz="1000" dirty="0"/>
          </a:p>
        </p:txBody>
      </p:sp>
      <p:sp>
        <p:nvSpPr>
          <p:cNvPr id="11" name="Shape 9"/>
          <p:cNvSpPr/>
          <p:nvPr/>
        </p:nvSpPr>
        <p:spPr>
          <a:xfrm>
            <a:off x="7040880" y="3227832"/>
            <a:ext cx="1600200" cy="18288"/>
          </a:xfrm>
          <a:prstGeom prst="rect">
            <a:avLst/>
          </a:prstGeom>
          <a:solidFill>
            <a:srgbClr val="1B5E8C"/>
          </a:solidFill>
          <a:ln w="12700">
            <a:solidFill>
              <a:srgbClr val="1B5E8C"/>
            </a:solidFill>
            <a:prstDash val="solid"/>
          </a:ln>
        </p:spPr>
      </p:sp>
      <p:sp>
        <p:nvSpPr>
          <p:cNvPr id="12" name="Text 10"/>
          <p:cNvSpPr/>
          <p:nvPr/>
        </p:nvSpPr>
        <p:spPr>
          <a:xfrm>
            <a:off x="6812280" y="3291840"/>
            <a:ext cx="2057400" cy="640080"/>
          </a:xfrm>
          <a:prstGeom prst="rect">
            <a:avLst/>
          </a:prstGeom>
          <a:noFill/>
          <a:ln/>
        </p:spPr>
        <p:txBody>
          <a:bodyPr wrap="square" rtlCol="0" anchor="ctr"/>
          <a:lstStyle/>
          <a:p>
            <a:pPr algn="ctr" indent="0" marL="0">
              <a:buNone/>
            </a:pPr>
            <a:r>
              <a:rPr lang="en-US" sz="3400" b="1" dirty="0">
                <a:solidFill>
                  <a:srgbClr val="E07B39"/>
                </a:solidFill>
                <a:latin typeface="Georgia" pitchFamily="34" charset="0"/>
                <a:ea typeface="Georgia" pitchFamily="34" charset="-122"/>
                <a:cs typeface="Georgia" pitchFamily="34" charset="-120"/>
              </a:rPr>
              <a:t>92%</a:t>
            </a:r>
            <a:endParaRPr lang="en-US" sz="3400" dirty="0"/>
          </a:p>
        </p:txBody>
      </p:sp>
      <p:sp>
        <p:nvSpPr>
          <p:cNvPr id="13" name="Text 11"/>
          <p:cNvSpPr/>
          <p:nvPr/>
        </p:nvSpPr>
        <p:spPr>
          <a:xfrm>
            <a:off x="6858000" y="3913632"/>
            <a:ext cx="1965960" cy="502920"/>
          </a:xfrm>
          <a:prstGeom prst="rect">
            <a:avLst/>
          </a:prstGeom>
          <a:noFill/>
          <a:ln/>
        </p:spPr>
        <p:txBody>
          <a:bodyPr wrap="square" rtlCol="0" anchor="ctr"/>
          <a:lstStyle/>
          <a:p>
            <a:pPr algn="ctr" indent="0" marL="0">
              <a:buNone/>
            </a:pPr>
            <a:r>
              <a:rPr lang="en-US" sz="1000" dirty="0">
                <a:solidFill>
                  <a:srgbClr val="B0C4D4"/>
                </a:solidFill>
                <a:latin typeface="Calibri" pitchFamily="34" charset="0"/>
                <a:ea typeface="Calibri" pitchFamily="34" charset="-122"/>
                <a:cs typeface="Calibri" pitchFamily="34" charset="-120"/>
              </a:rPr>
              <a:t>of low-income legal needs</a:t>
            </a:r>
            <a:endParaRPr lang="en-US" sz="1000" dirty="0"/>
          </a:p>
          <a:p>
            <a:pPr algn="ctr" indent="0" marL="0">
              <a:buNone/>
            </a:pPr>
            <a:r>
              <a:rPr lang="en-US" sz="1000" dirty="0">
                <a:solidFill>
                  <a:srgbClr val="B0C4D4"/>
                </a:solidFill>
                <a:latin typeface="Calibri" pitchFamily="34" charset="0"/>
                <a:ea typeface="Calibri" pitchFamily="34" charset="-122"/>
                <a:cs typeface="Calibri" pitchFamily="34" charset="-120"/>
              </a:rPr>
              <a:t>get no help at all</a:t>
            </a:r>
            <a:endParaRPr lang="en-US" sz="1000" dirty="0"/>
          </a:p>
        </p:txBody>
      </p:sp>
      <p:sp>
        <p:nvSpPr>
          <p:cNvPr id="14" name="Text 12"/>
          <p:cNvSpPr/>
          <p:nvPr/>
        </p:nvSpPr>
        <p:spPr>
          <a:xfrm>
            <a:off x="640080" y="4663440"/>
            <a:ext cx="5486400" cy="292608"/>
          </a:xfrm>
          <a:prstGeom prst="rect">
            <a:avLst/>
          </a:prstGeom>
          <a:noFill/>
          <a:ln/>
        </p:spPr>
        <p:txBody>
          <a:bodyPr wrap="square" rtlCol="0" anchor="ctr"/>
          <a:lstStyle/>
          <a:p>
            <a:pPr algn="l" indent="0" marL="0">
              <a:buNone/>
            </a:pPr>
            <a:r>
              <a:rPr lang="en-US" sz="1000" dirty="0">
                <a:solidFill>
                  <a:srgbClr val="3D5265"/>
                </a:solidFill>
                <a:latin typeface="Calibri" pitchFamily="34" charset="0"/>
                <a:ea typeface="Calibri" pitchFamily="34" charset="-122"/>
                <a:cs typeface="Calibri" pitchFamily="34" charset="-120"/>
              </a:rPr>
              <a:t>Andrew M Cohen  ·  May 2026</a:t>
            </a:r>
            <a:endParaRPr lang="en-US" sz="1000" dirty="0"/>
          </a:p>
        </p:txBody>
      </p:sp>
      <p:sp>
        <p:nvSpPr>
          <p:cNvPr id="15" name="Shape 13"/>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82880"/>
            <a:ext cx="8229600" cy="530352"/>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The Problem Has Two Parts</a:t>
            </a:r>
            <a:endParaRPr lang="en-US" sz="3000" dirty="0"/>
          </a:p>
        </p:txBody>
      </p:sp>
      <p:sp>
        <p:nvSpPr>
          <p:cNvPr id="4" name="Shape 2"/>
          <p:cNvSpPr/>
          <p:nvPr/>
        </p:nvSpPr>
        <p:spPr>
          <a:xfrm>
            <a:off x="365760" y="841248"/>
            <a:ext cx="3977640" cy="374904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365760" y="841248"/>
            <a:ext cx="64008" cy="3749040"/>
          </a:xfrm>
          <a:prstGeom prst="rect">
            <a:avLst/>
          </a:prstGeom>
          <a:solidFill>
            <a:srgbClr val="E07B39"/>
          </a:solidFill>
          <a:ln w="12700">
            <a:solidFill>
              <a:srgbClr val="E07B39"/>
            </a:solidFill>
            <a:prstDash val="solid"/>
          </a:ln>
        </p:spPr>
      </p:sp>
      <p:sp>
        <p:nvSpPr>
          <p:cNvPr id="6" name="Text 4"/>
          <p:cNvSpPr/>
          <p:nvPr/>
        </p:nvSpPr>
        <p:spPr>
          <a:xfrm>
            <a:off x="594360" y="969264"/>
            <a:ext cx="3520440" cy="347472"/>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The Scale of the Gap</a:t>
            </a:r>
            <a:endParaRPr lang="en-US" sz="1400" dirty="0"/>
          </a:p>
        </p:txBody>
      </p:sp>
      <p:sp>
        <p:nvSpPr>
          <p:cNvPr id="7" name="Text 5"/>
          <p:cNvSpPr/>
          <p:nvPr/>
        </p:nvSpPr>
        <p:spPr>
          <a:xfrm>
            <a:off x="594360" y="1463040"/>
            <a:ext cx="1280160" cy="548640"/>
          </a:xfrm>
          <a:prstGeom prst="rect">
            <a:avLst/>
          </a:prstGeom>
          <a:noFill/>
          <a:ln/>
        </p:spPr>
        <p:txBody>
          <a:bodyPr wrap="square" rtlCol="0" anchor="ctr"/>
          <a:lstStyle/>
          <a:p>
            <a:pPr algn="l" indent="0" marL="0">
              <a:buNone/>
            </a:pPr>
            <a:r>
              <a:rPr lang="en-US" sz="3000" b="1" dirty="0">
                <a:solidFill>
                  <a:srgbClr val="E07B39"/>
                </a:solidFill>
                <a:latin typeface="Georgia" pitchFamily="34" charset="0"/>
                <a:ea typeface="Georgia" pitchFamily="34" charset="-122"/>
                <a:cs typeface="Georgia" pitchFamily="34" charset="-120"/>
              </a:rPr>
              <a:t>92%</a:t>
            </a:r>
            <a:endParaRPr lang="en-US" sz="3000" dirty="0"/>
          </a:p>
        </p:txBody>
      </p:sp>
      <p:sp>
        <p:nvSpPr>
          <p:cNvPr id="8" name="Text 6"/>
          <p:cNvSpPr/>
          <p:nvPr/>
        </p:nvSpPr>
        <p:spPr>
          <a:xfrm>
            <a:off x="1828800" y="1527048"/>
            <a:ext cx="2331720" cy="502920"/>
          </a:xfrm>
          <a:prstGeom prst="rect">
            <a:avLst/>
          </a:prstGeom>
          <a:noFill/>
          <a:ln/>
        </p:spPr>
        <p:txBody>
          <a:bodyPr wrap="square"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of low-income legal problems get no help at all</a:t>
            </a:r>
            <a:endParaRPr lang="en-US" sz="1200" dirty="0"/>
          </a:p>
        </p:txBody>
      </p:sp>
      <p:sp>
        <p:nvSpPr>
          <p:cNvPr id="9" name="Text 7"/>
          <p:cNvSpPr/>
          <p:nvPr/>
        </p:nvSpPr>
        <p:spPr>
          <a:xfrm>
            <a:off x="594360" y="2450592"/>
            <a:ext cx="1280160" cy="548640"/>
          </a:xfrm>
          <a:prstGeom prst="rect">
            <a:avLst/>
          </a:prstGeom>
          <a:noFill/>
          <a:ln/>
        </p:spPr>
        <p:txBody>
          <a:bodyPr wrap="square" rtlCol="0" anchor="ctr"/>
          <a:lstStyle/>
          <a:p>
            <a:pPr algn="l" indent="0" marL="0">
              <a:buNone/>
            </a:pPr>
            <a:r>
              <a:rPr lang="en-US" sz="3000" b="1" dirty="0">
                <a:solidFill>
                  <a:srgbClr val="E07B39"/>
                </a:solidFill>
                <a:latin typeface="Georgia" pitchFamily="34" charset="0"/>
                <a:ea typeface="Georgia" pitchFamily="34" charset="-122"/>
                <a:cs typeface="Georgia" pitchFamily="34" charset="-120"/>
              </a:rPr>
              <a:t>97%</a:t>
            </a:r>
            <a:endParaRPr lang="en-US" sz="3000" dirty="0"/>
          </a:p>
        </p:txBody>
      </p:sp>
      <p:sp>
        <p:nvSpPr>
          <p:cNvPr id="10" name="Text 8"/>
          <p:cNvSpPr/>
          <p:nvPr/>
        </p:nvSpPr>
        <p:spPr>
          <a:xfrm>
            <a:off x="1828800" y="2514600"/>
            <a:ext cx="2331720" cy="502920"/>
          </a:xfrm>
          <a:prstGeom prst="rect">
            <a:avLst/>
          </a:prstGeom>
          <a:noFill/>
          <a:ln/>
        </p:spPr>
        <p:txBody>
          <a:bodyPr wrap="square"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of eviction defendants have no attorney (80%+ of landlords do)</a:t>
            </a:r>
            <a:endParaRPr lang="en-US" sz="1200" dirty="0"/>
          </a:p>
        </p:txBody>
      </p:sp>
      <p:sp>
        <p:nvSpPr>
          <p:cNvPr id="11" name="Text 9"/>
          <p:cNvSpPr/>
          <p:nvPr/>
        </p:nvSpPr>
        <p:spPr>
          <a:xfrm>
            <a:off x="594360" y="3438144"/>
            <a:ext cx="1280160" cy="548640"/>
          </a:xfrm>
          <a:prstGeom prst="rect">
            <a:avLst/>
          </a:prstGeom>
          <a:noFill/>
          <a:ln/>
        </p:spPr>
        <p:txBody>
          <a:bodyPr wrap="square" rtlCol="0" anchor="ctr"/>
          <a:lstStyle/>
          <a:p>
            <a:pPr algn="l" indent="0" marL="0">
              <a:buNone/>
            </a:pPr>
            <a:r>
              <a:rPr lang="en-US" sz="3000" b="1" dirty="0">
                <a:solidFill>
                  <a:srgbClr val="E07B39"/>
                </a:solidFill>
                <a:latin typeface="Georgia" pitchFamily="34" charset="0"/>
                <a:ea typeface="Georgia" pitchFamily="34" charset="-122"/>
                <a:cs typeface="Georgia" pitchFamily="34" charset="-120"/>
              </a:rPr>
              <a:t>3.6M</a:t>
            </a:r>
            <a:endParaRPr lang="en-US" sz="3000" dirty="0"/>
          </a:p>
        </p:txBody>
      </p:sp>
      <p:sp>
        <p:nvSpPr>
          <p:cNvPr id="12" name="Text 10"/>
          <p:cNvSpPr/>
          <p:nvPr/>
        </p:nvSpPr>
        <p:spPr>
          <a:xfrm>
            <a:off x="1828800" y="3502152"/>
            <a:ext cx="2331720" cy="502920"/>
          </a:xfrm>
          <a:prstGeom prst="rect">
            <a:avLst/>
          </a:prstGeom>
          <a:noFill/>
          <a:ln/>
        </p:spPr>
        <p:txBody>
          <a:bodyPr wrap="square"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eviction filings/year—more than one every 9 seconds</a:t>
            </a:r>
            <a:endParaRPr lang="en-US" sz="1200" dirty="0"/>
          </a:p>
        </p:txBody>
      </p:sp>
      <p:sp>
        <p:nvSpPr>
          <p:cNvPr id="13" name="Shape 11"/>
          <p:cNvSpPr/>
          <p:nvPr/>
        </p:nvSpPr>
        <p:spPr>
          <a:xfrm>
            <a:off x="4800600" y="841248"/>
            <a:ext cx="3977640" cy="374904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4" name="Shape 12"/>
          <p:cNvSpPr/>
          <p:nvPr/>
        </p:nvSpPr>
        <p:spPr>
          <a:xfrm>
            <a:off x="4800600" y="841248"/>
            <a:ext cx="64008" cy="3749040"/>
          </a:xfrm>
          <a:prstGeom prst="rect">
            <a:avLst/>
          </a:prstGeom>
          <a:solidFill>
            <a:srgbClr val="1B5E8C"/>
          </a:solidFill>
          <a:ln w="12700">
            <a:solidFill>
              <a:srgbClr val="1B5E8C"/>
            </a:solidFill>
            <a:prstDash val="solid"/>
          </a:ln>
        </p:spPr>
      </p:sp>
      <p:sp>
        <p:nvSpPr>
          <p:cNvPr id="15" name="Text 13"/>
          <p:cNvSpPr/>
          <p:nvPr/>
        </p:nvSpPr>
        <p:spPr>
          <a:xfrm>
            <a:off x="5029200" y="969264"/>
            <a:ext cx="3520440" cy="347472"/>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The Old Model Was Broken</a:t>
            </a:r>
            <a:endParaRPr lang="en-US" sz="1400" dirty="0"/>
          </a:p>
        </p:txBody>
      </p:sp>
      <p:sp>
        <p:nvSpPr>
          <p:cNvPr id="16" name="Shape 14"/>
          <p:cNvSpPr/>
          <p:nvPr/>
        </p:nvSpPr>
        <p:spPr>
          <a:xfrm>
            <a:off x="5047488" y="1536192"/>
            <a:ext cx="146304" cy="146304"/>
          </a:xfrm>
          <a:prstGeom prst="ellipse">
            <a:avLst/>
          </a:prstGeom>
          <a:solidFill>
            <a:srgbClr val="1B5E8C"/>
          </a:solidFill>
          <a:ln w="12700">
            <a:solidFill>
              <a:srgbClr val="1B5E8C"/>
            </a:solidFill>
            <a:prstDash val="solid"/>
          </a:ln>
        </p:spPr>
      </p:sp>
      <p:sp>
        <p:nvSpPr>
          <p:cNvPr id="17" name="Text 15"/>
          <p:cNvSpPr/>
          <p:nvPr/>
        </p:nvSpPr>
        <p:spPr>
          <a:xfrm>
            <a:off x="5349240" y="1463040"/>
            <a:ext cx="3246120" cy="749808"/>
          </a:xfrm>
          <a:prstGeom prst="rect">
            <a:avLst/>
          </a:prstGeom>
          <a:noFill/>
          <a:ln/>
        </p:spPr>
        <p:txBody>
          <a:bodyPr wrap="square" rtlCol="0" anchor="t"/>
          <a:lstStyle/>
          <a:p>
            <a:pPr algn="l" indent="0" marL="0">
              <a:buNone/>
            </a:pPr>
            <a:r>
              <a:rPr lang="en-US" sz="1200" dirty="0">
                <a:solidFill>
                  <a:srgbClr val="1A1A2E"/>
                </a:solidFill>
                <a:latin typeface="Calibri" pitchFamily="34" charset="0"/>
                <a:ea typeface="Calibri" pitchFamily="34" charset="-122"/>
                <a:cs typeface="Calibri" pitchFamily="34" charset="-120"/>
              </a:rPr>
              <a:t>Tenant Power Toolkit (CA): 50+ attorneys, 2 years, California only. Doesn't port to Texas.</a:t>
            </a:r>
            <a:endParaRPr lang="en-US" sz="1200" dirty="0"/>
          </a:p>
        </p:txBody>
      </p:sp>
      <p:sp>
        <p:nvSpPr>
          <p:cNvPr id="18" name="Shape 16"/>
          <p:cNvSpPr/>
          <p:nvPr/>
        </p:nvSpPr>
        <p:spPr>
          <a:xfrm>
            <a:off x="5047488" y="2496312"/>
            <a:ext cx="146304" cy="146304"/>
          </a:xfrm>
          <a:prstGeom prst="ellipse">
            <a:avLst/>
          </a:prstGeom>
          <a:solidFill>
            <a:srgbClr val="1B5E8C"/>
          </a:solidFill>
          <a:ln w="12700">
            <a:solidFill>
              <a:srgbClr val="1B5E8C"/>
            </a:solidFill>
            <a:prstDash val="solid"/>
          </a:ln>
        </p:spPr>
      </p:sp>
      <p:sp>
        <p:nvSpPr>
          <p:cNvPr id="19" name="Text 17"/>
          <p:cNvSpPr/>
          <p:nvPr/>
        </p:nvSpPr>
        <p:spPr>
          <a:xfrm>
            <a:off x="5349240" y="2423160"/>
            <a:ext cx="3246120" cy="749808"/>
          </a:xfrm>
          <a:prstGeom prst="rect">
            <a:avLst/>
          </a:prstGeom>
          <a:noFill/>
          <a:ln/>
        </p:spPr>
        <p:txBody>
          <a:bodyPr wrap="square" rtlCol="0" anchor="t"/>
          <a:lstStyle/>
          <a:p>
            <a:pPr algn="l" indent="0" marL="0">
              <a:buNone/>
            </a:pPr>
            <a:r>
              <a:rPr lang="en-US" sz="1200" dirty="0">
                <a:solidFill>
                  <a:srgbClr val="1A1A2E"/>
                </a:solidFill>
                <a:latin typeface="Calibri" pitchFamily="34" charset="0"/>
                <a:ea typeface="Calibri" pitchFamily="34" charset="-122"/>
                <a:cs typeface="Calibri" pitchFamily="34" charset="-120"/>
              </a:rPr>
              <a:t>MADE (MA), Teny (NY), Who Owns What (NYC): each team rebuilt from scratch what others had already built.</a:t>
            </a:r>
            <a:endParaRPr lang="en-US" sz="1200" dirty="0"/>
          </a:p>
        </p:txBody>
      </p:sp>
      <p:sp>
        <p:nvSpPr>
          <p:cNvPr id="20" name="Shape 18"/>
          <p:cNvSpPr/>
          <p:nvPr/>
        </p:nvSpPr>
        <p:spPr>
          <a:xfrm>
            <a:off x="5047488" y="3456432"/>
            <a:ext cx="146304" cy="146304"/>
          </a:xfrm>
          <a:prstGeom prst="ellipse">
            <a:avLst/>
          </a:prstGeom>
          <a:solidFill>
            <a:srgbClr val="1B5E8C"/>
          </a:solidFill>
          <a:ln w="12700">
            <a:solidFill>
              <a:srgbClr val="1B5E8C"/>
            </a:solidFill>
            <a:prstDash val="solid"/>
          </a:ln>
        </p:spPr>
      </p:sp>
      <p:sp>
        <p:nvSpPr>
          <p:cNvPr id="21" name="Text 19"/>
          <p:cNvSpPr/>
          <p:nvPr/>
        </p:nvSpPr>
        <p:spPr>
          <a:xfrm>
            <a:off x="5349240" y="3383280"/>
            <a:ext cx="3246120" cy="749808"/>
          </a:xfrm>
          <a:prstGeom prst="rect">
            <a:avLst/>
          </a:prstGeom>
          <a:noFill/>
          <a:ln/>
        </p:spPr>
        <p:txBody>
          <a:bodyPr wrap="square" rtlCol="0" anchor="t"/>
          <a:lstStyle/>
          <a:p>
            <a:pPr algn="l" indent="0" marL="0">
              <a:buNone/>
            </a:pPr>
            <a:r>
              <a:rPr lang="en-US" sz="1200" dirty="0">
                <a:solidFill>
                  <a:srgbClr val="1A1A2E"/>
                </a:solidFill>
                <a:latin typeface="Calibri" pitchFamily="34" charset="0"/>
                <a:ea typeface="Calibri" pitchFamily="34" charset="-122"/>
                <a:cs typeface="Calibri" pitchFamily="34" charset="-120"/>
              </a:rPr>
              <a:t>Static training data: chatbots guessed at the law with no live retrieval, no citations, no auditability.</a:t>
            </a:r>
            <a:endParaRPr lang="en-US" sz="1200" dirty="0"/>
          </a:p>
        </p:txBody>
      </p:sp>
      <p:sp>
        <p:nvSpPr>
          <p:cNvPr id="22" name="Shape 20"/>
          <p:cNvSpPr/>
          <p:nvPr/>
        </p:nvSpPr>
        <p:spPr>
          <a:xfrm>
            <a:off x="5029200" y="4142232"/>
            <a:ext cx="3566160" cy="347472"/>
          </a:xfrm>
          <a:prstGeom prst="rect">
            <a:avLst/>
          </a:prstGeom>
          <a:solidFill>
            <a:srgbClr val="F0F4F8"/>
          </a:solidFill>
          <a:ln w="12700">
            <a:solidFill>
              <a:srgbClr val="D8E4EF"/>
            </a:solidFill>
            <a:prstDash val="solid"/>
          </a:ln>
        </p:spPr>
      </p:sp>
      <p:sp>
        <p:nvSpPr>
          <p:cNvPr id="23" name="Text 21"/>
          <p:cNvSpPr/>
          <p:nvPr/>
        </p:nvSpPr>
        <p:spPr>
          <a:xfrm>
            <a:off x="5120640" y="4160520"/>
            <a:ext cx="3429000" cy="329184"/>
          </a:xfrm>
          <a:prstGeom prst="rect">
            <a:avLst/>
          </a:prstGeom>
          <a:noFill/>
          <a:ln/>
        </p:spPr>
        <p:txBody>
          <a:bodyPr wrap="square" rtlCol="0" anchor="ctr"/>
          <a:lstStyle/>
          <a:p>
            <a:pPr algn="l" indent="0" marL="0">
              <a:buNone/>
            </a:pPr>
            <a:r>
              <a:rPr lang="en-US" sz="1000" i="1" dirty="0">
                <a:solidFill>
                  <a:srgbClr val="4A5568"/>
                </a:solidFill>
                <a:latin typeface="Calibri" pitchFamily="34" charset="0"/>
                <a:ea typeface="Calibri" pitchFamily="34" charset="-122"/>
                <a:cs typeface="Calibri" pitchFamily="34" charset="-120"/>
              </a:rPr>
              <a:t>"A key challenge lies in scalability across geographies—most tools serve one city or region."  — Shelterforce, June 2025</a:t>
            </a:r>
            <a:endParaRPr lang="en-US" sz="1000" dirty="0"/>
          </a:p>
        </p:txBody>
      </p:sp>
      <p:sp>
        <p:nvSpPr>
          <p:cNvPr id="24" name="Text 22"/>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25" name="Shape 23"/>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548640" y="201168"/>
            <a:ext cx="8046720" cy="512064"/>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In 2026, the missing piece arrived.</a:t>
            </a:r>
            <a:endParaRPr lang="en-US" sz="3000" dirty="0"/>
          </a:p>
        </p:txBody>
      </p:sp>
      <p:sp>
        <p:nvSpPr>
          <p:cNvPr id="4" name="Text 2"/>
          <p:cNvSpPr/>
          <p:nvPr/>
        </p:nvSpPr>
        <p:spPr>
          <a:xfrm>
            <a:off x="548640" y="868680"/>
            <a:ext cx="8046720" cy="457200"/>
          </a:xfrm>
          <a:prstGeom prst="rect">
            <a:avLst/>
          </a:prstGeom>
          <a:noFill/>
          <a:ln/>
        </p:spPr>
        <p:txBody>
          <a:bodyPr wrap="square" rtlCol="0" anchor="ctr"/>
          <a:lstStyle/>
          <a:p>
            <a:pPr algn="l" indent="0" marL="0">
              <a:buNone/>
            </a:pPr>
            <a:r>
              <a:rPr lang="en-US" sz="1300" dirty="0">
                <a:solidFill>
                  <a:srgbClr val="B0C4D4"/>
                </a:solidFill>
                <a:latin typeface="Calibri" pitchFamily="34" charset="0"/>
                <a:ea typeface="Calibri" pitchFamily="34" charset="-122"/>
                <a:cs typeface="Calibri" pitchFamily="34" charset="-120"/>
              </a:rPr>
              <a:t>Anthropic released an open-source plugin and MCP connector framework. What used to take a team of engineers and months of work can now be built by one nontechnical attorney in days.</a:t>
            </a:r>
            <a:endParaRPr lang="en-US" sz="1300" dirty="0"/>
          </a:p>
        </p:txBody>
      </p:sp>
      <p:sp>
        <p:nvSpPr>
          <p:cNvPr id="5" name="Shape 3"/>
          <p:cNvSpPr/>
          <p:nvPr/>
        </p:nvSpPr>
        <p:spPr>
          <a:xfrm>
            <a:off x="347472" y="1444752"/>
            <a:ext cx="2697480" cy="1417320"/>
          </a:xfrm>
          <a:prstGeom prst="rect">
            <a:avLst/>
          </a:prstGeom>
          <a:solidFill>
            <a:srgbClr val="1B5E8C">
              <a:alpha val="38000"/>
            </a:srgbClr>
          </a:solidFill>
          <a:ln w="12700">
            <a:solidFill>
              <a:srgbClr val="1B5E8C">
                <a:alpha val="60000"/>
              </a:srgbClr>
            </a:solidFill>
            <a:prstDash val="solid"/>
          </a:ln>
        </p:spPr>
      </p:sp>
      <p:sp>
        <p:nvSpPr>
          <p:cNvPr id="6" name="Shape 4"/>
          <p:cNvSpPr/>
          <p:nvPr/>
        </p:nvSpPr>
        <p:spPr>
          <a:xfrm>
            <a:off x="347472" y="1444752"/>
            <a:ext cx="2697480" cy="292608"/>
          </a:xfrm>
          <a:prstGeom prst="rect">
            <a:avLst/>
          </a:prstGeom>
          <a:solidFill>
            <a:srgbClr val="1B5E8C"/>
          </a:solidFill>
          <a:ln w="12700">
            <a:solidFill>
              <a:srgbClr val="1B5E8C"/>
            </a:solidFill>
            <a:prstDash val="solid"/>
          </a:ln>
        </p:spPr>
      </p:sp>
      <p:sp>
        <p:nvSpPr>
          <p:cNvPr id="7" name="Text 5"/>
          <p:cNvSpPr/>
          <p:nvPr/>
        </p:nvSpPr>
        <p:spPr>
          <a:xfrm>
            <a:off x="438912" y="1453896"/>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SHARED PLUGIN FRAMEWORK</a:t>
            </a:r>
            <a:endParaRPr lang="en-US" sz="900" dirty="0"/>
          </a:p>
        </p:txBody>
      </p:sp>
      <p:sp>
        <p:nvSpPr>
          <p:cNvPr id="8" name="Text 6"/>
          <p:cNvSpPr/>
          <p:nvPr/>
        </p:nvSpPr>
        <p:spPr>
          <a:xfrm>
            <a:off x="438912" y="1792224"/>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Skills and workflow logic written once, deployed everywhere. Works across jurisdictions without one-off solutions for each state. Every new contribution improves every deployment.</a:t>
            </a:r>
            <a:endParaRPr lang="en-US" sz="1100" dirty="0"/>
          </a:p>
        </p:txBody>
      </p:sp>
      <p:sp>
        <p:nvSpPr>
          <p:cNvPr id="9" name="Shape 7"/>
          <p:cNvSpPr/>
          <p:nvPr/>
        </p:nvSpPr>
        <p:spPr>
          <a:xfrm>
            <a:off x="3182112" y="1444752"/>
            <a:ext cx="2697480" cy="1417320"/>
          </a:xfrm>
          <a:prstGeom prst="rect">
            <a:avLst/>
          </a:prstGeom>
          <a:solidFill>
            <a:srgbClr val="1B5E8C">
              <a:alpha val="38000"/>
            </a:srgbClr>
          </a:solidFill>
          <a:ln w="12700">
            <a:solidFill>
              <a:srgbClr val="1B5E8C">
                <a:alpha val="60000"/>
              </a:srgbClr>
            </a:solidFill>
            <a:prstDash val="solid"/>
          </a:ln>
        </p:spPr>
      </p:sp>
      <p:sp>
        <p:nvSpPr>
          <p:cNvPr id="10" name="Shape 8"/>
          <p:cNvSpPr/>
          <p:nvPr/>
        </p:nvSpPr>
        <p:spPr>
          <a:xfrm>
            <a:off x="3182112" y="1444752"/>
            <a:ext cx="2697480" cy="292608"/>
          </a:xfrm>
          <a:prstGeom prst="rect">
            <a:avLst/>
          </a:prstGeom>
          <a:solidFill>
            <a:srgbClr val="1B5E8C"/>
          </a:solidFill>
          <a:ln w="12700">
            <a:solidFill>
              <a:srgbClr val="1B5E8C"/>
            </a:solidFill>
            <a:prstDash val="solid"/>
          </a:ln>
        </p:spPr>
      </p:sp>
      <p:sp>
        <p:nvSpPr>
          <p:cNvPr id="11" name="Text 9"/>
          <p:cNvSpPr/>
          <p:nvPr/>
        </p:nvSpPr>
        <p:spPr>
          <a:xfrm>
            <a:off x="3273552" y="1453896"/>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LIVE MCP LEGAL CONNECTORS</a:t>
            </a:r>
            <a:endParaRPr lang="en-US" sz="900" dirty="0"/>
          </a:p>
        </p:txBody>
      </p:sp>
      <p:sp>
        <p:nvSpPr>
          <p:cNvPr id="12" name="Text 10"/>
          <p:cNvSpPr/>
          <p:nvPr/>
        </p:nvSpPr>
        <p:spPr>
          <a:xfrm>
            <a:off x="3273552" y="1792224"/>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CourtListener, Legal Data Hunter, Lawve AI: real-time statute and case law retrieval—replacing static, outdated AI training data. Every answer is grounded in cited, verifiable source text.</a:t>
            </a:r>
            <a:endParaRPr lang="en-US" sz="1100" dirty="0"/>
          </a:p>
        </p:txBody>
      </p:sp>
      <p:sp>
        <p:nvSpPr>
          <p:cNvPr id="13" name="Shape 11"/>
          <p:cNvSpPr/>
          <p:nvPr/>
        </p:nvSpPr>
        <p:spPr>
          <a:xfrm>
            <a:off x="6016752" y="1444752"/>
            <a:ext cx="2697480" cy="1417320"/>
          </a:xfrm>
          <a:prstGeom prst="rect">
            <a:avLst/>
          </a:prstGeom>
          <a:solidFill>
            <a:srgbClr val="1B5E8C">
              <a:alpha val="38000"/>
            </a:srgbClr>
          </a:solidFill>
          <a:ln w="12700">
            <a:solidFill>
              <a:srgbClr val="1B5E8C">
                <a:alpha val="60000"/>
              </a:srgbClr>
            </a:solidFill>
            <a:prstDash val="solid"/>
          </a:ln>
        </p:spPr>
      </p:sp>
      <p:sp>
        <p:nvSpPr>
          <p:cNvPr id="14" name="Shape 12"/>
          <p:cNvSpPr/>
          <p:nvPr/>
        </p:nvSpPr>
        <p:spPr>
          <a:xfrm>
            <a:off x="6016752" y="1444752"/>
            <a:ext cx="2697480" cy="292608"/>
          </a:xfrm>
          <a:prstGeom prst="rect">
            <a:avLst/>
          </a:prstGeom>
          <a:solidFill>
            <a:srgbClr val="1B5E8C"/>
          </a:solidFill>
          <a:ln w="12700">
            <a:solidFill>
              <a:srgbClr val="1B5E8C"/>
            </a:solidFill>
            <a:prstDash val="solid"/>
          </a:ln>
        </p:spPr>
      </p:sp>
      <p:sp>
        <p:nvSpPr>
          <p:cNvPr id="15" name="Text 13"/>
          <p:cNvSpPr/>
          <p:nvPr/>
        </p:nvSpPr>
        <p:spPr>
          <a:xfrm>
            <a:off x="6108192" y="1453896"/>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PORTABILITY ACROSS JURISDICTIONS</a:t>
            </a:r>
            <a:endParaRPr lang="en-US" sz="900" dirty="0"/>
          </a:p>
        </p:txBody>
      </p:sp>
      <p:sp>
        <p:nvSpPr>
          <p:cNvPr id="16" name="Text 14"/>
          <p:cNvSpPr/>
          <p:nvPr/>
        </p:nvSpPr>
        <p:spPr>
          <a:xfrm>
            <a:off x="6108192" y="1792224"/>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Same reasoning engine. Same workflow logic. California to Texas is a rules file swap, not a new engineering project. 50 states = 50 data files, not 50 isolated builds.</a:t>
            </a:r>
            <a:endParaRPr lang="en-US" sz="1100" dirty="0"/>
          </a:p>
        </p:txBody>
      </p:sp>
      <p:sp>
        <p:nvSpPr>
          <p:cNvPr id="17" name="Shape 15"/>
          <p:cNvSpPr/>
          <p:nvPr/>
        </p:nvSpPr>
        <p:spPr>
          <a:xfrm>
            <a:off x="347472" y="2980944"/>
            <a:ext cx="2697480" cy="1417320"/>
          </a:xfrm>
          <a:prstGeom prst="rect">
            <a:avLst/>
          </a:prstGeom>
          <a:solidFill>
            <a:srgbClr val="1B5E8C">
              <a:alpha val="38000"/>
            </a:srgbClr>
          </a:solidFill>
          <a:ln w="12700">
            <a:solidFill>
              <a:srgbClr val="1B5E8C">
                <a:alpha val="60000"/>
              </a:srgbClr>
            </a:solidFill>
            <a:prstDash val="solid"/>
          </a:ln>
        </p:spPr>
      </p:sp>
      <p:sp>
        <p:nvSpPr>
          <p:cNvPr id="18" name="Shape 16"/>
          <p:cNvSpPr/>
          <p:nvPr/>
        </p:nvSpPr>
        <p:spPr>
          <a:xfrm>
            <a:off x="347472" y="2980944"/>
            <a:ext cx="2697480" cy="292608"/>
          </a:xfrm>
          <a:prstGeom prst="rect">
            <a:avLst/>
          </a:prstGeom>
          <a:solidFill>
            <a:srgbClr val="1B5E8C"/>
          </a:solidFill>
          <a:ln w="12700">
            <a:solidFill>
              <a:srgbClr val="1B5E8C"/>
            </a:solidFill>
            <a:prstDash val="solid"/>
          </a:ln>
        </p:spPr>
      </p:sp>
      <p:sp>
        <p:nvSpPr>
          <p:cNvPr id="19" name="Text 17"/>
          <p:cNvSpPr/>
          <p:nvPr/>
        </p:nvSpPr>
        <p:spPr>
          <a:xfrm>
            <a:off x="438912" y="2990088"/>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NO AI MODEL LOCK-IN</a:t>
            </a:r>
            <a:endParaRPr lang="en-US" sz="900" dirty="0"/>
          </a:p>
        </p:txBody>
      </p:sp>
      <p:sp>
        <p:nvSpPr>
          <p:cNvPr id="20" name="Text 18"/>
          <p:cNvSpPr/>
          <p:nvPr/>
        </p:nvSpPr>
        <p:spPr>
          <a:xfrm>
            <a:off x="438912" y="3328416"/>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Plugins and skills are designed to be portable across foundational AI models—not locked to Anthropic. The A2J community's investment is in shared infrastructure, not a single vendor.</a:t>
            </a:r>
            <a:endParaRPr lang="en-US" sz="1100" dirty="0"/>
          </a:p>
        </p:txBody>
      </p:sp>
      <p:sp>
        <p:nvSpPr>
          <p:cNvPr id="21" name="Shape 19"/>
          <p:cNvSpPr/>
          <p:nvPr/>
        </p:nvSpPr>
        <p:spPr>
          <a:xfrm>
            <a:off x="3182112" y="2980944"/>
            <a:ext cx="2697480" cy="1417320"/>
          </a:xfrm>
          <a:prstGeom prst="rect">
            <a:avLst/>
          </a:prstGeom>
          <a:solidFill>
            <a:srgbClr val="1B5E8C">
              <a:alpha val="38000"/>
            </a:srgbClr>
          </a:solidFill>
          <a:ln w="12700">
            <a:solidFill>
              <a:srgbClr val="1B5E8C">
                <a:alpha val="60000"/>
              </a:srgbClr>
            </a:solidFill>
            <a:prstDash val="solid"/>
          </a:ln>
        </p:spPr>
      </p:sp>
      <p:sp>
        <p:nvSpPr>
          <p:cNvPr id="22" name="Shape 20"/>
          <p:cNvSpPr/>
          <p:nvPr/>
        </p:nvSpPr>
        <p:spPr>
          <a:xfrm>
            <a:off x="3182112" y="2980944"/>
            <a:ext cx="2697480" cy="292608"/>
          </a:xfrm>
          <a:prstGeom prst="rect">
            <a:avLst/>
          </a:prstGeom>
          <a:solidFill>
            <a:srgbClr val="1B5E8C"/>
          </a:solidFill>
          <a:ln w="12700">
            <a:solidFill>
              <a:srgbClr val="1B5E8C"/>
            </a:solidFill>
            <a:prstDash val="solid"/>
          </a:ln>
        </p:spPr>
      </p:sp>
      <p:sp>
        <p:nvSpPr>
          <p:cNvPr id="23" name="Text 21"/>
          <p:cNvSpPr/>
          <p:nvPr/>
        </p:nvSpPr>
        <p:spPr>
          <a:xfrm>
            <a:off x="3273552" y="2990088"/>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DETERMINISTIC SAFETY</a:t>
            </a:r>
            <a:endParaRPr lang="en-US" sz="900" dirty="0"/>
          </a:p>
        </p:txBody>
      </p:sp>
      <p:sp>
        <p:nvSpPr>
          <p:cNvPr id="24" name="Text 22"/>
          <p:cNvSpPr/>
          <p:nvPr/>
        </p:nvSpPr>
        <p:spPr>
          <a:xfrm>
            <a:off x="3273552" y="3328416"/>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Legal rules are encoded as explicit structured data, not predicted by AI. The system checks facts against rules—it doesn't guess. Transparent, auditable, and updateable as law changes.</a:t>
            </a:r>
            <a:endParaRPr lang="en-US" sz="1100" dirty="0"/>
          </a:p>
        </p:txBody>
      </p:sp>
      <p:sp>
        <p:nvSpPr>
          <p:cNvPr id="25" name="Shape 23"/>
          <p:cNvSpPr/>
          <p:nvPr/>
        </p:nvSpPr>
        <p:spPr>
          <a:xfrm>
            <a:off x="6016752" y="2980944"/>
            <a:ext cx="2697480" cy="1417320"/>
          </a:xfrm>
          <a:prstGeom prst="rect">
            <a:avLst/>
          </a:prstGeom>
          <a:solidFill>
            <a:srgbClr val="1B5E8C">
              <a:alpha val="38000"/>
            </a:srgbClr>
          </a:solidFill>
          <a:ln w="12700">
            <a:solidFill>
              <a:srgbClr val="1B5E8C">
                <a:alpha val="60000"/>
              </a:srgbClr>
            </a:solidFill>
            <a:prstDash val="solid"/>
          </a:ln>
        </p:spPr>
      </p:sp>
      <p:sp>
        <p:nvSpPr>
          <p:cNvPr id="26" name="Shape 24"/>
          <p:cNvSpPr/>
          <p:nvPr/>
        </p:nvSpPr>
        <p:spPr>
          <a:xfrm>
            <a:off x="6016752" y="2980944"/>
            <a:ext cx="2697480" cy="292608"/>
          </a:xfrm>
          <a:prstGeom prst="rect">
            <a:avLst/>
          </a:prstGeom>
          <a:solidFill>
            <a:srgbClr val="1B5E8C"/>
          </a:solidFill>
          <a:ln w="12700">
            <a:solidFill>
              <a:srgbClr val="1B5E8C"/>
            </a:solidFill>
            <a:prstDash val="solid"/>
          </a:ln>
        </p:spPr>
      </p:sp>
      <p:sp>
        <p:nvSpPr>
          <p:cNvPr id="27" name="Text 25"/>
          <p:cNvSpPr/>
          <p:nvPr/>
        </p:nvSpPr>
        <p:spPr>
          <a:xfrm>
            <a:off x="6108192" y="2990088"/>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ONE PERSON, DAYS NOT YEARS</a:t>
            </a:r>
            <a:endParaRPr lang="en-US" sz="900" dirty="0"/>
          </a:p>
        </p:txBody>
      </p:sp>
      <p:sp>
        <p:nvSpPr>
          <p:cNvPr id="28" name="Text 26"/>
          <p:cNvSpPr/>
          <p:nvPr/>
        </p:nvSpPr>
        <p:spPr>
          <a:xfrm>
            <a:off x="6108192" y="3328416"/>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A nontechnical attorney built a working 3-state prototype in days for $0. The old model of expensive, siloed, years-long projects is no longer the only path.</a:t>
            </a:r>
            <a:endParaRPr lang="en-US" sz="1100" dirty="0"/>
          </a:p>
        </p:txBody>
      </p:sp>
      <p:sp>
        <p:nvSpPr>
          <p:cNvPr id="29" name="Text 27"/>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30" name="Shape 28"/>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548640" y="164592"/>
            <a:ext cx="8046720" cy="530352"/>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Before the demo — five things to know:</a:t>
            </a:r>
            <a:endParaRPr lang="en-US" sz="2600" dirty="0"/>
          </a:p>
        </p:txBody>
      </p:sp>
      <p:sp>
        <p:nvSpPr>
          <p:cNvPr id="4" name="Shape 2"/>
          <p:cNvSpPr/>
          <p:nvPr/>
        </p:nvSpPr>
        <p:spPr>
          <a:xfrm>
            <a:off x="438912" y="969264"/>
            <a:ext cx="384048" cy="384048"/>
          </a:xfrm>
          <a:prstGeom prst="ellipse">
            <a:avLst/>
          </a:prstGeom>
          <a:solidFill>
            <a:srgbClr val="E07B39"/>
          </a:solidFill>
          <a:ln w="12700">
            <a:solidFill>
              <a:srgbClr val="E07B39"/>
            </a:solidFill>
            <a:prstDash val="solid"/>
          </a:ln>
        </p:spPr>
      </p:sp>
      <p:sp>
        <p:nvSpPr>
          <p:cNvPr id="5" name="Text 3"/>
          <p:cNvSpPr/>
          <p:nvPr/>
        </p:nvSpPr>
        <p:spPr>
          <a:xfrm>
            <a:off x="438912" y="9692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6" name="Text 4"/>
          <p:cNvSpPr/>
          <p:nvPr/>
        </p:nvSpPr>
        <p:spPr>
          <a:xfrm>
            <a:off x="960120" y="859536"/>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Speed and cost</a:t>
            </a:r>
            <a:endParaRPr lang="en-US" sz="1300" dirty="0"/>
          </a:p>
        </p:txBody>
      </p:sp>
      <p:sp>
        <p:nvSpPr>
          <p:cNvPr id="7" name="Text 5"/>
          <p:cNvSpPr/>
          <p:nvPr/>
        </p:nvSpPr>
        <p:spPr>
          <a:xfrm>
            <a:off x="960120" y="1207008"/>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 nontechnical attorney built this in days for essentially $0. The old model of years-long team projects is no longer the only path.</a:t>
            </a:r>
            <a:endParaRPr lang="en-US" sz="1150" dirty="0"/>
          </a:p>
        </p:txBody>
      </p:sp>
      <p:sp>
        <p:nvSpPr>
          <p:cNvPr id="8" name="Shape 6"/>
          <p:cNvSpPr/>
          <p:nvPr/>
        </p:nvSpPr>
        <p:spPr>
          <a:xfrm>
            <a:off x="438912" y="1609344"/>
            <a:ext cx="8321040" cy="9144"/>
          </a:xfrm>
          <a:prstGeom prst="rect">
            <a:avLst/>
          </a:prstGeom>
          <a:solidFill>
            <a:srgbClr val="1B5E8C">
              <a:alpha val="55000"/>
            </a:srgbClr>
          </a:solidFill>
          <a:ln w="12700">
            <a:solidFill>
              <a:srgbClr val="1B5E8C">
                <a:alpha val="55000"/>
              </a:srgbClr>
            </a:solidFill>
            <a:prstDash val="solid"/>
          </a:ln>
        </p:spPr>
      </p:sp>
      <p:sp>
        <p:nvSpPr>
          <p:cNvPr id="9" name="Shape 7"/>
          <p:cNvSpPr/>
          <p:nvPr/>
        </p:nvSpPr>
        <p:spPr>
          <a:xfrm>
            <a:off x="438912" y="1755648"/>
            <a:ext cx="384048" cy="384048"/>
          </a:xfrm>
          <a:prstGeom prst="ellipse">
            <a:avLst/>
          </a:prstGeom>
          <a:solidFill>
            <a:srgbClr val="E07B39"/>
          </a:solidFill>
          <a:ln w="12700">
            <a:solidFill>
              <a:srgbClr val="E07B39"/>
            </a:solidFill>
            <a:prstDash val="solid"/>
          </a:ln>
        </p:spPr>
      </p:sp>
      <p:sp>
        <p:nvSpPr>
          <p:cNvPr id="10" name="Text 8"/>
          <p:cNvSpPr/>
          <p:nvPr/>
        </p:nvSpPr>
        <p:spPr>
          <a:xfrm>
            <a:off x="438912" y="1755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1" name="Text 9"/>
          <p:cNvSpPr/>
          <p:nvPr/>
        </p:nvSpPr>
        <p:spPr>
          <a:xfrm>
            <a:off x="960120" y="1645920"/>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Open-source, no lock-in</a:t>
            </a:r>
            <a:endParaRPr lang="en-US" sz="1300" dirty="0"/>
          </a:p>
        </p:txBody>
      </p:sp>
      <p:sp>
        <p:nvSpPr>
          <p:cNvPr id="12" name="Text 10"/>
          <p:cNvSpPr/>
          <p:nvPr/>
        </p:nvSpPr>
        <p:spPr>
          <a:xfrm>
            <a:off x="960120" y="1993392"/>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This runs on an open-source plugin framework. Skills and plugins are portable across AI models—not locked to Anthropic or any single vendor.</a:t>
            </a:r>
            <a:endParaRPr lang="en-US" sz="1150" dirty="0"/>
          </a:p>
        </p:txBody>
      </p:sp>
      <p:sp>
        <p:nvSpPr>
          <p:cNvPr id="13" name="Shape 11"/>
          <p:cNvSpPr/>
          <p:nvPr/>
        </p:nvSpPr>
        <p:spPr>
          <a:xfrm>
            <a:off x="438912" y="2395728"/>
            <a:ext cx="8321040" cy="9144"/>
          </a:xfrm>
          <a:prstGeom prst="rect">
            <a:avLst/>
          </a:prstGeom>
          <a:solidFill>
            <a:srgbClr val="1B5E8C">
              <a:alpha val="55000"/>
            </a:srgbClr>
          </a:solidFill>
          <a:ln w="12700">
            <a:solidFill>
              <a:srgbClr val="1B5E8C">
                <a:alpha val="55000"/>
              </a:srgbClr>
            </a:solidFill>
            <a:prstDash val="solid"/>
          </a:ln>
        </p:spPr>
      </p:sp>
      <p:sp>
        <p:nvSpPr>
          <p:cNvPr id="14" name="Shape 12"/>
          <p:cNvSpPr/>
          <p:nvPr/>
        </p:nvSpPr>
        <p:spPr>
          <a:xfrm>
            <a:off x="438912" y="2542032"/>
            <a:ext cx="384048" cy="384048"/>
          </a:xfrm>
          <a:prstGeom prst="ellipse">
            <a:avLst/>
          </a:prstGeom>
          <a:solidFill>
            <a:srgbClr val="E07B39"/>
          </a:solidFill>
          <a:ln w="12700">
            <a:solidFill>
              <a:srgbClr val="E07B39"/>
            </a:solidFill>
            <a:prstDash val="solid"/>
          </a:ln>
        </p:spPr>
      </p:sp>
      <p:sp>
        <p:nvSpPr>
          <p:cNvPr id="15" name="Text 13"/>
          <p:cNvSpPr/>
          <p:nvPr/>
        </p:nvSpPr>
        <p:spPr>
          <a:xfrm>
            <a:off x="438912" y="2542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6" name="Text 14"/>
          <p:cNvSpPr/>
          <p:nvPr/>
        </p:nvSpPr>
        <p:spPr>
          <a:xfrm>
            <a:off x="960120" y="2432304"/>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Live law retrieval</a:t>
            </a:r>
            <a:endParaRPr lang="en-US" sz="1300" dirty="0"/>
          </a:p>
        </p:txBody>
      </p:sp>
      <p:sp>
        <p:nvSpPr>
          <p:cNvPr id="17" name="Text 15"/>
          <p:cNvSpPr/>
          <p:nvPr/>
        </p:nvSpPr>
        <p:spPr>
          <a:xfrm>
            <a:off x="960120" y="2779776"/>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This tool does not guess at the law. It retrieves the current statute text in real time. Every citation links directly to the source.</a:t>
            </a:r>
            <a:endParaRPr lang="en-US" sz="1150" dirty="0"/>
          </a:p>
        </p:txBody>
      </p:sp>
      <p:sp>
        <p:nvSpPr>
          <p:cNvPr id="18" name="Shape 16"/>
          <p:cNvSpPr/>
          <p:nvPr/>
        </p:nvSpPr>
        <p:spPr>
          <a:xfrm>
            <a:off x="438912" y="3182112"/>
            <a:ext cx="8321040" cy="9144"/>
          </a:xfrm>
          <a:prstGeom prst="rect">
            <a:avLst/>
          </a:prstGeom>
          <a:solidFill>
            <a:srgbClr val="1B5E8C">
              <a:alpha val="55000"/>
            </a:srgbClr>
          </a:solidFill>
          <a:ln w="12700">
            <a:solidFill>
              <a:srgbClr val="1B5E8C">
                <a:alpha val="55000"/>
              </a:srgbClr>
            </a:solidFill>
            <a:prstDash val="solid"/>
          </a:ln>
        </p:spPr>
      </p:sp>
      <p:sp>
        <p:nvSpPr>
          <p:cNvPr id="19" name="Shape 17"/>
          <p:cNvSpPr/>
          <p:nvPr/>
        </p:nvSpPr>
        <p:spPr>
          <a:xfrm>
            <a:off x="438912" y="3328416"/>
            <a:ext cx="384048" cy="384048"/>
          </a:xfrm>
          <a:prstGeom prst="ellipse">
            <a:avLst/>
          </a:prstGeom>
          <a:solidFill>
            <a:srgbClr val="E07B39"/>
          </a:solidFill>
          <a:ln w="12700">
            <a:solidFill>
              <a:srgbClr val="E07B39"/>
            </a:solidFill>
            <a:prstDash val="solid"/>
          </a:ln>
        </p:spPr>
      </p:sp>
      <p:sp>
        <p:nvSpPr>
          <p:cNvPr id="20" name="Text 18"/>
          <p:cNvSpPr/>
          <p:nvPr/>
        </p:nvSpPr>
        <p:spPr>
          <a:xfrm>
            <a:off x="438912" y="33284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1" name="Text 19"/>
          <p:cNvSpPr/>
          <p:nvPr/>
        </p:nvSpPr>
        <p:spPr>
          <a:xfrm>
            <a:off x="960120" y="3218688"/>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Portability across states</a:t>
            </a:r>
            <a:endParaRPr lang="en-US" sz="1300" dirty="0"/>
          </a:p>
        </p:txBody>
      </p:sp>
      <p:sp>
        <p:nvSpPr>
          <p:cNvPr id="22" name="Text 20"/>
          <p:cNvSpPr/>
          <p:nvPr/>
        </p:nvSpPr>
        <p:spPr>
          <a:xfrm>
            <a:off x="960120" y="3566160"/>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The same workflow logic applies to California, Texas, and New York. Changing the state means swapping a data file—not rewriting the tool.</a:t>
            </a:r>
            <a:endParaRPr lang="en-US" sz="1150" dirty="0"/>
          </a:p>
        </p:txBody>
      </p:sp>
      <p:sp>
        <p:nvSpPr>
          <p:cNvPr id="23" name="Shape 21"/>
          <p:cNvSpPr/>
          <p:nvPr/>
        </p:nvSpPr>
        <p:spPr>
          <a:xfrm>
            <a:off x="438912" y="3968496"/>
            <a:ext cx="8321040" cy="9144"/>
          </a:xfrm>
          <a:prstGeom prst="rect">
            <a:avLst/>
          </a:prstGeom>
          <a:solidFill>
            <a:srgbClr val="1B5E8C">
              <a:alpha val="55000"/>
            </a:srgbClr>
          </a:solidFill>
          <a:ln w="12700">
            <a:solidFill>
              <a:srgbClr val="1B5E8C">
                <a:alpha val="55000"/>
              </a:srgbClr>
            </a:solidFill>
            <a:prstDash val="solid"/>
          </a:ln>
        </p:spPr>
      </p:sp>
      <p:sp>
        <p:nvSpPr>
          <p:cNvPr id="24" name="Shape 22"/>
          <p:cNvSpPr/>
          <p:nvPr/>
        </p:nvSpPr>
        <p:spPr>
          <a:xfrm>
            <a:off x="438912" y="4114800"/>
            <a:ext cx="384048" cy="384048"/>
          </a:xfrm>
          <a:prstGeom prst="ellipse">
            <a:avLst/>
          </a:prstGeom>
          <a:solidFill>
            <a:srgbClr val="E07B39"/>
          </a:solidFill>
          <a:ln w="12700">
            <a:solidFill>
              <a:srgbClr val="E07B39"/>
            </a:solidFill>
            <a:prstDash val="solid"/>
          </a:ln>
        </p:spPr>
      </p:sp>
      <p:sp>
        <p:nvSpPr>
          <p:cNvPr id="25" name="Text 23"/>
          <p:cNvSpPr/>
          <p:nvPr/>
        </p:nvSpPr>
        <p:spPr>
          <a:xfrm>
            <a:off x="438912"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6" name="Text 24"/>
          <p:cNvSpPr/>
          <p:nvPr/>
        </p:nvSpPr>
        <p:spPr>
          <a:xfrm>
            <a:off x="960120" y="4005072"/>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Safety built in by design</a:t>
            </a:r>
            <a:endParaRPr lang="en-US" sz="1300" dirty="0"/>
          </a:p>
        </p:txBody>
      </p:sp>
      <p:sp>
        <p:nvSpPr>
          <p:cNvPr id="27" name="Text 25"/>
          <p:cNvSpPr/>
          <p:nvPr/>
        </p:nvSpPr>
        <p:spPr>
          <a:xfrm>
            <a:off x="960120" y="4352544"/>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Rules are deterministic, not predictive—explicit if/then logic, not AI inference. Transparency, citations, and referrals to attorneys are part of the architecture from the start.</a:t>
            </a:r>
            <a:endParaRPr lang="en-US" sz="1150" dirty="0"/>
          </a:p>
        </p:txBody>
      </p:sp>
      <p:sp>
        <p:nvSpPr>
          <p:cNvPr id="28" name="Text 26"/>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29" name="Shape 27"/>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82880"/>
            <a:ext cx="5029200" cy="548640"/>
          </a:xfrm>
          <a:prstGeom prst="rect">
            <a:avLst/>
          </a:prstGeom>
          <a:noFill/>
          <a:ln/>
        </p:spPr>
        <p:txBody>
          <a:bodyPr wrap="square" rtlCol="0" anchor="ctr"/>
          <a:lstStyle/>
          <a:p>
            <a:pPr indent="0" marL="0">
              <a:buNone/>
            </a:pPr>
            <a:r>
              <a:rPr lang="en-US" sz="3200" b="1" dirty="0">
                <a:solidFill>
                  <a:srgbClr val="1A1A2E"/>
                </a:solidFill>
                <a:latin typeface="Georgia" pitchFamily="34" charset="0"/>
                <a:ea typeface="Georgia" pitchFamily="34" charset="-122"/>
                <a:cs typeface="Georgia" pitchFamily="34" charset="-120"/>
              </a:rPr>
              <a:t>Meet Maria.</a:t>
            </a:r>
            <a:endParaRPr lang="en-US" sz="3200" dirty="0"/>
          </a:p>
        </p:txBody>
      </p:sp>
      <p:sp>
        <p:nvSpPr>
          <p:cNvPr id="4" name="Text 2"/>
          <p:cNvSpPr/>
          <p:nvPr/>
        </p:nvSpPr>
        <p:spPr>
          <a:xfrm>
            <a:off x="457200" y="749808"/>
            <a:ext cx="5029200" cy="384048"/>
          </a:xfrm>
          <a:prstGeom prst="rect">
            <a:avLst/>
          </a:prstGeom>
          <a:noFill/>
          <a:ln/>
        </p:spPr>
        <p:txBody>
          <a:bodyPr wrap="square"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Restaurant worker. Los Angeles. Three years in the same apartment.</a:t>
            </a:r>
            <a:endParaRPr lang="en-US" sz="1400" dirty="0"/>
          </a:p>
        </p:txBody>
      </p:sp>
      <p:sp>
        <p:nvSpPr>
          <p:cNvPr id="5" name="Shape 3"/>
          <p:cNvSpPr/>
          <p:nvPr/>
        </p:nvSpPr>
        <p:spPr>
          <a:xfrm>
            <a:off x="475488" y="1389888"/>
            <a:ext cx="164592" cy="164592"/>
          </a:xfrm>
          <a:prstGeom prst="ellipse">
            <a:avLst/>
          </a:prstGeom>
          <a:solidFill>
            <a:srgbClr val="E07B39"/>
          </a:solidFill>
          <a:ln w="12700">
            <a:solidFill>
              <a:srgbClr val="E07B39"/>
            </a:solidFill>
            <a:prstDash val="solid"/>
          </a:ln>
        </p:spPr>
      </p:sp>
      <p:sp>
        <p:nvSpPr>
          <p:cNvPr id="6" name="Text 4"/>
          <p:cNvSpPr/>
          <p:nvPr/>
        </p:nvSpPr>
        <p:spPr>
          <a:xfrm>
            <a:off x="804672" y="1298448"/>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10pm. She opens her door. A notice is taped to it.</a:t>
            </a:r>
            <a:endParaRPr lang="en-US" sz="1300" dirty="0"/>
          </a:p>
        </p:txBody>
      </p:sp>
      <p:sp>
        <p:nvSpPr>
          <p:cNvPr id="7" name="Shape 5"/>
          <p:cNvSpPr/>
          <p:nvPr/>
        </p:nvSpPr>
        <p:spPr>
          <a:xfrm>
            <a:off x="475488" y="2011680"/>
            <a:ext cx="164592" cy="164592"/>
          </a:xfrm>
          <a:prstGeom prst="ellipse">
            <a:avLst/>
          </a:prstGeom>
          <a:solidFill>
            <a:srgbClr val="E07B39"/>
          </a:solidFill>
          <a:ln w="12700">
            <a:solidFill>
              <a:srgbClr val="E07B39"/>
            </a:solidFill>
            <a:prstDash val="solid"/>
          </a:ln>
        </p:spPr>
      </p:sp>
      <p:sp>
        <p:nvSpPr>
          <p:cNvPr id="8" name="Text 6"/>
          <p:cNvSpPr/>
          <p:nvPr/>
        </p:nvSpPr>
        <p:spPr>
          <a:xfrm>
            <a:off x="804672" y="1920240"/>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It demands $2,050: $1,850 in rent, plus $200 in late fees.</a:t>
            </a:r>
            <a:endParaRPr lang="en-US" sz="1300" dirty="0"/>
          </a:p>
        </p:txBody>
      </p:sp>
      <p:sp>
        <p:nvSpPr>
          <p:cNvPr id="9" name="Shape 7"/>
          <p:cNvSpPr/>
          <p:nvPr/>
        </p:nvSpPr>
        <p:spPr>
          <a:xfrm>
            <a:off x="475488" y="2633472"/>
            <a:ext cx="164592" cy="164592"/>
          </a:xfrm>
          <a:prstGeom prst="ellipse">
            <a:avLst/>
          </a:prstGeom>
          <a:solidFill>
            <a:srgbClr val="E07B39"/>
          </a:solidFill>
          <a:ln w="12700">
            <a:solidFill>
              <a:srgbClr val="E07B39"/>
            </a:solidFill>
            <a:prstDash val="solid"/>
          </a:ln>
        </p:spPr>
      </p:sp>
      <p:sp>
        <p:nvSpPr>
          <p:cNvPr id="10" name="Text 8"/>
          <p:cNvSpPr/>
          <p:nvPr/>
        </p:nvSpPr>
        <p:spPr>
          <a:xfrm>
            <a:off x="804672" y="2542032"/>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She has 3 days. She Googles. She finds legal jargon. She panics.</a:t>
            </a:r>
            <a:endParaRPr lang="en-US" sz="1300" dirty="0"/>
          </a:p>
        </p:txBody>
      </p:sp>
      <p:sp>
        <p:nvSpPr>
          <p:cNvPr id="11" name="Shape 9"/>
          <p:cNvSpPr/>
          <p:nvPr/>
        </p:nvSpPr>
        <p:spPr>
          <a:xfrm>
            <a:off x="475488" y="3255264"/>
            <a:ext cx="164592" cy="164592"/>
          </a:xfrm>
          <a:prstGeom prst="ellipse">
            <a:avLst/>
          </a:prstGeom>
          <a:solidFill>
            <a:srgbClr val="E07B39"/>
          </a:solidFill>
          <a:ln w="12700">
            <a:solidFill>
              <a:srgbClr val="E07B39"/>
            </a:solidFill>
            <a:prstDash val="solid"/>
          </a:ln>
        </p:spPr>
      </p:sp>
      <p:sp>
        <p:nvSpPr>
          <p:cNvPr id="12" name="Text 10"/>
          <p:cNvSpPr/>
          <p:nvPr/>
        </p:nvSpPr>
        <p:spPr>
          <a:xfrm>
            <a:off x="804672" y="3163824"/>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She calls the legal aid hotline. Multi-day wait. She's on her own.</a:t>
            </a:r>
            <a:endParaRPr lang="en-US" sz="1300" dirty="0"/>
          </a:p>
        </p:txBody>
      </p:sp>
      <p:sp>
        <p:nvSpPr>
          <p:cNvPr id="13" name="Shape 11"/>
          <p:cNvSpPr/>
          <p:nvPr/>
        </p:nvSpPr>
        <p:spPr>
          <a:xfrm>
            <a:off x="475488" y="3877056"/>
            <a:ext cx="164592" cy="164592"/>
          </a:xfrm>
          <a:prstGeom prst="ellipse">
            <a:avLst/>
          </a:prstGeom>
          <a:solidFill>
            <a:srgbClr val="2A7A4B"/>
          </a:solidFill>
          <a:ln w="12700">
            <a:solidFill>
              <a:srgbClr val="2A7A4B"/>
            </a:solidFill>
            <a:prstDash val="solid"/>
          </a:ln>
        </p:spPr>
      </p:sp>
      <p:sp>
        <p:nvSpPr>
          <p:cNvPr id="14" name="Text 12"/>
          <p:cNvSpPr/>
          <p:nvPr/>
        </p:nvSpPr>
        <p:spPr>
          <a:xfrm>
            <a:off x="804672" y="3785616"/>
            <a:ext cx="4663440" cy="502920"/>
          </a:xfrm>
          <a:prstGeom prst="rect">
            <a:avLst/>
          </a:prstGeom>
          <a:noFill/>
          <a:ln/>
        </p:spPr>
        <p:txBody>
          <a:bodyPr wrap="square" rtlCol="0" anchor="t"/>
          <a:lstStyle/>
          <a:p>
            <a:pPr algn="l" indent="0" marL="0">
              <a:buNone/>
            </a:pPr>
            <a:r>
              <a:rPr lang="en-US" sz="1300" b="1" dirty="0">
                <a:solidFill>
                  <a:srgbClr val="2A7A4B"/>
                </a:solidFill>
                <a:latin typeface="Calibri" pitchFamily="34" charset="0"/>
                <a:ea typeface="Calibri" pitchFamily="34" charset="-122"/>
                <a:cs typeface="Calibri" pitchFamily="34" charset="-120"/>
              </a:rPr>
              <a:t>She doesn't know: the $200 late fee may make the entire notice void under California law.</a:t>
            </a:r>
            <a:endParaRPr lang="en-US" sz="1300" dirty="0"/>
          </a:p>
        </p:txBody>
      </p:sp>
      <p:sp>
        <p:nvSpPr>
          <p:cNvPr id="15" name="Shape 13"/>
          <p:cNvSpPr/>
          <p:nvPr/>
        </p:nvSpPr>
        <p:spPr>
          <a:xfrm>
            <a:off x="5760720" y="384048"/>
            <a:ext cx="3108960" cy="4160520"/>
          </a:xfrm>
          <a:prstGeom prst="rect">
            <a:avLst/>
          </a:prstGeom>
          <a:solidFill>
            <a:srgbClr val="FFFDE7"/>
          </a:solidFill>
          <a:ln w="19050">
            <a:solidFill>
              <a:srgbClr val="D4A020"/>
            </a:solidFill>
            <a:prstDash val="solid"/>
          </a:ln>
          <a:effectLst>
            <a:outerShdw sx="100000" sy="100000" kx="0" ky="0" algn="bl" rotWithShape="0" blurRad="101600" dist="25400" dir="8100000">
              <a:srgbClr val="000000">
                <a:alpha val="8000"/>
              </a:srgbClr>
            </a:outerShdw>
          </a:effectLst>
        </p:spPr>
      </p:sp>
      <p:sp>
        <p:nvSpPr>
          <p:cNvPr id="16" name="Text 14"/>
          <p:cNvSpPr/>
          <p:nvPr/>
        </p:nvSpPr>
        <p:spPr>
          <a:xfrm>
            <a:off x="5897880" y="530352"/>
            <a:ext cx="2834640" cy="658368"/>
          </a:xfrm>
          <a:prstGeom prst="rect">
            <a:avLst/>
          </a:prstGeom>
          <a:noFill/>
          <a:ln/>
        </p:spPr>
        <p:txBody>
          <a:bodyPr wrap="square" rtlCol="0" anchor="ctr"/>
          <a:lstStyle/>
          <a:p>
            <a:pPr algn="ctr" indent="0" marL="0">
              <a:buNone/>
            </a:pPr>
            <a:r>
              <a:rPr lang="en-US" sz="1200" b="1" dirty="0">
                <a:solidFill>
                  <a:srgbClr val="A0392A"/>
                </a:solidFill>
                <a:latin typeface="Georgia" pitchFamily="34" charset="0"/>
                <a:ea typeface="Georgia" pitchFamily="34" charset="-122"/>
                <a:cs typeface="Georgia" pitchFamily="34" charset="-120"/>
              </a:rPr>
              <a:t>THREE-DAY NOTICE</a:t>
            </a:r>
            <a:endParaRPr lang="en-US" sz="1200" dirty="0"/>
          </a:p>
          <a:p>
            <a:pPr algn="ctr" indent="0" marL="0">
              <a:buNone/>
            </a:pPr>
            <a:r>
              <a:rPr lang="en-US" sz="1200" b="1" dirty="0">
                <a:solidFill>
                  <a:srgbClr val="A0392A"/>
                </a:solidFill>
                <a:latin typeface="Georgia" pitchFamily="34" charset="0"/>
                <a:ea typeface="Georgia" pitchFamily="34" charset="-122"/>
                <a:cs typeface="Georgia" pitchFamily="34" charset="-120"/>
              </a:rPr>
              <a:t>TO PAY RENT OR QUIT</a:t>
            </a:r>
            <a:endParaRPr lang="en-US" sz="1200" dirty="0"/>
          </a:p>
        </p:txBody>
      </p:sp>
      <p:sp>
        <p:nvSpPr>
          <p:cNvPr id="17" name="Shape 15"/>
          <p:cNvSpPr/>
          <p:nvPr/>
        </p:nvSpPr>
        <p:spPr>
          <a:xfrm>
            <a:off x="5897880" y="1261872"/>
            <a:ext cx="2834640" cy="18288"/>
          </a:xfrm>
          <a:prstGeom prst="rect">
            <a:avLst/>
          </a:prstGeom>
          <a:solidFill>
            <a:srgbClr val="C0A020"/>
          </a:solidFill>
          <a:ln w="12700">
            <a:solidFill>
              <a:srgbClr val="C0A020"/>
            </a:solidFill>
            <a:prstDash val="solid"/>
          </a:ln>
        </p:spPr>
      </p:sp>
      <p:sp>
        <p:nvSpPr>
          <p:cNvPr id="18" name="Text 16"/>
          <p:cNvSpPr/>
          <p:nvPr/>
        </p:nvSpPr>
        <p:spPr>
          <a:xfrm>
            <a:off x="5943600" y="1371600"/>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TO:</a:t>
            </a:r>
            <a:endParaRPr lang="en-US" sz="1100" dirty="0"/>
          </a:p>
        </p:txBody>
      </p:sp>
      <p:sp>
        <p:nvSpPr>
          <p:cNvPr id="19" name="Text 17"/>
          <p:cNvSpPr/>
          <p:nvPr/>
        </p:nvSpPr>
        <p:spPr>
          <a:xfrm>
            <a:off x="7205472" y="1371600"/>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Maria [Tenant]</a:t>
            </a:r>
            <a:endParaRPr lang="en-US" sz="1100" dirty="0"/>
          </a:p>
        </p:txBody>
      </p:sp>
      <p:sp>
        <p:nvSpPr>
          <p:cNvPr id="20" name="Text 18"/>
          <p:cNvSpPr/>
          <p:nvPr/>
        </p:nvSpPr>
        <p:spPr>
          <a:xfrm>
            <a:off x="5943600" y="1755648"/>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PROPERTY:</a:t>
            </a:r>
            <a:endParaRPr lang="en-US" sz="1100" dirty="0"/>
          </a:p>
        </p:txBody>
      </p:sp>
      <p:sp>
        <p:nvSpPr>
          <p:cNvPr id="21" name="Text 19"/>
          <p:cNvSpPr/>
          <p:nvPr/>
        </p:nvSpPr>
        <p:spPr>
          <a:xfrm>
            <a:off x="7205472" y="1755648"/>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1234 Elm St, Apt 4</a:t>
            </a:r>
            <a:endParaRPr lang="en-US" sz="1100" dirty="0"/>
          </a:p>
          <a:p>
            <a:pPr algn="r" indent="0" marL="0">
              <a:buNone/>
            </a:pPr>
            <a:r>
              <a:rPr lang="en-US" sz="1100" dirty="0">
                <a:solidFill>
                  <a:srgbClr val="1A1A2E"/>
                </a:solidFill>
                <a:latin typeface="Calibri" pitchFamily="34" charset="0"/>
                <a:ea typeface="Calibri" pitchFamily="34" charset="-122"/>
                <a:cs typeface="Calibri" pitchFamily="34" charset="-120"/>
              </a:rPr>
              <a:t>Los Angeles, CA</a:t>
            </a:r>
            <a:endParaRPr lang="en-US" sz="1100" dirty="0"/>
          </a:p>
        </p:txBody>
      </p:sp>
      <p:sp>
        <p:nvSpPr>
          <p:cNvPr id="22" name="Text 20"/>
          <p:cNvSpPr/>
          <p:nvPr/>
        </p:nvSpPr>
        <p:spPr>
          <a:xfrm>
            <a:off x="5943600" y="2139696"/>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RENT OWED:</a:t>
            </a:r>
            <a:endParaRPr lang="en-US" sz="1100" dirty="0"/>
          </a:p>
        </p:txBody>
      </p:sp>
      <p:sp>
        <p:nvSpPr>
          <p:cNvPr id="23" name="Text 21"/>
          <p:cNvSpPr/>
          <p:nvPr/>
        </p:nvSpPr>
        <p:spPr>
          <a:xfrm>
            <a:off x="7205472" y="2139696"/>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$1,850.00</a:t>
            </a:r>
            <a:endParaRPr lang="en-US" sz="1100" dirty="0"/>
          </a:p>
        </p:txBody>
      </p:sp>
      <p:sp>
        <p:nvSpPr>
          <p:cNvPr id="24" name="Text 22"/>
          <p:cNvSpPr/>
          <p:nvPr/>
        </p:nvSpPr>
        <p:spPr>
          <a:xfrm>
            <a:off x="5943600" y="2523744"/>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LATE FEES:</a:t>
            </a:r>
            <a:endParaRPr lang="en-US" sz="1100" dirty="0"/>
          </a:p>
        </p:txBody>
      </p:sp>
      <p:sp>
        <p:nvSpPr>
          <p:cNvPr id="25" name="Text 23"/>
          <p:cNvSpPr/>
          <p:nvPr/>
        </p:nvSpPr>
        <p:spPr>
          <a:xfrm>
            <a:off x="7205472" y="2523744"/>
            <a:ext cx="1536192" cy="347472"/>
          </a:xfrm>
          <a:prstGeom prst="rect">
            <a:avLst/>
          </a:prstGeom>
          <a:noFill/>
          <a:ln/>
        </p:spPr>
        <p:txBody>
          <a:bodyPr wrap="square" rtlCol="0" anchor="t"/>
          <a:lstStyle/>
          <a:p>
            <a:pPr algn="r" indent="0" marL="0">
              <a:buNone/>
            </a:pPr>
            <a:r>
              <a:rPr lang="en-US" sz="1100" dirty="0">
                <a:solidFill>
                  <a:srgbClr val="A0392A"/>
                </a:solidFill>
                <a:latin typeface="Calibri" pitchFamily="34" charset="0"/>
                <a:ea typeface="Calibri" pitchFamily="34" charset="-122"/>
                <a:cs typeface="Calibri" pitchFamily="34" charset="-120"/>
              </a:rPr>
              <a:t>$200.00</a:t>
            </a:r>
            <a:endParaRPr lang="en-US" sz="1100" dirty="0"/>
          </a:p>
        </p:txBody>
      </p:sp>
      <p:sp>
        <p:nvSpPr>
          <p:cNvPr id="26" name="Text 24"/>
          <p:cNvSpPr/>
          <p:nvPr/>
        </p:nvSpPr>
        <p:spPr>
          <a:xfrm>
            <a:off x="5943600" y="2907792"/>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TOTAL DUE:</a:t>
            </a:r>
            <a:endParaRPr lang="en-US" sz="1100" dirty="0"/>
          </a:p>
        </p:txBody>
      </p:sp>
      <p:sp>
        <p:nvSpPr>
          <p:cNvPr id="27" name="Text 25"/>
          <p:cNvSpPr/>
          <p:nvPr/>
        </p:nvSpPr>
        <p:spPr>
          <a:xfrm>
            <a:off x="7205472" y="2907792"/>
            <a:ext cx="1536192" cy="347472"/>
          </a:xfrm>
          <a:prstGeom prst="rect">
            <a:avLst/>
          </a:prstGeom>
          <a:noFill/>
          <a:ln/>
        </p:spPr>
        <p:txBody>
          <a:bodyPr wrap="square" rtlCol="0" anchor="t"/>
          <a:lstStyle/>
          <a:p>
            <a:pPr algn="r" indent="0" marL="0">
              <a:buNone/>
            </a:pPr>
            <a:r>
              <a:rPr lang="en-US" sz="1100" b="1" dirty="0">
                <a:solidFill>
                  <a:srgbClr val="A0392A"/>
                </a:solidFill>
                <a:latin typeface="Calibri" pitchFamily="34" charset="0"/>
                <a:ea typeface="Calibri" pitchFamily="34" charset="-122"/>
                <a:cs typeface="Calibri" pitchFamily="34" charset="-120"/>
              </a:rPr>
              <a:t>$2,050.00</a:t>
            </a:r>
            <a:endParaRPr lang="en-US" sz="1100" dirty="0"/>
          </a:p>
        </p:txBody>
      </p:sp>
      <p:sp>
        <p:nvSpPr>
          <p:cNvPr id="28" name="Text 26"/>
          <p:cNvSpPr/>
          <p:nvPr/>
        </p:nvSpPr>
        <p:spPr>
          <a:xfrm>
            <a:off x="5943600" y="3291840"/>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COMPLY BY:</a:t>
            </a:r>
            <a:endParaRPr lang="en-US" sz="1100" dirty="0"/>
          </a:p>
        </p:txBody>
      </p:sp>
      <p:sp>
        <p:nvSpPr>
          <p:cNvPr id="29" name="Text 27"/>
          <p:cNvSpPr/>
          <p:nvPr/>
        </p:nvSpPr>
        <p:spPr>
          <a:xfrm>
            <a:off x="7205472" y="3291840"/>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3 days from service</a:t>
            </a:r>
            <a:endParaRPr lang="en-US" sz="1100" dirty="0"/>
          </a:p>
        </p:txBody>
      </p:sp>
      <p:sp>
        <p:nvSpPr>
          <p:cNvPr id="30" name="Shape 28"/>
          <p:cNvSpPr/>
          <p:nvPr/>
        </p:nvSpPr>
        <p:spPr>
          <a:xfrm>
            <a:off x="5897880" y="3730752"/>
            <a:ext cx="2834640" cy="685800"/>
          </a:xfrm>
          <a:prstGeom prst="rect">
            <a:avLst/>
          </a:prstGeom>
          <a:solidFill>
            <a:srgbClr val="FFF3E0"/>
          </a:solidFill>
          <a:ln w="19050">
            <a:solidFill>
              <a:srgbClr val="E07B39"/>
            </a:solidFill>
            <a:prstDash val="solid"/>
          </a:ln>
        </p:spPr>
      </p:sp>
      <p:sp>
        <p:nvSpPr>
          <p:cNvPr id="31" name="Text 29"/>
          <p:cNvSpPr/>
          <p:nvPr/>
        </p:nvSpPr>
        <p:spPr>
          <a:xfrm>
            <a:off x="6016752" y="3785616"/>
            <a:ext cx="2606040" cy="594360"/>
          </a:xfrm>
          <a:prstGeom prst="rect">
            <a:avLst/>
          </a:prstGeom>
          <a:noFill/>
          <a:ln/>
        </p:spPr>
        <p:txBody>
          <a:bodyPr wrap="square" rtlCol="0" anchor="t"/>
          <a:lstStyle/>
          <a:p>
            <a:pPr algn="l" indent="0" marL="0">
              <a:buNone/>
            </a:pPr>
            <a:r>
              <a:rPr lang="en-US" sz="1050" b="1" dirty="0">
                <a:solidFill>
                  <a:srgbClr val="A0392A"/>
                </a:solidFill>
                <a:latin typeface="Calibri" pitchFamily="34" charset="0"/>
                <a:ea typeface="Calibri" pitchFamily="34" charset="-122"/>
                <a:cs typeface="Calibri" pitchFamily="34" charset="-120"/>
              </a:rPr>
              <a:t>POSSIBLE DEFECT: Late fees included in</a:t>
            </a:r>
            <a:endParaRPr lang="en-US" sz="1050" dirty="0"/>
          </a:p>
          <a:p>
            <a:pPr algn="l" indent="0" marL="0">
              <a:buNone/>
            </a:pPr>
            <a:r>
              <a:rPr lang="en-US" sz="1050" b="1" dirty="0">
                <a:solidFill>
                  <a:srgbClr val="A0392A"/>
                </a:solidFill>
                <a:latin typeface="Calibri" pitchFamily="34" charset="0"/>
                <a:ea typeface="Calibri" pitchFamily="34" charset="-122"/>
                <a:cs typeface="Calibri" pitchFamily="34" charset="-120"/>
              </a:rPr>
              <a:t>notice amount may void this notice.</a:t>
            </a:r>
            <a:endParaRPr lang="en-US" sz="1050" dirty="0"/>
          </a:p>
          <a:p>
            <a:pPr algn="l" indent="0" marL="0">
              <a:buNone/>
            </a:pPr>
            <a:r>
              <a:rPr lang="en-US" sz="1050" b="1" dirty="0">
                <a:solidFill>
                  <a:srgbClr val="A0392A"/>
                </a:solidFill>
                <a:latin typeface="Calibri" pitchFamily="34" charset="0"/>
                <a:ea typeface="Calibri" pitchFamily="34" charset="-122"/>
                <a:cs typeface="Calibri" pitchFamily="34" charset="-120"/>
              </a:rPr>
              <a:t>[CCP Section 1161(2)]</a:t>
            </a:r>
            <a:endParaRPr lang="en-US" sz="1050" dirty="0"/>
          </a:p>
        </p:txBody>
      </p:sp>
      <p:sp>
        <p:nvSpPr>
          <p:cNvPr id="32" name="Text 30"/>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33" name="Shape 31"/>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30352"/>
          </a:xfrm>
          <a:prstGeom prst="rect">
            <a:avLst/>
          </a:prstGeom>
          <a:noFill/>
          <a:ln/>
        </p:spPr>
        <p:txBody>
          <a:bodyPr wrap="square"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How It Works: Three Layers</a:t>
            </a:r>
            <a:endParaRPr lang="en-US" sz="2800" dirty="0"/>
          </a:p>
        </p:txBody>
      </p:sp>
      <p:sp>
        <p:nvSpPr>
          <p:cNvPr id="4" name="Text 2"/>
          <p:cNvSpPr/>
          <p:nvPr/>
        </p:nvSpPr>
        <p:spPr>
          <a:xfrm>
            <a:off x="457200" y="713232"/>
            <a:ext cx="8229600" cy="32004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Each layer has a different job. None is complete without the others. The key insight: only Layer 3 is missing at scale.</a:t>
            </a:r>
            <a:endParaRPr lang="en-US" sz="1300" dirty="0"/>
          </a:p>
        </p:txBody>
      </p:sp>
      <p:sp>
        <p:nvSpPr>
          <p:cNvPr id="5" name="Shape 3"/>
          <p:cNvSpPr/>
          <p:nvPr/>
        </p:nvSpPr>
        <p:spPr>
          <a:xfrm>
            <a:off x="347472" y="1170432"/>
            <a:ext cx="2743200" cy="3547872"/>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347472" y="1170432"/>
            <a:ext cx="2743200" cy="475488"/>
          </a:xfrm>
          <a:prstGeom prst="rect">
            <a:avLst/>
          </a:prstGeom>
          <a:solidFill>
            <a:srgbClr val="1B5E8C"/>
          </a:solidFill>
          <a:ln w="12700">
            <a:solidFill>
              <a:srgbClr val="1B5E8C"/>
            </a:solidFill>
            <a:prstDash val="solid"/>
          </a:ln>
        </p:spPr>
      </p:sp>
      <p:sp>
        <p:nvSpPr>
          <p:cNvPr id="7" name="Shape 5"/>
          <p:cNvSpPr/>
          <p:nvPr/>
        </p:nvSpPr>
        <p:spPr>
          <a:xfrm>
            <a:off x="420624" y="1207008"/>
            <a:ext cx="329184" cy="329184"/>
          </a:xfrm>
          <a:prstGeom prst="ellipse">
            <a:avLst/>
          </a:prstGeom>
          <a:solidFill>
            <a:srgbClr val="FFFFFF">
              <a:alpha val="30000"/>
            </a:srgbClr>
          </a:solidFill>
          <a:ln w="12700">
            <a:solidFill>
              <a:srgbClr val="FFFFFF">
                <a:alpha val="30000"/>
              </a:srgbClr>
            </a:solidFill>
            <a:prstDash val="solid"/>
          </a:ln>
        </p:spPr>
      </p:sp>
      <p:sp>
        <p:nvSpPr>
          <p:cNvPr id="8" name="Text 6"/>
          <p:cNvSpPr/>
          <p:nvPr/>
        </p:nvSpPr>
        <p:spPr>
          <a:xfrm>
            <a:off x="420624" y="12070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804672" y="1188720"/>
            <a:ext cx="2194560" cy="457200"/>
          </a:xfrm>
          <a:prstGeom prst="rect">
            <a:avLst/>
          </a:prstGeom>
          <a:noFill/>
          <a:ln/>
        </p:spPr>
        <p:txBody>
          <a:bodyPr wrap="square" lIns="0" tIns="0" rIns="0" bIns="0" rtlCol="0" anchor="ctr"/>
          <a:lstStyle/>
          <a:p>
            <a:pPr algn="l" indent="0" marL="0">
              <a:buNone/>
            </a:pPr>
            <a:r>
              <a:rPr lang="en-US" sz="850" b="1" spc="50" kern="0" dirty="0">
                <a:solidFill>
                  <a:srgbClr val="FFFFFF"/>
                </a:solidFill>
                <a:latin typeface="Calibri" pitchFamily="34" charset="0"/>
                <a:ea typeface="Calibri" pitchFamily="34" charset="-122"/>
                <a:cs typeface="Calibri" pitchFamily="34" charset="-120"/>
              </a:rPr>
              <a:t>ANTHROPIC BUILDS &amp; MAINTAINS</a:t>
            </a:r>
            <a:endParaRPr lang="en-US" sz="850" dirty="0"/>
          </a:p>
        </p:txBody>
      </p:sp>
      <p:sp>
        <p:nvSpPr>
          <p:cNvPr id="10" name="Text 8"/>
          <p:cNvSpPr/>
          <p:nvPr/>
        </p:nvSpPr>
        <p:spPr>
          <a:xfrm>
            <a:off x="457200" y="1737360"/>
            <a:ext cx="2523744" cy="420624"/>
          </a:xfrm>
          <a:prstGeom prst="rect">
            <a:avLst/>
          </a:prstGeom>
          <a:noFill/>
          <a:ln/>
        </p:spPr>
        <p:txBody>
          <a:bodyPr wrap="square" rtlCol="0" anchor="ctr"/>
          <a:lstStyle/>
          <a:p>
            <a:pPr algn="l" indent="0" marL="0">
              <a:buNone/>
            </a:pPr>
            <a:r>
              <a:rPr lang="en-US" sz="1400" b="1" dirty="0">
                <a:solidFill>
                  <a:srgbClr val="1B5E8C"/>
                </a:solidFill>
                <a:latin typeface="Georgia" pitchFamily="34" charset="0"/>
                <a:ea typeface="Georgia" pitchFamily="34" charset="-122"/>
                <a:cs typeface="Georgia" pitchFamily="34" charset="-120"/>
              </a:rPr>
              <a:t>The Model + Infrastructure</a:t>
            </a:r>
            <a:endParaRPr lang="en-US" sz="1400" dirty="0"/>
          </a:p>
        </p:txBody>
      </p:sp>
      <p:sp>
        <p:nvSpPr>
          <p:cNvPr id="11" name="Text 9"/>
          <p:cNvSpPr/>
          <p:nvPr/>
        </p:nvSpPr>
        <p:spPr>
          <a:xfrm>
            <a:off x="457200" y="2212848"/>
            <a:ext cx="2523744" cy="237744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Claude model</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Plugin/MCP framework</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CourtListener (case law)</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Legal Data Hunter (statutes)</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Lawve AI (skills marketplace)</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This layer already exists.</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the project did not build it.</a:t>
            </a:r>
            <a:endParaRPr lang="en-US" sz="1150" dirty="0"/>
          </a:p>
        </p:txBody>
      </p:sp>
      <p:sp>
        <p:nvSpPr>
          <p:cNvPr id="12" name="Shape 10"/>
          <p:cNvSpPr/>
          <p:nvPr/>
        </p:nvSpPr>
        <p:spPr>
          <a:xfrm>
            <a:off x="3255264" y="1170432"/>
            <a:ext cx="2743200" cy="3547872"/>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3255264" y="1170432"/>
            <a:ext cx="2743200" cy="475488"/>
          </a:xfrm>
          <a:prstGeom prst="rect">
            <a:avLst/>
          </a:prstGeom>
          <a:solidFill>
            <a:srgbClr val="0E7C87"/>
          </a:solidFill>
          <a:ln w="12700">
            <a:solidFill>
              <a:srgbClr val="0E7C87"/>
            </a:solidFill>
            <a:prstDash val="solid"/>
          </a:ln>
        </p:spPr>
      </p:sp>
      <p:sp>
        <p:nvSpPr>
          <p:cNvPr id="14" name="Shape 12"/>
          <p:cNvSpPr/>
          <p:nvPr/>
        </p:nvSpPr>
        <p:spPr>
          <a:xfrm>
            <a:off x="3328416" y="1207008"/>
            <a:ext cx="329184" cy="329184"/>
          </a:xfrm>
          <a:prstGeom prst="ellipse">
            <a:avLst/>
          </a:prstGeom>
          <a:solidFill>
            <a:srgbClr val="FFFFFF">
              <a:alpha val="30000"/>
            </a:srgbClr>
          </a:solidFill>
          <a:ln w="12700">
            <a:solidFill>
              <a:srgbClr val="FFFFFF">
                <a:alpha val="30000"/>
              </a:srgbClr>
            </a:solidFill>
            <a:prstDash val="solid"/>
          </a:ln>
        </p:spPr>
      </p:sp>
      <p:sp>
        <p:nvSpPr>
          <p:cNvPr id="15" name="Text 13"/>
          <p:cNvSpPr/>
          <p:nvPr/>
        </p:nvSpPr>
        <p:spPr>
          <a:xfrm>
            <a:off x="3328416" y="12070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3712464" y="1188720"/>
            <a:ext cx="2194560" cy="457200"/>
          </a:xfrm>
          <a:prstGeom prst="rect">
            <a:avLst/>
          </a:prstGeom>
          <a:noFill/>
          <a:ln/>
        </p:spPr>
        <p:txBody>
          <a:bodyPr wrap="square" lIns="0" tIns="0" rIns="0" bIns="0" rtlCol="0" anchor="ctr"/>
          <a:lstStyle/>
          <a:p>
            <a:pPr algn="l" indent="0" marL="0">
              <a:buNone/>
            </a:pPr>
            <a:r>
              <a:rPr lang="en-US" sz="850" b="1" spc="50" kern="0" dirty="0">
                <a:solidFill>
                  <a:srgbClr val="FFFFFF"/>
                </a:solidFill>
                <a:latin typeface="Calibri" pitchFamily="34" charset="0"/>
                <a:ea typeface="Calibri" pitchFamily="34" charset="-122"/>
                <a:cs typeface="Calibri" pitchFamily="34" charset="-120"/>
              </a:rPr>
              <a:t>the project + COMMUNITY BUILDS</a:t>
            </a:r>
            <a:endParaRPr lang="en-US" sz="850" dirty="0"/>
          </a:p>
        </p:txBody>
      </p:sp>
      <p:sp>
        <p:nvSpPr>
          <p:cNvPr id="17" name="Text 15"/>
          <p:cNvSpPr/>
          <p:nvPr/>
        </p:nvSpPr>
        <p:spPr>
          <a:xfrm>
            <a:off x="3364992" y="1737360"/>
            <a:ext cx="2523744" cy="420624"/>
          </a:xfrm>
          <a:prstGeom prst="rect">
            <a:avLst/>
          </a:prstGeom>
          <a:noFill/>
          <a:ln/>
        </p:spPr>
        <p:txBody>
          <a:bodyPr wrap="square" rtlCol="0" anchor="ctr"/>
          <a:lstStyle/>
          <a:p>
            <a:pPr algn="l" indent="0" marL="0">
              <a:buNone/>
            </a:pPr>
            <a:r>
              <a:rPr lang="en-US" sz="1400" b="1" dirty="0">
                <a:solidFill>
                  <a:srgbClr val="0E7C87"/>
                </a:solidFill>
                <a:latin typeface="Georgia" pitchFamily="34" charset="0"/>
                <a:ea typeface="Georgia" pitchFamily="34" charset="-122"/>
                <a:cs typeface="Georgia" pitchFamily="34" charset="-120"/>
              </a:rPr>
              <a:t>Skills &amp; Workflow Logic</a:t>
            </a:r>
            <a:endParaRPr lang="en-US" sz="1400" dirty="0"/>
          </a:p>
        </p:txBody>
      </p:sp>
      <p:sp>
        <p:nvSpPr>
          <p:cNvPr id="18" name="Text 16"/>
          <p:cNvSpPr/>
          <p:nvPr/>
        </p:nvSpPr>
        <p:spPr>
          <a:xfrm>
            <a:off x="3364992" y="2212848"/>
            <a:ext cx="2523744" cy="237744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The "how to reason about a legal task" layer: intake questions, defect screening logic, output templates, safety guardrails.</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Portable across states without rewriting.</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Portable across AI models without rewriting.</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This is the eviction-triage SKILL.md.</a:t>
            </a:r>
            <a:endParaRPr lang="en-US" sz="1150" dirty="0"/>
          </a:p>
        </p:txBody>
      </p:sp>
      <p:sp>
        <p:nvSpPr>
          <p:cNvPr id="19" name="Shape 17"/>
          <p:cNvSpPr/>
          <p:nvPr/>
        </p:nvSpPr>
        <p:spPr>
          <a:xfrm>
            <a:off x="6163056" y="1170432"/>
            <a:ext cx="2743200" cy="3547872"/>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20" name="Shape 18"/>
          <p:cNvSpPr/>
          <p:nvPr/>
        </p:nvSpPr>
        <p:spPr>
          <a:xfrm>
            <a:off x="6163056" y="1170432"/>
            <a:ext cx="2743200" cy="475488"/>
          </a:xfrm>
          <a:prstGeom prst="rect">
            <a:avLst/>
          </a:prstGeom>
          <a:solidFill>
            <a:srgbClr val="2A7A4B"/>
          </a:solidFill>
          <a:ln w="12700">
            <a:solidFill>
              <a:srgbClr val="2A7A4B"/>
            </a:solidFill>
            <a:prstDash val="solid"/>
          </a:ln>
        </p:spPr>
      </p:sp>
      <p:sp>
        <p:nvSpPr>
          <p:cNvPr id="21" name="Shape 19"/>
          <p:cNvSpPr/>
          <p:nvPr/>
        </p:nvSpPr>
        <p:spPr>
          <a:xfrm>
            <a:off x="6236208" y="1207008"/>
            <a:ext cx="329184" cy="329184"/>
          </a:xfrm>
          <a:prstGeom prst="ellipse">
            <a:avLst/>
          </a:prstGeom>
          <a:solidFill>
            <a:srgbClr val="FFFFFF">
              <a:alpha val="30000"/>
            </a:srgbClr>
          </a:solidFill>
          <a:ln w="12700">
            <a:solidFill>
              <a:srgbClr val="FFFFFF">
                <a:alpha val="30000"/>
              </a:srgbClr>
            </a:solidFill>
            <a:prstDash val="solid"/>
          </a:ln>
        </p:spPr>
      </p:sp>
      <p:sp>
        <p:nvSpPr>
          <p:cNvPr id="22" name="Text 20"/>
          <p:cNvSpPr/>
          <p:nvPr/>
        </p:nvSpPr>
        <p:spPr>
          <a:xfrm>
            <a:off x="6236208" y="12070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3" name="Text 21"/>
          <p:cNvSpPr/>
          <p:nvPr/>
        </p:nvSpPr>
        <p:spPr>
          <a:xfrm>
            <a:off x="6620256" y="1188720"/>
            <a:ext cx="2194560" cy="457200"/>
          </a:xfrm>
          <a:prstGeom prst="rect">
            <a:avLst/>
          </a:prstGeom>
          <a:noFill/>
          <a:ln/>
        </p:spPr>
        <p:txBody>
          <a:bodyPr wrap="square" lIns="0" tIns="0" rIns="0" bIns="0" rtlCol="0" anchor="ctr"/>
          <a:lstStyle/>
          <a:p>
            <a:pPr algn="l" indent="0" marL="0">
              <a:buNone/>
            </a:pPr>
            <a:r>
              <a:rPr lang="en-US" sz="850" b="1" spc="50" kern="0" dirty="0">
                <a:solidFill>
                  <a:srgbClr val="FFFFFF"/>
                </a:solidFill>
                <a:latin typeface="Calibri" pitchFamily="34" charset="0"/>
                <a:ea typeface="Calibri" pitchFamily="34" charset="-122"/>
                <a:cs typeface="Calibri" pitchFamily="34" charset="-120"/>
              </a:rPr>
              <a:t>the project PRIORITY CONTRIBUTION</a:t>
            </a:r>
            <a:endParaRPr lang="en-US" sz="850" dirty="0"/>
          </a:p>
        </p:txBody>
      </p:sp>
      <p:sp>
        <p:nvSpPr>
          <p:cNvPr id="24" name="Text 22"/>
          <p:cNvSpPr/>
          <p:nvPr/>
        </p:nvSpPr>
        <p:spPr>
          <a:xfrm>
            <a:off x="6272784" y="1737360"/>
            <a:ext cx="2523744" cy="420624"/>
          </a:xfrm>
          <a:prstGeom prst="rect">
            <a:avLst/>
          </a:prstGeom>
          <a:noFill/>
          <a:ln/>
        </p:spPr>
        <p:txBody>
          <a:bodyPr wrap="square" rtlCol="0" anchor="ctr"/>
          <a:lstStyle/>
          <a:p>
            <a:pPr algn="l" indent="0" marL="0">
              <a:buNone/>
            </a:pPr>
            <a:r>
              <a:rPr lang="en-US" sz="1400" b="1" dirty="0">
                <a:solidFill>
                  <a:srgbClr val="2A7A4B"/>
                </a:solidFill>
                <a:latin typeface="Georgia" pitchFamily="34" charset="0"/>
                <a:ea typeface="Georgia" pitchFamily="34" charset="-122"/>
                <a:cs typeface="Georgia" pitchFamily="34" charset="-120"/>
              </a:rPr>
              <a:t>Rules Data (JSON)</a:t>
            </a:r>
            <a:endParaRPr lang="en-US" sz="1400" dirty="0"/>
          </a:p>
        </p:txBody>
      </p:sp>
      <p:sp>
        <p:nvSpPr>
          <p:cNvPr id="25" name="Text 23"/>
          <p:cNvSpPr/>
          <p:nvPr/>
        </p:nvSpPr>
        <p:spPr>
          <a:xfrm>
            <a:off x="6272784" y="2212848"/>
            <a:ext cx="2523744" cy="237744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"IF notice includes late fees, THEN defective under CCP 1161(2)."</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Deterministic, not predictive. Explicit, auditable, structured data—not AI guessing.</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AI drafts. Experts validate.</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50 states. Nobody has done this yet.</a:t>
            </a:r>
            <a:endParaRPr lang="en-US" sz="1150" dirty="0"/>
          </a:p>
        </p:txBody>
      </p:sp>
      <p:sp>
        <p:nvSpPr>
          <p:cNvPr id="26" name="Text 24"/>
          <p:cNvSpPr/>
          <p:nvPr/>
        </p:nvSpPr>
        <p:spPr>
          <a:xfrm>
            <a:off x="2980944" y="2743200"/>
            <a:ext cx="292608" cy="320040"/>
          </a:xfrm>
          <a:prstGeom prst="rect">
            <a:avLst/>
          </a:prstGeom>
          <a:noFill/>
          <a:ln/>
        </p:spPr>
        <p:txBody>
          <a:bodyPr wrap="square"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&gt;</a:t>
            </a:r>
            <a:endParaRPr lang="en-US" sz="1800" dirty="0"/>
          </a:p>
        </p:txBody>
      </p:sp>
      <p:sp>
        <p:nvSpPr>
          <p:cNvPr id="27" name="Text 25"/>
          <p:cNvSpPr/>
          <p:nvPr/>
        </p:nvSpPr>
        <p:spPr>
          <a:xfrm>
            <a:off x="5888736" y="2743200"/>
            <a:ext cx="292608" cy="320040"/>
          </a:xfrm>
          <a:prstGeom prst="rect">
            <a:avLst/>
          </a:prstGeom>
          <a:noFill/>
          <a:ln/>
        </p:spPr>
        <p:txBody>
          <a:bodyPr wrap="square"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&gt;</a:t>
            </a:r>
            <a:endParaRPr lang="en-US" sz="1800" dirty="0"/>
          </a:p>
        </p:txBody>
      </p:sp>
      <p:sp>
        <p:nvSpPr>
          <p:cNvPr id="28" name="Text 26"/>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29" name="Shape 27"/>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30352"/>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 JSON Rules File: Why It Matters</a:t>
            </a:r>
            <a:endParaRPr lang="en-US" sz="2800" dirty="0"/>
          </a:p>
        </p:txBody>
      </p:sp>
      <p:sp>
        <p:nvSpPr>
          <p:cNvPr id="4" name="Text 2"/>
          <p:cNvSpPr/>
          <p:nvPr/>
        </p:nvSpPr>
        <p:spPr>
          <a:xfrm>
            <a:off x="457200" y="713232"/>
            <a:ext cx="8229600" cy="347472"/>
          </a:xfrm>
          <a:prstGeom prst="rect">
            <a:avLst/>
          </a:prstGeom>
          <a:noFill/>
          <a:ln/>
        </p:spPr>
        <p:txBody>
          <a:bodyPr wrap="square" rtlCol="0" anchor="ctr"/>
          <a:lstStyle/>
          <a:p>
            <a:pPr indent="0" marL="0">
              <a:buNone/>
            </a:pPr>
            <a:r>
              <a:rPr lang="en-US" sz="1250" dirty="0">
                <a:solidFill>
                  <a:srgbClr val="B0C4D4"/>
                </a:solidFill>
                <a:latin typeface="Calibri" pitchFamily="34" charset="0"/>
                <a:ea typeface="Calibri" pitchFamily="34" charset="-122"/>
                <a:cs typeface="Calibri" pitchFamily="34" charset="-120"/>
              </a:rPr>
              <a:t>This 45-line file encodes California eviction notice law as machine-readable decision logic. It is the the project's first major community contribution—and a model for 50 states.</a:t>
            </a:r>
            <a:endParaRPr lang="en-US" sz="1250" dirty="0"/>
          </a:p>
        </p:txBody>
      </p:sp>
      <p:sp>
        <p:nvSpPr>
          <p:cNvPr id="5" name="Shape 3"/>
          <p:cNvSpPr/>
          <p:nvPr/>
        </p:nvSpPr>
        <p:spPr>
          <a:xfrm>
            <a:off x="347472" y="1143000"/>
            <a:ext cx="4572000" cy="3474720"/>
          </a:xfrm>
          <a:prstGeom prst="rect">
            <a:avLst/>
          </a:prstGeom>
          <a:solidFill>
            <a:srgbClr val="0A1520"/>
          </a:solidFill>
          <a:ln w="12700">
            <a:solidFill>
              <a:srgbClr val="0E7C87"/>
            </a:solidFill>
            <a:prstDash val="solid"/>
          </a:ln>
        </p:spPr>
      </p:sp>
      <p:sp>
        <p:nvSpPr>
          <p:cNvPr id="6" name="Text 4"/>
          <p:cNvSpPr/>
          <p:nvPr/>
        </p:nvSpPr>
        <p:spPr>
          <a:xfrm>
            <a:off x="502920" y="1207008"/>
            <a:ext cx="4297680" cy="274320"/>
          </a:xfrm>
          <a:prstGeom prst="rect">
            <a:avLst/>
          </a:prstGeom>
          <a:noFill/>
          <a:ln/>
        </p:spPr>
        <p:txBody>
          <a:bodyPr wrap="square" rtlCol="0" anchor="ctr"/>
          <a:lstStyle/>
          <a:p>
            <a:pPr indent="0" marL="0">
              <a:buNone/>
            </a:pPr>
            <a:r>
              <a:rPr lang="en-US" sz="1000" b="1" dirty="0">
                <a:solidFill>
                  <a:srgbClr val="0E7C87"/>
                </a:solidFill>
                <a:latin typeface="Calibri" pitchFamily="34" charset="0"/>
                <a:ea typeface="Calibri" pitchFamily="34" charset="-122"/>
                <a:cs typeface="Calibri" pitchFamily="34" charset="-120"/>
              </a:rPr>
              <a:t>ca_eviction_rules_v0.1.json</a:t>
            </a:r>
            <a:endParaRPr lang="en-US" sz="1000" dirty="0"/>
          </a:p>
        </p:txBody>
      </p:sp>
      <p:sp>
        <p:nvSpPr>
          <p:cNvPr id="7" name="Text 5"/>
          <p:cNvSpPr/>
          <p:nvPr/>
        </p:nvSpPr>
        <p:spPr>
          <a:xfrm>
            <a:off x="502920" y="1554480"/>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"notice_type": "3-Day Pay or Quit",</a:t>
            </a:r>
            <a:endParaRPr lang="en-US" sz="1050" dirty="0"/>
          </a:p>
        </p:txBody>
      </p:sp>
      <p:sp>
        <p:nvSpPr>
          <p:cNvPr id="8" name="Text 6"/>
          <p:cNvSpPr/>
          <p:nvPr/>
        </p:nvSpPr>
        <p:spPr>
          <a:xfrm>
            <a:off x="502920" y="1801368"/>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"statute": "CCP Section 1161(2)",</a:t>
            </a:r>
            <a:endParaRPr lang="en-US" sz="1050" dirty="0"/>
          </a:p>
        </p:txBody>
      </p:sp>
      <p:sp>
        <p:nvSpPr>
          <p:cNvPr id="9" name="Text 7"/>
          <p:cNvSpPr/>
          <p:nvPr/>
        </p:nvSpPr>
        <p:spPr>
          <a:xfrm>
            <a:off x="502920" y="2048256"/>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"defect_triggers": [{</a:t>
            </a:r>
            <a:endParaRPr lang="en-US" sz="1050" dirty="0"/>
          </a:p>
        </p:txBody>
      </p:sp>
      <p:sp>
        <p:nvSpPr>
          <p:cNvPr id="10" name="Text 8"/>
          <p:cNvSpPr/>
          <p:nvPr/>
        </p:nvSpPr>
        <p:spPr>
          <a:xfrm>
            <a:off x="502920" y="2295144"/>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"id": "CA-DEFECT-01",</a:t>
            </a:r>
            <a:endParaRPr lang="en-US" sz="1050" dirty="0"/>
          </a:p>
        </p:txBody>
      </p:sp>
      <p:sp>
        <p:nvSpPr>
          <p:cNvPr id="11" name="Text 9"/>
          <p:cNvSpPr/>
          <p:nvPr/>
        </p:nvSpPr>
        <p:spPr>
          <a:xfrm>
            <a:off x="502920" y="2542032"/>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"description": "Notice includes</a:t>
            </a:r>
            <a:endParaRPr lang="en-US" sz="1050" dirty="0"/>
          </a:p>
        </p:txBody>
      </p:sp>
      <p:sp>
        <p:nvSpPr>
          <p:cNvPr id="12" name="Text 10"/>
          <p:cNvSpPr/>
          <p:nvPr/>
        </p:nvSpPr>
        <p:spPr>
          <a:xfrm>
            <a:off x="502920" y="2788920"/>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late fees or non-rent charges",</a:t>
            </a:r>
            <a:endParaRPr lang="en-US" sz="1050" dirty="0"/>
          </a:p>
        </p:txBody>
      </p:sp>
      <p:sp>
        <p:nvSpPr>
          <p:cNvPr id="13" name="Text 11"/>
          <p:cNvSpPr/>
          <p:nvPr/>
        </p:nvSpPr>
        <p:spPr>
          <a:xfrm>
            <a:off x="502920" y="3035808"/>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"rule": "Amount must be unpaid</a:t>
            </a:r>
            <a:endParaRPr lang="en-US" sz="1050" dirty="0"/>
          </a:p>
        </p:txBody>
      </p:sp>
      <p:sp>
        <p:nvSpPr>
          <p:cNvPr id="14" name="Text 12"/>
          <p:cNvSpPr/>
          <p:nvPr/>
        </p:nvSpPr>
        <p:spPr>
          <a:xfrm>
            <a:off x="502920" y="3282696"/>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rent ONLY. Late fees = VOID.",</a:t>
            </a:r>
            <a:endParaRPr lang="en-US" sz="1050" dirty="0"/>
          </a:p>
        </p:txBody>
      </p:sp>
      <p:sp>
        <p:nvSpPr>
          <p:cNvPr id="15" name="Text 13"/>
          <p:cNvSpPr/>
          <p:nvPr/>
        </p:nvSpPr>
        <p:spPr>
          <a:xfrm>
            <a:off x="502920" y="3529584"/>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"confidence": "HIGH",</a:t>
            </a:r>
            <a:endParaRPr lang="en-US" sz="1050" dirty="0"/>
          </a:p>
        </p:txBody>
      </p:sp>
      <p:sp>
        <p:nvSpPr>
          <p:cNvPr id="16" name="Text 14"/>
          <p:cNvSpPr/>
          <p:nvPr/>
        </p:nvSpPr>
        <p:spPr>
          <a:xfrm>
            <a:off x="502920" y="3776472"/>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"priority": "CRITICAL"</a:t>
            </a:r>
            <a:endParaRPr lang="en-US" sz="1050" dirty="0"/>
          </a:p>
        </p:txBody>
      </p:sp>
      <p:sp>
        <p:nvSpPr>
          <p:cNvPr id="17" name="Text 15"/>
          <p:cNvSpPr/>
          <p:nvPr/>
        </p:nvSpPr>
        <p:spPr>
          <a:xfrm>
            <a:off x="502920" y="4023360"/>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a:t>
            </a:r>
            <a:endParaRPr lang="en-US" sz="1050" dirty="0"/>
          </a:p>
        </p:txBody>
      </p:sp>
      <p:sp>
        <p:nvSpPr>
          <p:cNvPr id="18" name="Text 16"/>
          <p:cNvSpPr/>
          <p:nvPr/>
        </p:nvSpPr>
        <p:spPr>
          <a:xfrm>
            <a:off x="502920" y="4270248"/>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a:t>
            </a:r>
            <a:endParaRPr lang="en-US" sz="1050" dirty="0"/>
          </a:p>
        </p:txBody>
      </p:sp>
      <p:sp>
        <p:nvSpPr>
          <p:cNvPr id="19" name="Text 17"/>
          <p:cNvSpPr/>
          <p:nvPr/>
        </p:nvSpPr>
        <p:spPr>
          <a:xfrm>
            <a:off x="5193792" y="1170432"/>
            <a:ext cx="3657600" cy="347472"/>
          </a:xfrm>
          <a:prstGeom prst="rect">
            <a:avLst/>
          </a:prstGeom>
          <a:noFill/>
          <a:ln/>
        </p:spPr>
        <p:txBody>
          <a:bodyPr wrap="square" rtlCol="0" anchor="ctr"/>
          <a:lstStyle/>
          <a:p>
            <a:pPr indent="0" marL="0">
              <a:buNone/>
            </a:pPr>
            <a:r>
              <a:rPr lang="en-US" sz="1400" b="1" dirty="0">
                <a:solidFill>
                  <a:srgbClr val="E07B39"/>
                </a:solidFill>
                <a:latin typeface="Georgia" pitchFamily="34" charset="0"/>
                <a:ea typeface="Georgia" pitchFamily="34" charset="-122"/>
                <a:cs typeface="Georgia" pitchFamily="34" charset="-120"/>
              </a:rPr>
              <a:t>What makes this different:</a:t>
            </a:r>
            <a:endParaRPr lang="en-US" sz="1400" dirty="0"/>
          </a:p>
        </p:txBody>
      </p:sp>
      <p:sp>
        <p:nvSpPr>
          <p:cNvPr id="20" name="Shape 18"/>
          <p:cNvSpPr/>
          <p:nvPr/>
        </p:nvSpPr>
        <p:spPr>
          <a:xfrm>
            <a:off x="5193792" y="1700784"/>
            <a:ext cx="658368" cy="237744"/>
          </a:xfrm>
          <a:prstGeom prst="rect">
            <a:avLst/>
          </a:prstGeom>
          <a:solidFill>
            <a:srgbClr val="A0392A"/>
          </a:solidFill>
          <a:ln w="12700">
            <a:solidFill>
              <a:srgbClr val="A0392A"/>
            </a:solidFill>
            <a:prstDash val="solid"/>
          </a:ln>
        </p:spPr>
      </p:sp>
      <p:sp>
        <p:nvSpPr>
          <p:cNvPr id="21" name="Text 19"/>
          <p:cNvSpPr/>
          <p:nvPr/>
        </p:nvSpPr>
        <p:spPr>
          <a:xfrm>
            <a:off x="5193792" y="170078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Before</a:t>
            </a:r>
            <a:endParaRPr lang="en-US" sz="900" dirty="0"/>
          </a:p>
        </p:txBody>
      </p:sp>
      <p:sp>
        <p:nvSpPr>
          <p:cNvPr id="22" name="Text 20"/>
          <p:cNvSpPr/>
          <p:nvPr/>
        </p:nvSpPr>
        <p:spPr>
          <a:xfrm>
            <a:off x="5943600" y="1664208"/>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AI inferred rules from training data—opaque, stale, not auditable, potentially hallucinated.</a:t>
            </a:r>
            <a:endParaRPr lang="en-US" sz="1150" dirty="0"/>
          </a:p>
        </p:txBody>
      </p:sp>
      <p:sp>
        <p:nvSpPr>
          <p:cNvPr id="23" name="Shape 21"/>
          <p:cNvSpPr/>
          <p:nvPr/>
        </p:nvSpPr>
        <p:spPr>
          <a:xfrm>
            <a:off x="5193792" y="2441448"/>
            <a:ext cx="658368" cy="237744"/>
          </a:xfrm>
          <a:prstGeom prst="rect">
            <a:avLst/>
          </a:prstGeom>
          <a:solidFill>
            <a:srgbClr val="0E7C87"/>
          </a:solidFill>
          <a:ln w="12700">
            <a:solidFill>
              <a:srgbClr val="0E7C87"/>
            </a:solidFill>
            <a:prstDash val="solid"/>
          </a:ln>
        </p:spPr>
      </p:sp>
      <p:sp>
        <p:nvSpPr>
          <p:cNvPr id="24" name="Text 22"/>
          <p:cNvSpPr/>
          <p:nvPr/>
        </p:nvSpPr>
        <p:spPr>
          <a:xfrm>
            <a:off x="5193792" y="244144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Now</a:t>
            </a:r>
            <a:endParaRPr lang="en-US" sz="900" dirty="0"/>
          </a:p>
        </p:txBody>
      </p:sp>
      <p:sp>
        <p:nvSpPr>
          <p:cNvPr id="25" name="Text 23"/>
          <p:cNvSpPr/>
          <p:nvPr/>
        </p:nvSpPr>
        <p:spPr>
          <a:xfrm>
            <a:off x="5943600" y="2404872"/>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Rules are explicit structured data. Deterministic, not predictive. A judge can inspect exactly what rule fired.</a:t>
            </a:r>
            <a:endParaRPr lang="en-US" sz="1150" dirty="0"/>
          </a:p>
        </p:txBody>
      </p:sp>
      <p:sp>
        <p:nvSpPr>
          <p:cNvPr id="26" name="Shape 24"/>
          <p:cNvSpPr/>
          <p:nvPr/>
        </p:nvSpPr>
        <p:spPr>
          <a:xfrm>
            <a:off x="5193792" y="3182112"/>
            <a:ext cx="658368" cy="237744"/>
          </a:xfrm>
          <a:prstGeom prst="rect">
            <a:avLst/>
          </a:prstGeom>
          <a:solidFill>
            <a:srgbClr val="1B5E8C"/>
          </a:solidFill>
          <a:ln w="12700">
            <a:solidFill>
              <a:srgbClr val="1B5E8C"/>
            </a:solidFill>
            <a:prstDash val="solid"/>
          </a:ln>
        </p:spPr>
      </p:sp>
      <p:sp>
        <p:nvSpPr>
          <p:cNvPr id="27" name="Text 25"/>
          <p:cNvSpPr/>
          <p:nvPr/>
        </p:nvSpPr>
        <p:spPr>
          <a:xfrm>
            <a:off x="5193792" y="3182112"/>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Portable</a:t>
            </a:r>
            <a:endParaRPr lang="en-US" sz="900" dirty="0"/>
          </a:p>
        </p:txBody>
      </p:sp>
      <p:sp>
        <p:nvSpPr>
          <p:cNvPr id="28" name="Text 26"/>
          <p:cNvSpPr/>
          <p:nvPr/>
        </p:nvSpPr>
        <p:spPr>
          <a:xfrm>
            <a:off x="5943600" y="3145536"/>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Swap ca_rules.json for tx_rules.json. Same reasoning engine. New state. No new engineering.</a:t>
            </a:r>
            <a:endParaRPr lang="en-US" sz="1150" dirty="0"/>
          </a:p>
        </p:txBody>
      </p:sp>
      <p:sp>
        <p:nvSpPr>
          <p:cNvPr id="29" name="Shape 27"/>
          <p:cNvSpPr/>
          <p:nvPr/>
        </p:nvSpPr>
        <p:spPr>
          <a:xfrm>
            <a:off x="5193792" y="3922776"/>
            <a:ext cx="658368" cy="237744"/>
          </a:xfrm>
          <a:prstGeom prst="rect">
            <a:avLst/>
          </a:prstGeom>
          <a:solidFill>
            <a:srgbClr val="2A7A4B"/>
          </a:solidFill>
          <a:ln w="12700">
            <a:solidFill>
              <a:srgbClr val="2A7A4B"/>
            </a:solidFill>
            <a:prstDash val="solid"/>
          </a:ln>
        </p:spPr>
      </p:sp>
      <p:sp>
        <p:nvSpPr>
          <p:cNvPr id="30" name="Text 28"/>
          <p:cNvSpPr/>
          <p:nvPr/>
        </p:nvSpPr>
        <p:spPr>
          <a:xfrm>
            <a:off x="5193792" y="392277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Scalable</a:t>
            </a:r>
            <a:endParaRPr lang="en-US" sz="900" dirty="0"/>
          </a:p>
        </p:txBody>
      </p:sp>
      <p:sp>
        <p:nvSpPr>
          <p:cNvPr id="31" name="Text 29"/>
          <p:cNvSpPr/>
          <p:nvPr/>
        </p:nvSpPr>
        <p:spPr>
          <a:xfrm>
            <a:off x="5943600" y="3886200"/>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AI drafts a state file in hours. Expert validates in days. Every deployment everywhere benefits.</a:t>
            </a:r>
            <a:endParaRPr lang="en-US" sz="1150" dirty="0"/>
          </a:p>
        </p:txBody>
      </p:sp>
      <p:sp>
        <p:nvSpPr>
          <p:cNvPr id="32" name="Text 30"/>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33" name="Shape 31"/>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09728"/>
            <a:ext cx="8229600" cy="621792"/>
          </a:xfrm>
          <a:prstGeom prst="rect">
            <a:avLst/>
          </a:prstGeom>
          <a:noFill/>
          <a:ln/>
        </p:spPr>
        <p:txBody>
          <a:bodyPr wrap="square" rtlCol="0" anchor="ctr"/>
          <a:lstStyle/>
          <a:p>
            <a:pPr indent="0" marL="0">
              <a:buNone/>
            </a:pPr>
            <a:r>
              <a:rPr lang="en-US" sz="2600" b="1" dirty="0">
                <a:solidFill>
                  <a:srgbClr val="1A1A2E"/>
                </a:solidFill>
                <a:latin typeface="Georgia" pitchFamily="34" charset="0"/>
                <a:ea typeface="Georgia" pitchFamily="34" charset="-122"/>
                <a:cs typeface="Georgia" pitchFamily="34" charset="-120"/>
              </a:rPr>
              <a:t>What the Demo Shows — and What the Community Builds Next</a:t>
            </a:r>
            <a:endParaRPr lang="en-US" sz="2600" dirty="0"/>
          </a:p>
        </p:txBody>
      </p:sp>
      <p:sp>
        <p:nvSpPr>
          <p:cNvPr id="4" name="Text 2"/>
          <p:cNvSpPr/>
          <p:nvPr/>
        </p:nvSpPr>
        <p:spPr>
          <a:xfrm>
            <a:off x="457200" y="713232"/>
            <a:ext cx="8229600" cy="301752"/>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Honesty about gaps is not a weakness. Every gap is a community project waiting to happen.</a:t>
            </a:r>
            <a:endParaRPr lang="en-US" sz="1300" dirty="0"/>
          </a:p>
        </p:txBody>
      </p:sp>
      <p:sp>
        <p:nvSpPr>
          <p:cNvPr id="5" name="Shape 3"/>
          <p:cNvSpPr/>
          <p:nvPr/>
        </p:nvSpPr>
        <p:spPr>
          <a:xfrm>
            <a:off x="347472" y="1078992"/>
            <a:ext cx="4041648" cy="347472"/>
          </a:xfrm>
          <a:prstGeom prst="rect">
            <a:avLst/>
          </a:prstGeom>
          <a:solidFill>
            <a:srgbClr val="2A7A4B"/>
          </a:solidFill>
          <a:ln w="12700">
            <a:solidFill>
              <a:srgbClr val="2A7A4B"/>
            </a:solidFill>
            <a:prstDash val="solid"/>
          </a:ln>
        </p:spPr>
      </p:sp>
      <p:sp>
        <p:nvSpPr>
          <p:cNvPr id="6" name="Text 4"/>
          <p:cNvSpPr/>
          <p:nvPr/>
        </p:nvSpPr>
        <p:spPr>
          <a:xfrm>
            <a:off x="438912" y="1078992"/>
            <a:ext cx="385876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What this demo demonstrates</a:t>
            </a:r>
            <a:endParaRPr lang="en-US" sz="1300" dirty="0"/>
          </a:p>
        </p:txBody>
      </p:sp>
      <p:sp>
        <p:nvSpPr>
          <p:cNvPr id="7" name="Shape 5"/>
          <p:cNvSpPr/>
          <p:nvPr/>
        </p:nvSpPr>
        <p:spPr>
          <a:xfrm>
            <a:off x="4754880" y="1078992"/>
            <a:ext cx="4041648" cy="347472"/>
          </a:xfrm>
          <a:prstGeom prst="rect">
            <a:avLst/>
          </a:prstGeom>
          <a:solidFill>
            <a:srgbClr val="E07B39"/>
          </a:solidFill>
          <a:ln w="12700">
            <a:solidFill>
              <a:srgbClr val="E07B39"/>
            </a:solidFill>
            <a:prstDash val="solid"/>
          </a:ln>
        </p:spPr>
      </p:sp>
      <p:sp>
        <p:nvSpPr>
          <p:cNvPr id="8" name="Text 6"/>
          <p:cNvSpPr/>
          <p:nvPr/>
        </p:nvSpPr>
        <p:spPr>
          <a:xfrm>
            <a:off x="4846320" y="1078992"/>
            <a:ext cx="385876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Gaps = community projects</a:t>
            </a:r>
            <a:endParaRPr lang="en-US" sz="1300" dirty="0"/>
          </a:p>
        </p:txBody>
      </p:sp>
      <p:sp>
        <p:nvSpPr>
          <p:cNvPr id="9" name="Shape 7"/>
          <p:cNvSpPr/>
          <p:nvPr/>
        </p:nvSpPr>
        <p:spPr>
          <a:xfrm>
            <a:off x="347472" y="1508760"/>
            <a:ext cx="4041648" cy="457200"/>
          </a:xfrm>
          <a:prstGeom prst="rect">
            <a:avLst/>
          </a:prstGeom>
          <a:solidFill>
            <a:srgbClr val="EEF4F9"/>
          </a:solidFill>
          <a:ln w="12700">
            <a:solidFill>
              <a:srgbClr val="DEE8F0"/>
            </a:solidFill>
            <a:prstDash val="solid"/>
          </a:ln>
        </p:spPr>
      </p:sp>
      <p:sp>
        <p:nvSpPr>
          <p:cNvPr id="10" name="Text 8"/>
          <p:cNvSpPr/>
          <p:nvPr/>
        </p:nvSpPr>
        <p:spPr>
          <a:xfrm>
            <a:off x="475488" y="154533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Live statute retrieval—real-time, cited, verifiable</a:t>
            </a:r>
            <a:endParaRPr lang="en-US" sz="1150" dirty="0"/>
          </a:p>
        </p:txBody>
      </p:sp>
      <p:sp>
        <p:nvSpPr>
          <p:cNvPr id="11" name="Shape 9"/>
          <p:cNvSpPr/>
          <p:nvPr/>
        </p:nvSpPr>
        <p:spPr>
          <a:xfrm>
            <a:off x="4754880" y="1508760"/>
            <a:ext cx="4041648" cy="457200"/>
          </a:xfrm>
          <a:prstGeom prst="rect">
            <a:avLst/>
          </a:prstGeom>
          <a:solidFill>
            <a:srgbClr val="EEF4F9"/>
          </a:solidFill>
          <a:ln w="12700">
            <a:solidFill>
              <a:srgbClr val="DEE8F0"/>
            </a:solidFill>
            <a:prstDash val="solid"/>
          </a:ln>
        </p:spPr>
      </p:sp>
      <p:sp>
        <p:nvSpPr>
          <p:cNvPr id="12" name="Text 10"/>
          <p:cNvSpPr/>
          <p:nvPr/>
        </p:nvSpPr>
        <p:spPr>
          <a:xfrm>
            <a:off x="4882896" y="154533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Full 50-state rules coverage (47 states still to build + validate)</a:t>
            </a:r>
            <a:endParaRPr lang="en-US" sz="1150" dirty="0"/>
          </a:p>
        </p:txBody>
      </p:sp>
      <p:sp>
        <p:nvSpPr>
          <p:cNvPr id="13" name="Shape 11"/>
          <p:cNvSpPr/>
          <p:nvPr/>
        </p:nvSpPr>
        <p:spPr>
          <a:xfrm>
            <a:off x="347472" y="2011680"/>
            <a:ext cx="4041648" cy="457200"/>
          </a:xfrm>
          <a:prstGeom prst="rect">
            <a:avLst/>
          </a:prstGeom>
          <a:solidFill>
            <a:srgbClr val="FFFFFF"/>
          </a:solidFill>
          <a:ln w="12700">
            <a:solidFill>
              <a:srgbClr val="DEE8F0"/>
            </a:solidFill>
            <a:prstDash val="solid"/>
          </a:ln>
        </p:spPr>
      </p:sp>
      <p:sp>
        <p:nvSpPr>
          <p:cNvPr id="14" name="Text 12"/>
          <p:cNvSpPr/>
          <p:nvPr/>
        </p:nvSpPr>
        <p:spPr>
          <a:xfrm>
            <a:off x="475488" y="204825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Modular, portable architecture: CA to TX to NY</a:t>
            </a:r>
            <a:endParaRPr lang="en-US" sz="1150" dirty="0"/>
          </a:p>
        </p:txBody>
      </p:sp>
      <p:sp>
        <p:nvSpPr>
          <p:cNvPr id="15" name="Shape 13"/>
          <p:cNvSpPr/>
          <p:nvPr/>
        </p:nvSpPr>
        <p:spPr>
          <a:xfrm>
            <a:off x="4754880" y="2011680"/>
            <a:ext cx="4041648" cy="457200"/>
          </a:xfrm>
          <a:prstGeom prst="rect">
            <a:avLst/>
          </a:prstGeom>
          <a:solidFill>
            <a:srgbClr val="FFFFFF"/>
          </a:solidFill>
          <a:ln w="12700">
            <a:solidFill>
              <a:srgbClr val="DEE8F0"/>
            </a:solidFill>
            <a:prstDash val="solid"/>
          </a:ln>
        </p:spPr>
      </p:sp>
      <p:sp>
        <p:nvSpPr>
          <p:cNvPr id="16" name="Text 14"/>
          <p:cNvSpPr/>
          <p:nvPr/>
        </p:nvSpPr>
        <p:spPr>
          <a:xfrm>
            <a:off x="4882896" y="204825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Complete workflow: notice to Answer to hearing prep</a:t>
            </a:r>
            <a:endParaRPr lang="en-US" sz="1150" dirty="0"/>
          </a:p>
        </p:txBody>
      </p:sp>
      <p:sp>
        <p:nvSpPr>
          <p:cNvPr id="17" name="Shape 15"/>
          <p:cNvSpPr/>
          <p:nvPr/>
        </p:nvSpPr>
        <p:spPr>
          <a:xfrm>
            <a:off x="347472" y="2514600"/>
            <a:ext cx="4041648" cy="457200"/>
          </a:xfrm>
          <a:prstGeom prst="rect">
            <a:avLst/>
          </a:prstGeom>
          <a:solidFill>
            <a:srgbClr val="EEF4F9"/>
          </a:solidFill>
          <a:ln w="12700">
            <a:solidFill>
              <a:srgbClr val="DEE8F0"/>
            </a:solidFill>
            <a:prstDash val="solid"/>
          </a:ln>
        </p:spPr>
      </p:sp>
      <p:sp>
        <p:nvSpPr>
          <p:cNvPr id="18" name="Text 16"/>
          <p:cNvSpPr/>
          <p:nvPr/>
        </p:nvSpPr>
        <p:spPr>
          <a:xfrm>
            <a:off x="475488" y="255117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Deterministic rules checking—not AI hallucination</a:t>
            </a:r>
            <a:endParaRPr lang="en-US" sz="1150" dirty="0"/>
          </a:p>
        </p:txBody>
      </p:sp>
      <p:sp>
        <p:nvSpPr>
          <p:cNvPr id="19" name="Shape 17"/>
          <p:cNvSpPr/>
          <p:nvPr/>
        </p:nvSpPr>
        <p:spPr>
          <a:xfrm>
            <a:off x="4754880" y="2514600"/>
            <a:ext cx="4041648" cy="457200"/>
          </a:xfrm>
          <a:prstGeom prst="rect">
            <a:avLst/>
          </a:prstGeom>
          <a:solidFill>
            <a:srgbClr val="EEF4F9"/>
          </a:solidFill>
          <a:ln w="12700">
            <a:solidFill>
              <a:srgbClr val="DEE8F0"/>
            </a:solidFill>
            <a:prstDash val="solid"/>
          </a:ln>
        </p:spPr>
      </p:sp>
      <p:sp>
        <p:nvSpPr>
          <p:cNvPr id="20" name="Text 18"/>
          <p:cNvSpPr/>
          <p:nvPr/>
        </p:nvSpPr>
        <p:spPr>
          <a:xfrm>
            <a:off x="4882896" y="255117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Attorney-validated rules—expert review still needed per state</a:t>
            </a:r>
            <a:endParaRPr lang="en-US" sz="1150" dirty="0"/>
          </a:p>
        </p:txBody>
      </p:sp>
      <p:sp>
        <p:nvSpPr>
          <p:cNvPr id="21" name="Shape 19"/>
          <p:cNvSpPr/>
          <p:nvPr/>
        </p:nvSpPr>
        <p:spPr>
          <a:xfrm>
            <a:off x="347472" y="3017520"/>
            <a:ext cx="4041648" cy="457200"/>
          </a:xfrm>
          <a:prstGeom prst="rect">
            <a:avLst/>
          </a:prstGeom>
          <a:solidFill>
            <a:srgbClr val="FFFFFF"/>
          </a:solidFill>
          <a:ln w="12700">
            <a:solidFill>
              <a:srgbClr val="DEE8F0"/>
            </a:solidFill>
            <a:prstDash val="solid"/>
          </a:ln>
        </p:spPr>
      </p:sp>
      <p:sp>
        <p:nvSpPr>
          <p:cNvPr id="22" name="Text 20"/>
          <p:cNvSpPr/>
          <p:nvPr/>
        </p:nvSpPr>
        <p:spPr>
          <a:xfrm>
            <a:off x="475488" y="305409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Speed: nontechnical attorney, days not years</a:t>
            </a:r>
            <a:endParaRPr lang="en-US" sz="1150" dirty="0"/>
          </a:p>
        </p:txBody>
      </p:sp>
      <p:sp>
        <p:nvSpPr>
          <p:cNvPr id="23" name="Shape 21"/>
          <p:cNvSpPr/>
          <p:nvPr/>
        </p:nvSpPr>
        <p:spPr>
          <a:xfrm>
            <a:off x="4754880" y="3017520"/>
            <a:ext cx="4041648" cy="457200"/>
          </a:xfrm>
          <a:prstGeom prst="rect">
            <a:avLst/>
          </a:prstGeom>
          <a:solidFill>
            <a:srgbClr val="FFFFFF"/>
          </a:solidFill>
          <a:ln w="12700">
            <a:solidFill>
              <a:srgbClr val="DEE8F0"/>
            </a:solidFill>
            <a:prstDash val="solid"/>
          </a:ln>
        </p:spPr>
      </p:sp>
      <p:sp>
        <p:nvSpPr>
          <p:cNvPr id="24" name="Text 22"/>
          <p:cNvSpPr/>
          <p:nvPr/>
        </p:nvSpPr>
        <p:spPr>
          <a:xfrm>
            <a:off x="4882896" y="305409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Multilingual support—Maria may speak Spanish or Tagalog</a:t>
            </a:r>
            <a:endParaRPr lang="en-US" sz="1150" dirty="0"/>
          </a:p>
        </p:txBody>
      </p:sp>
      <p:sp>
        <p:nvSpPr>
          <p:cNvPr id="25" name="Shape 23"/>
          <p:cNvSpPr/>
          <p:nvPr/>
        </p:nvSpPr>
        <p:spPr>
          <a:xfrm>
            <a:off x="347472" y="3520440"/>
            <a:ext cx="4041648" cy="457200"/>
          </a:xfrm>
          <a:prstGeom prst="rect">
            <a:avLst/>
          </a:prstGeom>
          <a:solidFill>
            <a:srgbClr val="EEF4F9"/>
          </a:solidFill>
          <a:ln w="12700">
            <a:solidFill>
              <a:srgbClr val="DEE8F0"/>
            </a:solidFill>
            <a:prstDash val="solid"/>
          </a:ln>
        </p:spPr>
      </p:sp>
      <p:sp>
        <p:nvSpPr>
          <p:cNvPr id="26" name="Text 24"/>
          <p:cNvSpPr/>
          <p:nvPr/>
        </p:nvSpPr>
        <p:spPr>
          <a:xfrm>
            <a:off x="475488" y="355701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Portability across AI models—no vendor lock-in</a:t>
            </a:r>
            <a:endParaRPr lang="en-US" sz="1150" dirty="0"/>
          </a:p>
        </p:txBody>
      </p:sp>
      <p:sp>
        <p:nvSpPr>
          <p:cNvPr id="27" name="Shape 25"/>
          <p:cNvSpPr/>
          <p:nvPr/>
        </p:nvSpPr>
        <p:spPr>
          <a:xfrm>
            <a:off x="4754880" y="3520440"/>
            <a:ext cx="4041648" cy="457200"/>
          </a:xfrm>
          <a:prstGeom prst="rect">
            <a:avLst/>
          </a:prstGeom>
          <a:solidFill>
            <a:srgbClr val="EEF4F9"/>
          </a:solidFill>
          <a:ln w="12700">
            <a:solidFill>
              <a:srgbClr val="DEE8F0"/>
            </a:solidFill>
            <a:prstDash val="solid"/>
          </a:ln>
        </p:spPr>
      </p:sp>
      <p:sp>
        <p:nvSpPr>
          <p:cNvPr id="28" name="Text 26"/>
          <p:cNvSpPr/>
          <p:nvPr/>
        </p:nvSpPr>
        <p:spPr>
          <a:xfrm>
            <a:off x="4882896" y="355701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Court system integration (Tyler Odyssey etc.)—Phase 2</a:t>
            </a:r>
            <a:endParaRPr lang="en-US" sz="1150" dirty="0"/>
          </a:p>
        </p:txBody>
      </p:sp>
      <p:sp>
        <p:nvSpPr>
          <p:cNvPr id="29" name="Shape 27"/>
          <p:cNvSpPr/>
          <p:nvPr/>
        </p:nvSpPr>
        <p:spPr>
          <a:xfrm>
            <a:off x="347472" y="4023360"/>
            <a:ext cx="4041648" cy="457200"/>
          </a:xfrm>
          <a:prstGeom prst="rect">
            <a:avLst/>
          </a:prstGeom>
          <a:solidFill>
            <a:srgbClr val="FFFFFF"/>
          </a:solidFill>
          <a:ln w="12700">
            <a:solidFill>
              <a:srgbClr val="DEE8F0"/>
            </a:solidFill>
            <a:prstDash val="solid"/>
          </a:ln>
        </p:spPr>
      </p:sp>
      <p:sp>
        <p:nvSpPr>
          <p:cNvPr id="30" name="Text 28"/>
          <p:cNvSpPr/>
          <p:nvPr/>
        </p:nvSpPr>
        <p:spPr>
          <a:xfrm>
            <a:off x="475488" y="405993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Safety + transparency built into the architecture</a:t>
            </a:r>
            <a:endParaRPr lang="en-US" sz="1150" dirty="0"/>
          </a:p>
        </p:txBody>
      </p:sp>
      <p:sp>
        <p:nvSpPr>
          <p:cNvPr id="31" name="Shape 29"/>
          <p:cNvSpPr/>
          <p:nvPr/>
        </p:nvSpPr>
        <p:spPr>
          <a:xfrm>
            <a:off x="4754880" y="4023360"/>
            <a:ext cx="4041648" cy="457200"/>
          </a:xfrm>
          <a:prstGeom prst="rect">
            <a:avLst/>
          </a:prstGeom>
          <a:solidFill>
            <a:srgbClr val="FFFFFF"/>
          </a:solidFill>
          <a:ln w="12700">
            <a:solidFill>
              <a:srgbClr val="DEE8F0"/>
            </a:solidFill>
            <a:prstDash val="solid"/>
          </a:ln>
        </p:spPr>
      </p:sp>
      <p:sp>
        <p:nvSpPr>
          <p:cNvPr id="32" name="Text 30"/>
          <p:cNvSpPr/>
          <p:nvPr/>
        </p:nvSpPr>
        <p:spPr>
          <a:xfrm>
            <a:off x="4882896" y="405993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 solved A2J problem—this is a powerful first step, not a finish line</a:t>
            </a:r>
            <a:endParaRPr lang="en-US" sz="1150" dirty="0"/>
          </a:p>
        </p:txBody>
      </p:sp>
      <p:sp>
        <p:nvSpPr>
          <p:cNvPr id="33" name="Text 31"/>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34" name="Shape 32"/>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30352"/>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The Opportunity</a:t>
            </a:r>
            <a:endParaRPr lang="en-US" sz="3000" dirty="0"/>
          </a:p>
        </p:txBody>
      </p:sp>
      <p:sp>
        <p:nvSpPr>
          <p:cNvPr id="4" name="Text 2"/>
          <p:cNvSpPr/>
          <p:nvPr/>
        </p:nvSpPr>
        <p:spPr>
          <a:xfrm>
            <a:off x="457200" y="713232"/>
            <a:ext cx="8229600" cy="420624"/>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The talent exists. The domain expertise exists. The community exists.</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What's missing is coordination and ignition—and that's exactly what this effort is built to provide.</a:t>
            </a:r>
            <a:endParaRPr lang="en-US" sz="1300" dirty="0"/>
          </a:p>
        </p:txBody>
      </p:sp>
      <p:sp>
        <p:nvSpPr>
          <p:cNvPr id="5" name="Shape 3"/>
          <p:cNvSpPr/>
          <p:nvPr/>
        </p:nvSpPr>
        <p:spPr>
          <a:xfrm>
            <a:off x="347472" y="126187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347472" y="1261872"/>
            <a:ext cx="64008" cy="1554480"/>
          </a:xfrm>
          <a:prstGeom prst="rect">
            <a:avLst/>
          </a:prstGeom>
          <a:solidFill>
            <a:srgbClr val="1B5E8C"/>
          </a:solidFill>
          <a:ln w="12700">
            <a:solidFill>
              <a:srgbClr val="1B5E8C"/>
            </a:solidFill>
            <a:prstDash val="solid"/>
          </a:ln>
        </p:spPr>
      </p:sp>
      <p:sp>
        <p:nvSpPr>
          <p:cNvPr id="7" name="Text 5"/>
          <p:cNvSpPr/>
          <p:nvPr/>
        </p:nvSpPr>
        <p:spPr>
          <a:xfrm>
            <a:off x="530352" y="1353312"/>
            <a:ext cx="3822192" cy="411480"/>
          </a:xfrm>
          <a:prstGeom prst="rect">
            <a:avLst/>
          </a:prstGeom>
          <a:noFill/>
          <a:ln/>
        </p:spPr>
        <p:txBody>
          <a:bodyPr wrap="square" rtlCol="0" anchor="ctr"/>
          <a:lstStyle/>
          <a:p>
            <a:pPr algn="l" indent="0" marL="0">
              <a:buNone/>
            </a:pPr>
            <a:r>
              <a:rPr lang="en-US" sz="1400" b="1" dirty="0">
                <a:solidFill>
                  <a:srgbClr val="1B5E8C"/>
                </a:solidFill>
                <a:latin typeface="Georgia" pitchFamily="34" charset="0"/>
                <a:ea typeface="Georgia" pitchFamily="34" charset="-122"/>
                <a:cs typeface="Georgia" pitchFamily="34" charset="-120"/>
              </a:rPr>
              <a:t>Ignite and coordinate the community</a:t>
            </a:r>
            <a:endParaRPr lang="en-US" sz="1400" dirty="0"/>
          </a:p>
        </p:txBody>
      </p:sp>
      <p:sp>
        <p:nvSpPr>
          <p:cNvPr id="8" name="Text 6"/>
          <p:cNvSpPr/>
          <p:nvPr/>
        </p:nvSpPr>
        <p:spPr>
          <a:xfrm>
            <a:off x="530352" y="179222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Legal aid orgs, law schools, courts, and funders each have pieces of the puzzle. A coordinating entity connects them around a shared technical agenda—ending isolated reinvention and multiplying every contribution.</a:t>
            </a:r>
            <a:endParaRPr lang="en-US" sz="1150" dirty="0"/>
          </a:p>
        </p:txBody>
      </p:sp>
      <p:sp>
        <p:nvSpPr>
          <p:cNvPr id="9" name="Shape 7"/>
          <p:cNvSpPr/>
          <p:nvPr/>
        </p:nvSpPr>
        <p:spPr>
          <a:xfrm>
            <a:off x="4782312" y="126187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0" name="Shape 8"/>
          <p:cNvSpPr/>
          <p:nvPr/>
        </p:nvSpPr>
        <p:spPr>
          <a:xfrm>
            <a:off x="4782312" y="1261872"/>
            <a:ext cx="64008" cy="1554480"/>
          </a:xfrm>
          <a:prstGeom prst="rect">
            <a:avLst/>
          </a:prstGeom>
          <a:solidFill>
            <a:srgbClr val="0E7C87"/>
          </a:solidFill>
          <a:ln w="12700">
            <a:solidFill>
              <a:srgbClr val="0E7C87"/>
            </a:solidFill>
            <a:prstDash val="solid"/>
          </a:ln>
        </p:spPr>
      </p:sp>
      <p:sp>
        <p:nvSpPr>
          <p:cNvPr id="11" name="Text 9"/>
          <p:cNvSpPr/>
          <p:nvPr/>
        </p:nvSpPr>
        <p:spPr>
          <a:xfrm>
            <a:off x="4965192" y="1353312"/>
            <a:ext cx="3822192" cy="411480"/>
          </a:xfrm>
          <a:prstGeom prst="rect">
            <a:avLst/>
          </a:prstGeom>
          <a:noFill/>
          <a:ln/>
        </p:spPr>
        <p:txBody>
          <a:bodyPr wrap="square" rtlCol="0" anchor="ctr"/>
          <a:lstStyle/>
          <a:p>
            <a:pPr algn="l" indent="0" marL="0">
              <a:buNone/>
            </a:pPr>
            <a:r>
              <a:rPr lang="en-US" sz="1400" b="1" dirty="0">
                <a:solidFill>
                  <a:srgbClr val="0E7C87"/>
                </a:solidFill>
                <a:latin typeface="Georgia" pitchFamily="34" charset="0"/>
                <a:ea typeface="Georgia" pitchFamily="34" charset="-122"/>
                <a:cs typeface="Georgia" pitchFamily="34" charset="-120"/>
              </a:rPr>
              <a:t>Lead the 50-state JSON rules project</a:t>
            </a:r>
            <a:endParaRPr lang="en-US" sz="1400" dirty="0"/>
          </a:p>
        </p:txBody>
      </p:sp>
      <p:sp>
        <p:nvSpPr>
          <p:cNvPr id="12" name="Text 10"/>
          <p:cNvSpPr/>
          <p:nvPr/>
        </p:nvSpPr>
        <p:spPr>
          <a:xfrm>
            <a:off x="4965192" y="179222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AI drafts fast. Attorneys validate. the project coordinates the expert review network, manages versioning, and ensures every state's rules stay current as law changes. Nobody has built this yet.</a:t>
            </a:r>
            <a:endParaRPr lang="en-US" sz="1150" dirty="0"/>
          </a:p>
        </p:txBody>
      </p:sp>
      <p:sp>
        <p:nvSpPr>
          <p:cNvPr id="13" name="Shape 11"/>
          <p:cNvSpPr/>
          <p:nvPr/>
        </p:nvSpPr>
        <p:spPr>
          <a:xfrm>
            <a:off x="347472" y="295351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4" name="Shape 12"/>
          <p:cNvSpPr/>
          <p:nvPr/>
        </p:nvSpPr>
        <p:spPr>
          <a:xfrm>
            <a:off x="347472" y="2953512"/>
            <a:ext cx="64008" cy="1554480"/>
          </a:xfrm>
          <a:prstGeom prst="rect">
            <a:avLst/>
          </a:prstGeom>
          <a:solidFill>
            <a:srgbClr val="2A7A4B"/>
          </a:solidFill>
          <a:ln w="12700">
            <a:solidFill>
              <a:srgbClr val="2A7A4B"/>
            </a:solidFill>
            <a:prstDash val="solid"/>
          </a:ln>
        </p:spPr>
      </p:sp>
      <p:sp>
        <p:nvSpPr>
          <p:cNvPr id="15" name="Text 13"/>
          <p:cNvSpPr/>
          <p:nvPr/>
        </p:nvSpPr>
        <p:spPr>
          <a:xfrm>
            <a:off x="530352" y="3044952"/>
            <a:ext cx="3822192" cy="411480"/>
          </a:xfrm>
          <a:prstGeom prst="rect">
            <a:avLst/>
          </a:prstGeom>
          <a:noFill/>
          <a:ln/>
        </p:spPr>
        <p:txBody>
          <a:bodyPr wrap="square" rtlCol="0" anchor="ctr"/>
          <a:lstStyle/>
          <a:p>
            <a:pPr algn="l" indent="0" marL="0">
              <a:buNone/>
            </a:pPr>
            <a:r>
              <a:rPr lang="en-US" sz="1400" b="1" dirty="0">
                <a:solidFill>
                  <a:srgbClr val="2A7A4B"/>
                </a:solidFill>
                <a:latin typeface="Georgia" pitchFamily="34" charset="0"/>
                <a:ea typeface="Georgia" pitchFamily="34" charset="-122"/>
                <a:cs typeface="Georgia" pitchFamily="34" charset="-120"/>
              </a:rPr>
              <a:t>Set standards for safe A2J AI</a:t>
            </a:r>
            <a:endParaRPr lang="en-US" sz="1400" dirty="0"/>
          </a:p>
        </p:txBody>
      </p:sp>
      <p:sp>
        <p:nvSpPr>
          <p:cNvPr id="16" name="Text 14"/>
          <p:cNvSpPr/>
          <p:nvPr/>
        </p:nvSpPr>
        <p:spPr>
          <a:xfrm>
            <a:off x="530352" y="348386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Validation protocols, accuracy eval frameworks, deployment playbooks, certification standards—so the A2J community builds on a trusted foundation rather than reinventing safety practices independently.</a:t>
            </a:r>
            <a:endParaRPr lang="en-US" sz="1150" dirty="0"/>
          </a:p>
        </p:txBody>
      </p:sp>
      <p:sp>
        <p:nvSpPr>
          <p:cNvPr id="17" name="Shape 15"/>
          <p:cNvSpPr/>
          <p:nvPr/>
        </p:nvSpPr>
        <p:spPr>
          <a:xfrm>
            <a:off x="4782312" y="295351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8" name="Shape 16"/>
          <p:cNvSpPr/>
          <p:nvPr/>
        </p:nvSpPr>
        <p:spPr>
          <a:xfrm>
            <a:off x="4782312" y="2953512"/>
            <a:ext cx="64008" cy="1554480"/>
          </a:xfrm>
          <a:prstGeom prst="rect">
            <a:avLst/>
          </a:prstGeom>
          <a:solidFill>
            <a:srgbClr val="E07B39"/>
          </a:solidFill>
          <a:ln w="12700">
            <a:solidFill>
              <a:srgbClr val="E07B39"/>
            </a:solidFill>
            <a:prstDash val="solid"/>
          </a:ln>
        </p:spPr>
      </p:sp>
      <p:sp>
        <p:nvSpPr>
          <p:cNvPr id="19" name="Text 17"/>
          <p:cNvSpPr/>
          <p:nvPr/>
        </p:nvSpPr>
        <p:spPr>
          <a:xfrm>
            <a:off x="4965192" y="3044952"/>
            <a:ext cx="3822192" cy="411480"/>
          </a:xfrm>
          <a:prstGeom prst="rect">
            <a:avLst/>
          </a:prstGeom>
          <a:noFill/>
          <a:ln/>
        </p:spPr>
        <p:txBody>
          <a:bodyPr wrap="square" rtlCol="0" anchor="ctr"/>
          <a:lstStyle/>
          <a:p>
            <a:pPr algn="l" indent="0" marL="0">
              <a:buNone/>
            </a:pPr>
            <a:r>
              <a:rPr lang="en-US" sz="1400" b="1" dirty="0">
                <a:solidFill>
                  <a:srgbClr val="E07B39"/>
                </a:solidFill>
                <a:latin typeface="Georgia" pitchFamily="34" charset="0"/>
                <a:ea typeface="Georgia" pitchFamily="34" charset="-122"/>
                <a:cs typeface="Georgia" pitchFamily="34" charset="-120"/>
              </a:rPr>
              <a:t>Partner with Anthropic (and beyond)</a:t>
            </a:r>
            <a:endParaRPr lang="en-US" sz="1400" dirty="0"/>
          </a:p>
        </p:txBody>
      </p:sp>
      <p:sp>
        <p:nvSpPr>
          <p:cNvPr id="20" name="Text 18"/>
          <p:cNvSpPr/>
          <p:nvPr/>
        </p:nvSpPr>
        <p:spPr>
          <a:xfrm>
            <a:off x="4965192" y="348386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The community brings domain expertise and validation capacity. Anthropic brings infrastructure. Together: safe, accurate, scalable legal help—not in decades, but in months. Designed to work across AI models.</a:t>
            </a:r>
            <a:endParaRPr lang="en-US" sz="1150" dirty="0"/>
          </a:p>
        </p:txBody>
      </p:sp>
      <p:sp>
        <p:nvSpPr>
          <p:cNvPr id="21" name="Text 19"/>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Confidential  ·  May 2026</a:t>
            </a:r>
            <a:endParaRPr lang="en-US" sz="900" dirty="0"/>
          </a:p>
        </p:txBody>
      </p:sp>
      <p:sp>
        <p:nvSpPr>
          <p:cNvPr id="22" name="Shape 20"/>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548640" y="164592"/>
            <a:ext cx="8046720" cy="530352"/>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Ask</a:t>
            </a:r>
            <a:endParaRPr lang="en-US" sz="3400" dirty="0"/>
          </a:p>
        </p:txBody>
      </p:sp>
      <p:sp>
        <p:nvSpPr>
          <p:cNvPr id="4" name="Text 2"/>
          <p:cNvSpPr/>
          <p:nvPr/>
        </p:nvSpPr>
        <p:spPr>
          <a:xfrm>
            <a:off x="548640" y="713232"/>
            <a:ext cx="8046720" cy="475488"/>
          </a:xfrm>
          <a:prstGeom prst="rect">
            <a:avLst/>
          </a:prstGeom>
          <a:noFill/>
          <a:ln/>
        </p:spPr>
        <p:txBody>
          <a:bodyPr wrap="square" rtlCol="0" anchor="ctr"/>
          <a:lstStyle/>
          <a:p>
            <a:pPr indent="0" marL="0">
              <a:buNone/>
            </a:pPr>
            <a:r>
              <a:rPr lang="en-US" sz="1300" dirty="0">
                <a:solidFill>
                  <a:srgbClr val="B0C4D4"/>
                </a:solidFill>
                <a:latin typeface="Calibri" pitchFamily="34" charset="0"/>
                <a:ea typeface="Calibri" pitchFamily="34" charset="-122"/>
                <a:cs typeface="Calibri" pitchFamily="34" charset="-120"/>
              </a:rPr>
              <a:t>The infrastructure gap is closed. The community exists. The work is defined.</a:t>
            </a:r>
            <a:endParaRPr lang="en-US" sz="1300" dirty="0"/>
          </a:p>
          <a:p>
            <a:pPr indent="0" marL="0">
              <a:buNone/>
            </a:pPr>
            <a:r>
              <a:rPr lang="en-US" sz="1300" dirty="0">
                <a:solidFill>
                  <a:srgbClr val="B0C4D4"/>
                </a:solidFill>
                <a:latin typeface="Calibri" pitchFamily="34" charset="0"/>
                <a:ea typeface="Calibri" pitchFamily="34" charset="-122"/>
                <a:cs typeface="Calibri" pitchFamily="34" charset="-120"/>
              </a:rPr>
              <a:t>What this project needs now is partners who understand that infrastructure investment multiplies impact 50x.</a:t>
            </a:r>
            <a:endParaRPr lang="en-US" sz="1300" dirty="0"/>
          </a:p>
        </p:txBody>
      </p:sp>
      <p:sp>
        <p:nvSpPr>
          <p:cNvPr id="5" name="Shape 3"/>
          <p:cNvSpPr/>
          <p:nvPr/>
        </p:nvSpPr>
        <p:spPr>
          <a:xfrm>
            <a:off x="347472" y="1316736"/>
            <a:ext cx="4133088" cy="1444752"/>
          </a:xfrm>
          <a:prstGeom prst="rect">
            <a:avLst/>
          </a:prstGeom>
          <a:solidFill>
            <a:srgbClr val="0E7C87">
              <a:alpha val="20000"/>
            </a:srgbClr>
          </a:solidFill>
          <a:ln w="12700">
            <a:solidFill>
              <a:srgbClr val="0E7C87">
                <a:alpha val="50000"/>
              </a:srgbClr>
            </a:solidFill>
            <a:prstDash val="solid"/>
          </a:ln>
        </p:spPr>
      </p:sp>
      <p:sp>
        <p:nvSpPr>
          <p:cNvPr id="6" name="Shape 4"/>
          <p:cNvSpPr/>
          <p:nvPr/>
        </p:nvSpPr>
        <p:spPr>
          <a:xfrm>
            <a:off x="347472" y="1316736"/>
            <a:ext cx="64008" cy="1444752"/>
          </a:xfrm>
          <a:prstGeom prst="rect">
            <a:avLst/>
          </a:prstGeom>
          <a:solidFill>
            <a:srgbClr val="0E7C87"/>
          </a:solidFill>
          <a:ln w="12700">
            <a:solidFill>
              <a:srgbClr val="0E7C87"/>
            </a:solidFill>
            <a:prstDash val="solid"/>
          </a:ln>
        </p:spPr>
      </p:sp>
      <p:sp>
        <p:nvSpPr>
          <p:cNvPr id="7" name="Text 5"/>
          <p:cNvSpPr/>
          <p:nvPr/>
        </p:nvSpPr>
        <p:spPr>
          <a:xfrm>
            <a:off x="530352" y="1408176"/>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A2J organizations + legal aid leaders</a:t>
            </a:r>
            <a:endParaRPr lang="en-US" sz="1300" dirty="0"/>
          </a:p>
        </p:txBody>
      </p:sp>
      <p:sp>
        <p:nvSpPr>
          <p:cNvPr id="8" name="Text 6"/>
          <p:cNvSpPr/>
          <p:nvPr/>
        </p:nvSpPr>
        <p:spPr>
          <a:xfrm>
            <a:off x="530352" y="1792224"/>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Contribute domain expertise to the 50-state JSON rules validation project. You know the law in your jurisdiction. AI drafts the rules files in hours; your expert validation makes them safe and trustworthy.</a:t>
            </a:r>
            <a:endParaRPr lang="en-US" sz="1150" dirty="0"/>
          </a:p>
        </p:txBody>
      </p:sp>
      <p:sp>
        <p:nvSpPr>
          <p:cNvPr id="9" name="Shape 7"/>
          <p:cNvSpPr/>
          <p:nvPr/>
        </p:nvSpPr>
        <p:spPr>
          <a:xfrm>
            <a:off x="4782312" y="1316736"/>
            <a:ext cx="4133088" cy="1444752"/>
          </a:xfrm>
          <a:prstGeom prst="rect">
            <a:avLst/>
          </a:prstGeom>
          <a:solidFill>
            <a:srgbClr val="1B5E8C">
              <a:alpha val="20000"/>
            </a:srgbClr>
          </a:solidFill>
          <a:ln w="12700">
            <a:solidFill>
              <a:srgbClr val="1B5E8C">
                <a:alpha val="50000"/>
              </a:srgbClr>
            </a:solidFill>
            <a:prstDash val="solid"/>
          </a:ln>
        </p:spPr>
      </p:sp>
      <p:sp>
        <p:nvSpPr>
          <p:cNvPr id="10" name="Shape 8"/>
          <p:cNvSpPr/>
          <p:nvPr/>
        </p:nvSpPr>
        <p:spPr>
          <a:xfrm>
            <a:off x="4782312" y="1316736"/>
            <a:ext cx="64008" cy="1444752"/>
          </a:xfrm>
          <a:prstGeom prst="rect">
            <a:avLst/>
          </a:prstGeom>
          <a:solidFill>
            <a:srgbClr val="1B5E8C"/>
          </a:solidFill>
          <a:ln w="12700">
            <a:solidFill>
              <a:srgbClr val="1B5E8C"/>
            </a:solidFill>
            <a:prstDash val="solid"/>
          </a:ln>
        </p:spPr>
      </p:sp>
      <p:sp>
        <p:nvSpPr>
          <p:cNvPr id="11" name="Text 9"/>
          <p:cNvSpPr/>
          <p:nvPr/>
        </p:nvSpPr>
        <p:spPr>
          <a:xfrm>
            <a:off x="4965192" y="1408176"/>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Law schools + clinics</a:t>
            </a:r>
            <a:endParaRPr lang="en-US" sz="1300" dirty="0"/>
          </a:p>
        </p:txBody>
      </p:sp>
      <p:sp>
        <p:nvSpPr>
          <p:cNvPr id="12" name="Text 10"/>
          <p:cNvSpPr/>
          <p:nvPr/>
        </p:nvSpPr>
        <p:spPr>
          <a:xfrm>
            <a:off x="4965192" y="1792224"/>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Assign students and fellows to validate rules files and build A2J skills as supervised legal work—impactful, structured, exactly the kind of learning great clinics exist to produce.</a:t>
            </a:r>
            <a:endParaRPr lang="en-US" sz="1150" dirty="0"/>
          </a:p>
        </p:txBody>
      </p:sp>
      <p:sp>
        <p:nvSpPr>
          <p:cNvPr id="13" name="Shape 11"/>
          <p:cNvSpPr/>
          <p:nvPr/>
        </p:nvSpPr>
        <p:spPr>
          <a:xfrm>
            <a:off x="347472" y="2889504"/>
            <a:ext cx="4133088" cy="1444752"/>
          </a:xfrm>
          <a:prstGeom prst="rect">
            <a:avLst/>
          </a:prstGeom>
          <a:solidFill>
            <a:srgbClr val="E07B39">
              <a:alpha val="20000"/>
            </a:srgbClr>
          </a:solidFill>
          <a:ln w="12700">
            <a:solidFill>
              <a:srgbClr val="E07B39">
                <a:alpha val="50000"/>
              </a:srgbClr>
            </a:solidFill>
            <a:prstDash val="solid"/>
          </a:ln>
        </p:spPr>
      </p:sp>
      <p:sp>
        <p:nvSpPr>
          <p:cNvPr id="14" name="Shape 12"/>
          <p:cNvSpPr/>
          <p:nvPr/>
        </p:nvSpPr>
        <p:spPr>
          <a:xfrm>
            <a:off x="347472" y="2889504"/>
            <a:ext cx="64008" cy="1444752"/>
          </a:xfrm>
          <a:prstGeom prst="rect">
            <a:avLst/>
          </a:prstGeom>
          <a:solidFill>
            <a:srgbClr val="E07B39"/>
          </a:solidFill>
          <a:ln w="12700">
            <a:solidFill>
              <a:srgbClr val="E07B39"/>
            </a:solidFill>
            <a:prstDash val="solid"/>
          </a:ln>
        </p:spPr>
      </p:sp>
      <p:sp>
        <p:nvSpPr>
          <p:cNvPr id="15" name="Text 13"/>
          <p:cNvSpPr/>
          <p:nvPr/>
        </p:nvSpPr>
        <p:spPr>
          <a:xfrm>
            <a:off x="530352" y="2980944"/>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Funders</a:t>
            </a:r>
            <a:endParaRPr lang="en-US" sz="1300" dirty="0"/>
          </a:p>
        </p:txBody>
      </p:sp>
      <p:sp>
        <p:nvSpPr>
          <p:cNvPr id="16" name="Text 14"/>
          <p:cNvSpPr/>
          <p:nvPr/>
        </p:nvSpPr>
        <p:spPr>
          <a:xfrm>
            <a:off x="530352" y="3364992"/>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Fund the coordination layer, not just individual projects. Infrastructure investment creates shared returns. Seed funding for the project Phase 1 creates multiplied impact across every A2J deployment.</a:t>
            </a:r>
            <a:endParaRPr lang="en-US" sz="1150" dirty="0"/>
          </a:p>
        </p:txBody>
      </p:sp>
      <p:sp>
        <p:nvSpPr>
          <p:cNvPr id="17" name="Shape 15"/>
          <p:cNvSpPr/>
          <p:nvPr/>
        </p:nvSpPr>
        <p:spPr>
          <a:xfrm>
            <a:off x="4782312" y="2889504"/>
            <a:ext cx="4133088" cy="1444752"/>
          </a:xfrm>
          <a:prstGeom prst="rect">
            <a:avLst/>
          </a:prstGeom>
          <a:solidFill>
            <a:srgbClr val="2A7A4B">
              <a:alpha val="20000"/>
            </a:srgbClr>
          </a:solidFill>
          <a:ln w="12700">
            <a:solidFill>
              <a:srgbClr val="2A7A4B">
                <a:alpha val="50000"/>
              </a:srgbClr>
            </a:solidFill>
            <a:prstDash val="solid"/>
          </a:ln>
        </p:spPr>
      </p:sp>
      <p:sp>
        <p:nvSpPr>
          <p:cNvPr id="18" name="Shape 16"/>
          <p:cNvSpPr/>
          <p:nvPr/>
        </p:nvSpPr>
        <p:spPr>
          <a:xfrm>
            <a:off x="4782312" y="2889504"/>
            <a:ext cx="64008" cy="1444752"/>
          </a:xfrm>
          <a:prstGeom prst="rect">
            <a:avLst/>
          </a:prstGeom>
          <a:solidFill>
            <a:srgbClr val="2A7A4B"/>
          </a:solidFill>
          <a:ln w="12700">
            <a:solidFill>
              <a:srgbClr val="2A7A4B"/>
            </a:solidFill>
            <a:prstDash val="solid"/>
          </a:ln>
        </p:spPr>
      </p:sp>
      <p:sp>
        <p:nvSpPr>
          <p:cNvPr id="19" name="Text 17"/>
          <p:cNvSpPr/>
          <p:nvPr/>
        </p:nvSpPr>
        <p:spPr>
          <a:xfrm>
            <a:off x="4965192" y="2980944"/>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Anthropic + AI companies</a:t>
            </a:r>
            <a:endParaRPr lang="en-US" sz="1300" dirty="0"/>
          </a:p>
        </p:txBody>
      </p:sp>
      <p:sp>
        <p:nvSpPr>
          <p:cNvPr id="20" name="Text 18"/>
          <p:cNvSpPr/>
          <p:nvPr/>
        </p:nvSpPr>
        <p:spPr>
          <a:xfrm>
            <a:off x="4965192" y="3364992"/>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Partner with the project as the community coordination layer for the A2J legal plugin pillar. You built the infrastructure. Help us build the community that fills it with validated, safe A2J content—across AI models.</a:t>
            </a:r>
            <a:endParaRPr lang="en-US" sz="1150" dirty="0"/>
          </a:p>
        </p:txBody>
      </p:sp>
      <p:sp>
        <p:nvSpPr>
          <p:cNvPr id="21" name="Text 19"/>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andrewmichaelcohen@gmail.com  ·  May 2026</a:t>
            </a:r>
            <a:endParaRPr lang="en-US" sz="900" dirty="0"/>
          </a:p>
        </p:txBody>
      </p:sp>
      <p:sp>
        <p:nvSpPr>
          <p:cNvPr id="22" name="Shape 20"/>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A2J Infrastructure Moment</dc:title>
  <dc:subject>PptxGenJS Presentation</dc:subject>
  <dc:creator>Andrew M Cohen</dc:creator>
  <cp:lastModifiedBy>Andrew M Cohen</cp:lastModifiedBy>
  <cp:revision>1</cp:revision>
  <dcterms:created xsi:type="dcterms:W3CDTF">2026-06-02T17:18:24Z</dcterms:created>
  <dcterms:modified xsi:type="dcterms:W3CDTF">2026-06-02T17:18:24Z</dcterms:modified>
</cp:coreProperties>
</file>